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notesMasterIdLst>
    <p:notesMasterId r:id="rId37"/>
  </p:notesMasterIdLst>
  <p:sldIdLst>
    <p:sldId id="273" r:id="rId2"/>
    <p:sldId id="1004" r:id="rId3"/>
    <p:sldId id="1049" r:id="rId4"/>
    <p:sldId id="1048" r:id="rId5"/>
    <p:sldId id="1050" r:id="rId6"/>
    <p:sldId id="1051" r:id="rId7"/>
    <p:sldId id="1052" r:id="rId8"/>
    <p:sldId id="1053" r:id="rId9"/>
    <p:sldId id="1054" r:id="rId10"/>
    <p:sldId id="1055" r:id="rId11"/>
    <p:sldId id="1056" r:id="rId12"/>
    <p:sldId id="1065" r:id="rId13"/>
    <p:sldId id="1057" r:id="rId14"/>
    <p:sldId id="1066" r:id="rId15"/>
    <p:sldId id="1058" r:id="rId16"/>
    <p:sldId id="1059" r:id="rId17"/>
    <p:sldId id="1060" r:id="rId18"/>
    <p:sldId id="1061" r:id="rId19"/>
    <p:sldId id="1062" r:id="rId20"/>
    <p:sldId id="1068" r:id="rId21"/>
    <p:sldId id="1067" r:id="rId22"/>
    <p:sldId id="1063" r:id="rId23"/>
    <p:sldId id="1069" r:id="rId24"/>
    <p:sldId id="1070" r:id="rId25"/>
    <p:sldId id="1064" r:id="rId26"/>
    <p:sldId id="1029" r:id="rId27"/>
    <p:sldId id="1072" r:id="rId28"/>
    <p:sldId id="1073" r:id="rId29"/>
    <p:sldId id="1071" r:id="rId30"/>
    <p:sldId id="1075" r:id="rId31"/>
    <p:sldId id="1076" r:id="rId32"/>
    <p:sldId id="1077" r:id="rId33"/>
    <p:sldId id="1078" r:id="rId34"/>
    <p:sldId id="1079" r:id="rId35"/>
    <p:sldId id="1080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2929"/>
    <a:srgbClr val="BFEFC9"/>
    <a:srgbClr val="5A5A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92" autoAdjust="0"/>
    <p:restoredTop sz="82523" autoAdjust="0"/>
  </p:normalViewPr>
  <p:slideViewPr>
    <p:cSldViewPr snapToGrid="0">
      <p:cViewPr varScale="1">
        <p:scale>
          <a:sx n="82" d="100"/>
          <a:sy n="82" d="100"/>
        </p:scale>
        <p:origin x="90" y="34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2F9473-F066-431E-A6E8-1D478C995A6B}" type="datetimeFigureOut">
              <a:rPr lang="en-US" smtClean="0"/>
              <a:pPr/>
              <a:t>2/8/2026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4E2F1-1521-4C3A-A563-2F7D19AB6E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975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481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1484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7721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2643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1447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7078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5395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6132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6611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3858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29245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1505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4746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5742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6354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0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9217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19794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43363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15389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01031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978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58555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39316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584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40191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82509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71300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43996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95977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30564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01183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3381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74095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2284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5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773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5897"/>
            <a:ext cx="12192000" cy="949324"/>
          </a:xfrm>
        </p:spPr>
        <p:txBody>
          <a:bodyPr/>
          <a:lstStyle>
            <a:lvl1pPr algn="ctr">
              <a:defRPr sz="27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5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2147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5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892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86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0" y="0"/>
            <a:ext cx="12192000" cy="1569658"/>
          </a:xfrm>
          <a:prstGeom prst="rect">
            <a:avLst/>
          </a:prstGeom>
          <a:noFill/>
        </p:spPr>
        <p:txBody>
          <a:bodyPr wrap="square" lIns="91438" tIns="45719" rIns="91438" bIns="45719" rtlCol="0">
            <a:spAutoFit/>
          </a:bodyPr>
          <a:lstStyle/>
          <a:p>
            <a:pPr indent="254000" algn="ctr">
              <a:spcBef>
                <a:spcPct val="20000"/>
              </a:spcBef>
            </a:pPr>
            <a: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Информационные технологии</a:t>
            </a:r>
            <a:b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</a:br>
            <a: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и программирование</a:t>
            </a:r>
            <a:endParaRPr lang="ru-RU" altLang="ru-RU" sz="4800" b="1" dirty="0">
              <a:solidFill>
                <a:schemeClr val="accent1">
                  <a:lumMod val="50000"/>
                </a:schemeClr>
              </a:solidFill>
              <a:latin typeface="Bookman Old Style" pitchFamily="18" charset="0"/>
            </a:endParaRP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D630362D-1F09-46B4-9DE4-AEA483AC82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1160" y="1569658"/>
            <a:ext cx="8978016" cy="1384995"/>
          </a:xfrm>
        </p:spPr>
        <p:txBody>
          <a:bodyPr>
            <a:noAutofit/>
          </a:bodyPr>
          <a:lstStyle/>
          <a:p>
            <a:pPr algn="l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Лекция </a:t>
            </a: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6. 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Основы языка </a:t>
            </a: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C#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Содержание лекции:</a:t>
            </a:r>
            <a:endParaRPr lang="ru-RU" sz="2800" dirty="0">
              <a:latin typeface="Bookman Old Style" panose="02050604050505020204" pitchFamily="18" charset="0"/>
            </a:endParaRPr>
          </a:p>
        </p:txBody>
      </p:sp>
      <p:sp>
        <p:nvSpPr>
          <p:cNvPr id="10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6336807"/>
            <a:ext cx="12192000" cy="521193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9050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indent="723900" algn="just"/>
            <a:r>
              <a:rPr lang="ru-RU" b="1" dirty="0">
                <a:solidFill>
                  <a:srgbClr val="292929"/>
                </a:solidFill>
                <a:latin typeface="Bookman Old Style" pitchFamily="18" charset="0"/>
              </a:rPr>
              <a:t>Преподаватель курса: Клюкин Даниил Анатольевич, ст. преподаватель каф. </a:t>
            </a:r>
            <a:r>
              <a:rPr lang="ru-RU" b="1">
                <a:solidFill>
                  <a:srgbClr val="292929"/>
                </a:solidFill>
                <a:latin typeface="Bookman Old Style" pitchFamily="18" charset="0"/>
              </a:rPr>
              <a:t>ПМиИТ</a:t>
            </a:r>
            <a:endParaRPr lang="ru-RU" b="1" dirty="0">
              <a:solidFill>
                <a:srgbClr val="292929"/>
              </a:solidFill>
              <a:latin typeface="Bookman Old Style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B00361-5492-4290-B470-295172C16526}"/>
              </a:ext>
            </a:extLst>
          </p:cNvPr>
          <p:cNvSpPr txBox="1"/>
          <p:nvPr/>
        </p:nvSpPr>
        <p:spPr>
          <a:xfrm>
            <a:off x="511160" y="2954653"/>
            <a:ext cx="1168084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Ограничения </a:t>
            </a: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массивов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Знакомство с </a:t>
            </a: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List&lt;T&gt;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Оценка сложности </a:t>
            </a: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алгоритмов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Правила записи </a:t>
            </a: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Big 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Проблема поиска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Словарь (Ключ — Значение)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Множество (</a:t>
            </a:r>
            <a:r>
              <a:rPr lang="en-US" sz="2800" b="1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HashSet</a:t>
            </a: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)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Ограничения массивов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0" y="629674"/>
            <a:ext cx="12192000" cy="501688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Массив (</a:t>
            </a:r>
            <a:r>
              <a:rPr lang="ru-RU" sz="2400" dirty="0" err="1">
                <a:latin typeface="Bookman Old Style" panose="02050604050505020204" pitchFamily="18" charset="0"/>
              </a:rPr>
              <a:t>array</a:t>
            </a:r>
            <a:r>
              <a:rPr lang="ru-RU" sz="2400" dirty="0">
                <a:latin typeface="Bookman Old Style" panose="02050604050505020204" pitchFamily="18" charset="0"/>
              </a:rPr>
              <a:t>) имеет строго фиксированный размер, который задается при создании.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Проблема:</a:t>
            </a:r>
            <a:r>
              <a:rPr lang="ru-RU" sz="2400" dirty="0">
                <a:latin typeface="Bookman Old Style" panose="02050604050505020204" pitchFamily="18" charset="0"/>
              </a:rPr>
              <a:t> Что делать, если мы заранее не знаем количество данных? (Например, список покупок, список врагов в игре, сообщения в чате).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Ручное решение:</a:t>
            </a:r>
            <a:endParaRPr lang="ru-RU" sz="2400" dirty="0">
              <a:latin typeface="Bookman Old Style" panose="020506040505050202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Создать новый массив большего размера.</a:t>
            </a:r>
          </a:p>
          <a:p>
            <a:pPr lvl="1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Скопировать туда все элементы старого массива.</a:t>
            </a:r>
          </a:p>
          <a:p>
            <a:pPr lvl="1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Добавить новый элемент.</a:t>
            </a:r>
            <a:br>
              <a:rPr lang="ru-RU" sz="2400" dirty="0">
                <a:latin typeface="Bookman Old Style" panose="02050604050505020204" pitchFamily="18" charset="0"/>
              </a:rPr>
            </a:br>
            <a:r>
              <a:rPr lang="ru-RU" sz="2400" i="1" dirty="0">
                <a:latin typeface="Bookman Old Style" panose="02050604050505020204" pitchFamily="18" charset="0"/>
              </a:rPr>
              <a:t>Это неудобно и легко ошибиться.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01558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37097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1. У нас есть массив на 2 элемента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nn-NO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nn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[] </a:t>
            </a:r>
            <a:r>
              <a:rPr lang="nn-NO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playlist</a:t>
            </a:r>
            <a:r>
              <a:rPr lang="nn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{ </a:t>
            </a:r>
            <a:r>
              <a:rPr lang="nn-NO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"Song 1"</a:t>
            </a:r>
            <a:r>
              <a:rPr lang="nn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nn-NO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"Song 2"</a:t>
            </a:r>
            <a:r>
              <a:rPr lang="nn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nn-NO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2. Хотим добавить третью песню. Но места нет!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Создаем новый массив побольше (черновик)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[]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biggerPlaylist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[3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];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3. Копируем данные из старого массива в новый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nn-NO" sz="2400" dirty="0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for</a:t>
            </a:r>
            <a:r>
              <a:rPr lang="nn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</a:t>
            </a:r>
            <a:r>
              <a:rPr lang="nn-NO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nn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nn-NO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</a:t>
            </a:r>
            <a:r>
              <a:rPr lang="nn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0; </a:t>
            </a:r>
            <a:r>
              <a:rPr lang="nn-NO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</a:t>
            </a:r>
            <a:r>
              <a:rPr lang="nn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&lt; </a:t>
            </a:r>
            <a:r>
              <a:rPr lang="nn-NO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playlist</a:t>
            </a:r>
            <a:r>
              <a:rPr lang="nn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.Length; </a:t>
            </a:r>
            <a:r>
              <a:rPr lang="nn-NO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</a:t>
            </a:r>
            <a:r>
              <a:rPr lang="nn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++)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biggerPlaylist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] =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playlist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];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4. Добавляем новый элемент в свободную ячейку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biggerPlaylist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[2] =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"Song 3</a:t>
            </a:r>
            <a:r>
              <a:rPr lang="en-US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5. Заменяем старый массив новым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playlist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biggerPlaylist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Теперь песен: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playlist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.Length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2945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Знакомство с </a:t>
            </a: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List&lt;T&gt;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0" y="629674"/>
            <a:ext cx="12192000" cy="597086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  <a:spcAft>
                <a:spcPts val="600"/>
              </a:spcAft>
            </a:pPr>
            <a:r>
              <a:rPr lang="ru-RU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Коллекция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совокупность объектов (значений переменных). Отличается от массивов дополнительными функциями и гибкостью.</a:t>
            </a:r>
          </a:p>
          <a:p>
            <a:pPr algn="just">
              <a:lnSpc>
                <a:spcPct val="150000"/>
              </a:lnSpc>
              <a:spcAft>
                <a:spcPts val="600"/>
              </a:spcAft>
            </a:pPr>
            <a:r>
              <a:rPr lang="ru-RU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Виды коллекций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: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List, LinkedList, Stack, Queue, HashSet, </a:t>
            </a:r>
            <a:r>
              <a:rPr lang="en-US" sz="2400" dirty="0" smtClean="0">
                <a:latin typeface="Bookman Old Style" panose="02050604050505020204" pitchFamily="18" charset="0"/>
                <a:ea typeface="Times New Roman" panose="02020603050405020304" pitchFamily="18" charset="0"/>
              </a:rPr>
              <a:t>Dictionary</a:t>
            </a:r>
            <a:endParaRPr lang="ru-RU" sz="2400" dirty="0" smtClean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List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список однотипных объектов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.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Основное отличие от массивов – автоматическое увеличение </a:t>
            </a:r>
            <a:r>
              <a:rPr lang="ru-RU" sz="2400" dirty="0" smtClean="0">
                <a:latin typeface="Bookman Old Style" panose="02050604050505020204" pitchFamily="18" charset="0"/>
                <a:ea typeface="Times New Roman" panose="02020603050405020304" pitchFamily="18" charset="0"/>
              </a:rPr>
              <a:t>емкости (в 2 раза)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при переполнении. </a:t>
            </a:r>
            <a:endParaRPr lang="ru-RU" sz="2400" dirty="0" smtClean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Создание пустого списка целых чисел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numbers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&gt;();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Создание списка строк с начальными значениями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 {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"Alice"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"Bob"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};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  <a:ea typeface="Times New Roman" panose="02020603050405020304" pitchFamily="18" charset="0"/>
            </a:endParaRPr>
          </a:p>
          <a:p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&lt;T&gt; — это «тип-заполнитель». Вместо него мы ставим любой нужный нам тип (</a:t>
            </a:r>
            <a:r>
              <a:rPr lang="ru-RU" sz="2400" dirty="0" err="1">
                <a:latin typeface="Bookman Old Style" panose="02050604050505020204" pitchFamily="18" charset="0"/>
                <a:ea typeface="Times New Roman" panose="02020603050405020304" pitchFamily="18" charset="0"/>
              </a:rPr>
              <a:t>int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, </a:t>
            </a:r>
            <a:r>
              <a:rPr lang="ru-RU" sz="2400" dirty="0" err="1">
                <a:latin typeface="Bookman Old Style" panose="02050604050505020204" pitchFamily="18" charset="0"/>
                <a:ea typeface="Times New Roman" panose="02020603050405020304" pitchFamily="18" charset="0"/>
              </a:rPr>
              <a:t>string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, </a:t>
            </a:r>
            <a:r>
              <a:rPr lang="ru-RU" sz="2400" dirty="0" err="1">
                <a:latin typeface="Bookman Old Style" panose="02050604050505020204" pitchFamily="18" charset="0"/>
                <a:ea typeface="Times New Roman" panose="02020603050405020304" pitchFamily="18" charset="0"/>
              </a:rPr>
              <a:t>double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и т.д.).</a:t>
            </a:r>
          </a:p>
        </p:txBody>
      </p:sp>
    </p:spTree>
    <p:extLst>
      <p:ext uri="{BB962C8B-B14F-4D97-AF65-F5344CB8AC3E}">
        <p14:creationId xmlns:p14="http://schemas.microsoft.com/office/powerpoint/2010/main" val="34890905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00164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>
                <a:solidFill>
                  <a:srgbClr val="1C1C1D"/>
                </a:solidFill>
                <a:latin typeface="Bookman Old Style" panose="02050604050505020204" pitchFamily="18" charset="0"/>
              </a:rPr>
              <a:t>Основные </a:t>
            </a:r>
            <a:r>
              <a:rPr lang="ru-RU" sz="2400" b="1" dirty="0" smtClean="0">
                <a:solidFill>
                  <a:srgbClr val="1C1C1D"/>
                </a:solidFill>
                <a:latin typeface="Bookman Old Style" panose="02050604050505020204" pitchFamily="18" charset="0"/>
              </a:rPr>
              <a:t>методы:</a:t>
            </a:r>
          </a:p>
          <a:p>
            <a:pPr>
              <a:lnSpc>
                <a:spcPct val="150000"/>
              </a:lnSpc>
            </a:pPr>
            <a:r>
              <a:rPr lang="en-US" sz="2400" dirty="0" smtClean="0">
                <a:solidFill>
                  <a:srgbClr val="1C1C1D"/>
                </a:solidFill>
                <a:latin typeface="Bookman Old Style" panose="02050604050505020204" pitchFamily="18" charset="0"/>
              </a:rPr>
              <a:t>Add(x</a:t>
            </a:r>
            <a:r>
              <a:rPr lang="en-US" sz="2400" dirty="0">
                <a:solidFill>
                  <a:srgbClr val="1C1C1D"/>
                </a:solidFill>
                <a:latin typeface="Bookman Old Style" panose="02050604050505020204" pitchFamily="18" charset="0"/>
              </a:rPr>
              <a:t>) — </a:t>
            </a:r>
            <a:r>
              <a:rPr lang="ru-RU" sz="2400" dirty="0">
                <a:solidFill>
                  <a:srgbClr val="1C1C1D"/>
                </a:solidFill>
                <a:latin typeface="Bookman Old Style" panose="02050604050505020204" pitchFamily="18" charset="0"/>
              </a:rPr>
              <a:t>добавить в конец.</a:t>
            </a:r>
          </a:p>
          <a:p>
            <a:endParaRPr lang="ru-RU" sz="2400" dirty="0" smtClean="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Создание пустого списка для целых чисел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numbers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&gt;();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Добавление элементов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numbers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Add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(10);</a:t>
            </a: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numbers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Add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(20);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Создание списка строк с начальными значениями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 {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"Alice"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"Bob"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};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Доступ к элементам (точно так же, как в массиве!)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[0]);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Выведет "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Tom"</a:t>
            </a:r>
            <a:endParaRPr lang="ru-RU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30640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397031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Удаление:</a:t>
            </a:r>
            <a:endParaRPr lang="ru-RU" sz="2400" dirty="0">
              <a:latin typeface="Bookman Old Style" panose="020506040505050202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ru-RU" sz="2400" dirty="0" err="1">
                <a:latin typeface="Bookman Old Style" panose="02050604050505020204" pitchFamily="18" charset="0"/>
              </a:rPr>
              <a:t>list.Remove</a:t>
            </a:r>
            <a:r>
              <a:rPr lang="ru-RU" sz="2400" dirty="0">
                <a:latin typeface="Bookman Old Style" panose="02050604050505020204" pitchFamily="18" charset="0"/>
              </a:rPr>
              <a:t>(значение); — удаляет первое найденное совпадение.</a:t>
            </a:r>
          </a:p>
          <a:p>
            <a:pPr lvl="1">
              <a:lnSpc>
                <a:spcPct val="150000"/>
              </a:lnSpc>
            </a:pPr>
            <a:r>
              <a:rPr lang="ru-RU" sz="2400" dirty="0" err="1">
                <a:latin typeface="Bookman Old Style" panose="02050604050505020204" pitchFamily="18" charset="0"/>
              </a:rPr>
              <a:t>list.RemoveAt</a:t>
            </a:r>
            <a:r>
              <a:rPr lang="ru-RU" sz="2400" dirty="0">
                <a:latin typeface="Bookman Old Style" panose="02050604050505020204" pitchFamily="18" charset="0"/>
              </a:rPr>
              <a:t>(индекс); — удаляет элемент по его позиции.</a:t>
            </a:r>
          </a:p>
          <a:p>
            <a:endParaRPr lang="ru-RU" sz="2400" dirty="0" smtClean="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scores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&gt;();</a:t>
            </a: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scores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Add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(90);     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[90]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scores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Add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(100);    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[90, 100]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scores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RemoveAt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(0); 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[100]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scores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[0]);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Выведет 100</a:t>
            </a:r>
            <a:endParaRPr lang="ru-RU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65915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55564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</a:rPr>
              <a:t>Count</a:t>
            </a:r>
            <a:endParaRPr lang="ru-RU" sz="2400" b="1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Это</a:t>
            </a:r>
            <a:r>
              <a:rPr lang="ru-RU" sz="2400" dirty="0">
                <a:latin typeface="Bookman Old Style" panose="02050604050505020204" pitchFamily="18" charset="0"/>
              </a:rPr>
              <a:t> </a:t>
            </a:r>
            <a:r>
              <a:rPr lang="ru-RU" sz="2400" b="1" dirty="0">
                <a:latin typeface="Bookman Old Style" panose="02050604050505020204" pitchFamily="18" charset="0"/>
              </a:rPr>
              <a:t>свойство</a:t>
            </a:r>
            <a:r>
              <a:rPr lang="ru-RU" sz="2400" dirty="0">
                <a:latin typeface="Bookman Old Style" panose="02050604050505020204" pitchFamily="18" charset="0"/>
              </a:rPr>
              <a:t>, а не метод (пишется без скобок). Оно возвращает количество элементов, которые вы </a:t>
            </a:r>
            <a:r>
              <a:rPr lang="ru-RU" sz="2400" b="1" dirty="0">
                <a:latin typeface="Bookman Old Style" panose="02050604050505020204" pitchFamily="18" charset="0"/>
              </a:rPr>
              <a:t>реально добавили</a:t>
            </a:r>
            <a:r>
              <a:rPr lang="ru-RU" sz="2400" dirty="0">
                <a:latin typeface="Bookman Old Style" panose="02050604050505020204" pitchFamily="18" charset="0"/>
              </a:rPr>
              <a:t>. Запомните: у массива — .</a:t>
            </a:r>
            <a:r>
              <a:rPr lang="ru-RU" sz="2400" dirty="0" err="1">
                <a:latin typeface="Bookman Old Style" panose="02050604050505020204" pitchFamily="18" charset="0"/>
              </a:rPr>
              <a:t>Length</a:t>
            </a:r>
            <a:r>
              <a:rPr lang="ru-RU" sz="2400" dirty="0">
                <a:latin typeface="Bookman Old Style" panose="02050604050505020204" pitchFamily="18" charset="0"/>
              </a:rPr>
              <a:t>, у списка — .</a:t>
            </a:r>
            <a:r>
              <a:rPr lang="ru-RU" sz="2400" dirty="0" err="1">
                <a:latin typeface="Bookman Old Style" panose="02050604050505020204" pitchFamily="18" charset="0"/>
              </a:rPr>
              <a:t>Count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achievements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&gt;();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1. .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Add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(x) — Добавление в конец списка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achievements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Add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Прийти на пару"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achievements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Add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Не уснуть</a:t>
            </a:r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achievements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Add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Написать лекцию"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2. .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— Текущее количество элементов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У игрока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achievements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.Count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достижений."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Вывод: 3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1699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37097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 err="1" smtClean="0">
                <a:solidFill>
                  <a:srgbClr val="1C1C1D"/>
                </a:solidFill>
                <a:latin typeface="Bookman Old Style" panose="02050604050505020204" pitchFamily="18" charset="0"/>
              </a:rPr>
              <a:t>Clear</a:t>
            </a:r>
            <a:r>
              <a:rPr lang="ru-RU" sz="2400" b="1" dirty="0">
                <a:solidFill>
                  <a:srgbClr val="1C1C1D"/>
                </a:solidFill>
                <a:latin typeface="Bookman Old Style" panose="02050604050505020204" pitchFamily="18" charset="0"/>
              </a:rPr>
              <a:t>()</a:t>
            </a:r>
          </a:p>
          <a:p>
            <a:pPr>
              <a:lnSpc>
                <a:spcPct val="150000"/>
              </a:lnSpc>
            </a:pPr>
            <a:r>
              <a:rPr lang="ru-RU" sz="2400" dirty="0" smtClean="0">
                <a:solidFill>
                  <a:srgbClr val="1C1C1D"/>
                </a:solidFill>
                <a:latin typeface="Bookman Old Style" panose="02050604050505020204" pitchFamily="18" charset="0"/>
              </a:rPr>
              <a:t>Этот </a:t>
            </a:r>
            <a:r>
              <a:rPr lang="ru-RU" sz="2400" dirty="0">
                <a:solidFill>
                  <a:srgbClr val="1C1C1D"/>
                </a:solidFill>
                <a:latin typeface="Bookman Old Style" panose="02050604050505020204" pitchFamily="18" charset="0"/>
              </a:rPr>
              <a:t>метод не уничтожает сам список как объект, он просто делает его пустым. Внутренний массив </a:t>
            </a:r>
            <a:r>
              <a:rPr lang="ru-RU" sz="2400" dirty="0" err="1">
                <a:solidFill>
                  <a:srgbClr val="1C1C1D"/>
                </a:solidFill>
                <a:latin typeface="Bookman Old Style" panose="02050604050505020204" pitchFamily="18" charset="0"/>
              </a:rPr>
              <a:t>зануляется</a:t>
            </a:r>
            <a:r>
              <a:rPr lang="ru-RU" sz="2400" dirty="0">
                <a:solidFill>
                  <a:srgbClr val="1C1C1D"/>
                </a:solidFill>
                <a:latin typeface="Bookman Old Style" panose="02050604050505020204" pitchFamily="18" charset="0"/>
              </a:rPr>
              <a:t>, и </a:t>
            </a:r>
            <a:r>
              <a:rPr lang="ru-RU" sz="2400" dirty="0" err="1">
                <a:solidFill>
                  <a:srgbClr val="1C1C1D"/>
                </a:solidFill>
                <a:latin typeface="Bookman Old Style" panose="02050604050505020204" pitchFamily="18" charset="0"/>
              </a:rPr>
              <a:t>Count</a:t>
            </a:r>
            <a:r>
              <a:rPr lang="ru-RU" sz="2400" dirty="0">
                <a:solidFill>
                  <a:srgbClr val="1C1C1D"/>
                </a:solidFill>
                <a:latin typeface="Bookman Old Style" panose="02050604050505020204" pitchFamily="18" charset="0"/>
              </a:rPr>
              <a:t> становится равным 0. Это удобнее, чем создавать новый список с нуля</a:t>
            </a:r>
            <a:r>
              <a:rPr lang="ru-RU" sz="2400" dirty="0" smtClean="0">
                <a:solidFill>
                  <a:srgbClr val="1C1C1D"/>
                </a:solidFill>
                <a:latin typeface="Bookman Old Style" panose="02050604050505020204" pitchFamily="18" charset="0"/>
              </a:rPr>
              <a:t>.</a:t>
            </a: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achievements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&gt;();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1. .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Add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(x) — Добавление в конец списка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achievements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Add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Прийти на пару"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achievements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Add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Не уснуть"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achievements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Add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Написать лекцию"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2.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Clear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 — Полная очистка списка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achievements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Clear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После очистки: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achievements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.Count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</a:t>
            </a:r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</a:t>
            </a:r>
            <a:r>
              <a:rPr lang="en-US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Вывод: 0</a:t>
            </a:r>
            <a:endParaRPr lang="ru-RU" sz="2400" b="0" i="0" dirty="0">
              <a:solidFill>
                <a:srgbClr val="1C1C1D"/>
              </a:solidFill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64131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 smtClean="0">
                <a:solidFill>
                  <a:srgbClr val="1C1C1D"/>
                </a:solidFill>
                <a:latin typeface="Bookman Old Style" panose="02050604050505020204" pitchFamily="18" charset="0"/>
              </a:rPr>
              <a:t>Capacity</a:t>
            </a:r>
            <a:endParaRPr lang="ru-RU" sz="2400" b="1" dirty="0" smtClean="0">
              <a:solidFill>
                <a:srgbClr val="1C1C1D"/>
              </a:solidFill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Внутри </a:t>
            </a:r>
            <a:r>
              <a:rPr lang="ru-RU" sz="2400" dirty="0" err="1">
                <a:latin typeface="Bookman Old Style" panose="02050604050505020204" pitchFamily="18" charset="0"/>
              </a:rPr>
              <a:t>List</a:t>
            </a:r>
            <a:r>
              <a:rPr lang="ru-RU" sz="2400" dirty="0">
                <a:latin typeface="Bookman Old Style" panose="02050604050505020204" pitchFamily="18" charset="0"/>
              </a:rPr>
              <a:t> всегда лежит </a:t>
            </a:r>
            <a:r>
              <a:rPr lang="ru-RU" sz="2400" b="1" dirty="0">
                <a:latin typeface="Bookman Old Style" panose="02050604050505020204" pitchFamily="18" charset="0"/>
              </a:rPr>
              <a:t>обычный массив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Count</a:t>
            </a:r>
            <a:r>
              <a:rPr lang="ru-RU" sz="2400" dirty="0">
                <a:latin typeface="Bookman Old Style" panose="02050604050505020204" pitchFamily="18" charset="0"/>
              </a:rPr>
              <a:t> — сколько элементов </a:t>
            </a:r>
            <a:r>
              <a:rPr lang="ru-RU" sz="2400" i="1" dirty="0">
                <a:latin typeface="Bookman Old Style" panose="02050604050505020204" pitchFamily="18" charset="0"/>
              </a:rPr>
              <a:t>реально</a:t>
            </a:r>
            <a:r>
              <a:rPr lang="ru-RU" sz="2400" dirty="0">
                <a:latin typeface="Bookman Old Style" panose="02050604050505020204" pitchFamily="18" charset="0"/>
              </a:rPr>
              <a:t> добавлено в список.</a:t>
            </a:r>
          </a:p>
          <a:p>
            <a:pPr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Capacity</a:t>
            </a:r>
            <a:r>
              <a:rPr lang="ru-RU" sz="2400" b="1" dirty="0">
                <a:latin typeface="Bookman Old Style" panose="02050604050505020204" pitchFamily="18" charset="0"/>
              </a:rPr>
              <a:t> (Емкость)</a:t>
            </a:r>
            <a:r>
              <a:rPr lang="ru-RU" sz="2400" dirty="0">
                <a:latin typeface="Bookman Old Style" panose="02050604050505020204" pitchFamily="18" charset="0"/>
              </a:rPr>
              <a:t> — размер внутреннего массива (сколько места забронировано в памяти).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Алгоритм роста:</a:t>
            </a:r>
            <a:endParaRPr lang="ru-RU" sz="2400" dirty="0">
              <a:latin typeface="Bookman Old Style" panose="020506040505050202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Когда </a:t>
            </a:r>
            <a:r>
              <a:rPr lang="ru-RU" sz="2400" dirty="0" err="1">
                <a:latin typeface="Bookman Old Style" panose="02050604050505020204" pitchFamily="18" charset="0"/>
              </a:rPr>
              <a:t>Count</a:t>
            </a:r>
            <a:r>
              <a:rPr lang="ru-RU" sz="2400" dirty="0">
                <a:latin typeface="Bookman Old Style" panose="02050604050505020204" pitchFamily="18" charset="0"/>
              </a:rPr>
              <a:t> становится равен </a:t>
            </a:r>
            <a:r>
              <a:rPr lang="ru-RU" sz="2400" dirty="0" err="1">
                <a:latin typeface="Bookman Old Style" panose="02050604050505020204" pitchFamily="18" charset="0"/>
              </a:rPr>
              <a:t>Capacity</a:t>
            </a:r>
            <a:r>
              <a:rPr lang="ru-RU" sz="2400" dirty="0">
                <a:latin typeface="Bookman Old Style" panose="02050604050505020204" pitchFamily="18" charset="0"/>
              </a:rPr>
              <a:t>, список создает новый внутренний массив </a:t>
            </a:r>
            <a:r>
              <a:rPr lang="ru-RU" sz="2400" b="1" dirty="0">
                <a:latin typeface="Bookman Old Style" panose="02050604050505020204" pitchFamily="18" charset="0"/>
              </a:rPr>
              <a:t>в 2 раза больше</a:t>
            </a:r>
            <a:r>
              <a:rPr lang="ru-RU" sz="2400" dirty="0">
                <a:latin typeface="Bookman Old Style" panose="02050604050505020204" pitchFamily="18" charset="0"/>
              </a:rPr>
              <a:t> предыдущего.</a:t>
            </a:r>
          </a:p>
          <a:p>
            <a:pPr lvl="1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Старые данные копируются в новый массив.</a:t>
            </a:r>
          </a:p>
          <a:p>
            <a:pPr lvl="1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Старый массив удаляется.</a:t>
            </a:r>
          </a:p>
        </p:txBody>
      </p:sp>
    </p:spTree>
    <p:extLst>
      <p:ext uri="{BB962C8B-B14F-4D97-AF65-F5344CB8AC3E}">
        <p14:creationId xmlns:p14="http://schemas.microsoft.com/office/powerpoint/2010/main" val="12305305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267765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test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&gt;();</a:t>
            </a:r>
          </a:p>
          <a:p>
            <a:r>
              <a:rPr lang="nn-NO" sz="2400" dirty="0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for</a:t>
            </a:r>
            <a:r>
              <a:rPr lang="nn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</a:t>
            </a:r>
            <a:r>
              <a:rPr lang="nn-NO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nn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nn-NO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</a:t>
            </a:r>
            <a:r>
              <a:rPr lang="nn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0; </a:t>
            </a:r>
            <a:r>
              <a:rPr lang="nn-NO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</a:t>
            </a:r>
            <a:r>
              <a:rPr lang="nn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&lt; 10; </a:t>
            </a:r>
            <a:r>
              <a:rPr lang="nn-NO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</a:t>
            </a:r>
            <a:r>
              <a:rPr lang="nn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++)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test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Add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$"Count: 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test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.Count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ru-RU" sz="2400" dirty="0" smtClean="0">
              <a:solidFill>
                <a:srgbClr val="A31515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					 </a:t>
            </a:r>
            <a:r>
              <a:rPr lang="en-US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Capacity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 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test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.Capacity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9348" y="2395233"/>
            <a:ext cx="5572903" cy="4353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321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7" name="Rectangle 28" descr="Светлый диагональный 2">
            <a:extLst>
              <a:ext uri="{FF2B5EF4-FFF2-40B4-BE49-F238E27FC236}">
                <a16:creationId xmlns:a16="http://schemas.microsoft.com/office/drawing/2014/main" id="{BB3DD146-65A3-48E1-9F24-69A934AA06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Оценка сложности алгоритмов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AB4488-D912-4AAA-A613-2985EDFB547D}"/>
              </a:ext>
            </a:extLst>
          </p:cNvPr>
          <p:cNvSpPr txBox="1"/>
          <p:nvPr/>
        </p:nvSpPr>
        <p:spPr>
          <a:xfrm>
            <a:off x="0" y="660143"/>
            <a:ext cx="12191999" cy="4708981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pPr indent="717550" algn="just">
              <a:lnSpc>
                <a:spcPct val="125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Сам термин "алгоритм" произошел от имени персидского математика Аль-Хорезми, труды которого сыграли важную роль на становление математики как науки.</a:t>
            </a:r>
          </a:p>
          <a:p>
            <a:pPr indent="717550" algn="just">
              <a:lnSpc>
                <a:spcPct val="125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Алгоритм </a:t>
            </a:r>
            <a:r>
              <a:rPr lang="ru-RU" sz="2400" dirty="0">
                <a:latin typeface="Bookman Old Style" panose="02050604050505020204" pitchFamily="18" charset="0"/>
              </a:rPr>
              <a:t>может иметь входные данные, над которыми производятся вычисления, а также может иметь выходной результат - одно значение или набор значений. З</a:t>
            </a:r>
            <a:r>
              <a:rPr lang="ru-RU" sz="2400" dirty="0" smtClean="0">
                <a:latin typeface="Bookman Old Style" panose="02050604050505020204" pitchFamily="18" charset="0"/>
              </a:rPr>
              <a:t>адача </a:t>
            </a:r>
            <a:r>
              <a:rPr lang="ru-RU" sz="2400" dirty="0">
                <a:latin typeface="Bookman Old Style" panose="02050604050505020204" pitchFamily="18" charset="0"/>
              </a:rPr>
              <a:t>алгоритма состоит в преобразовании входных значений в выходные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indent="717550" algn="just">
              <a:lnSpc>
                <a:spcPct val="125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Сложность алгоритмов оценивается по 2 критериям:</a:t>
            </a:r>
          </a:p>
          <a:p>
            <a:pPr marL="723900" indent="-342900" algn="just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Bookman Old Style" panose="02050604050505020204" pitchFamily="18" charset="0"/>
              </a:rPr>
              <a:t>требуемому </a:t>
            </a:r>
            <a:r>
              <a:rPr lang="ru-RU" sz="2400" b="1" dirty="0" smtClean="0">
                <a:latin typeface="Bookman Old Style" panose="02050604050505020204" pitchFamily="18" charset="0"/>
              </a:rPr>
              <a:t>времени</a:t>
            </a:r>
            <a:r>
              <a:rPr lang="ru-RU" sz="2400" dirty="0" smtClean="0">
                <a:latin typeface="Bookman Old Style" panose="02050604050505020204" pitchFamily="18" charset="0"/>
              </a:rPr>
              <a:t> на выполнение,</a:t>
            </a:r>
          </a:p>
          <a:p>
            <a:pPr marL="723900" indent="-342900" algn="just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Bookman Old Style" panose="02050604050505020204" pitchFamily="18" charset="0"/>
              </a:rPr>
              <a:t>требуемой </a:t>
            </a:r>
            <a:r>
              <a:rPr lang="ru-RU" sz="2400" b="1" dirty="0" smtClean="0">
                <a:latin typeface="Bookman Old Style" panose="02050604050505020204" pitchFamily="18" charset="0"/>
              </a:rPr>
              <a:t>памяти</a:t>
            </a:r>
            <a:r>
              <a:rPr lang="ru-RU" sz="2400" dirty="0" smtClean="0">
                <a:latin typeface="Bookman Old Style" panose="02050604050505020204" pitchFamily="18" charset="0"/>
              </a:rPr>
              <a:t> на выполнение.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59767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AB4488-D912-4AAA-A613-2985EDFB547D}"/>
              </a:ext>
            </a:extLst>
          </p:cNvPr>
          <p:cNvSpPr txBox="1"/>
          <p:nvPr/>
        </p:nvSpPr>
        <p:spPr>
          <a:xfrm>
            <a:off x="0" y="660143"/>
            <a:ext cx="12191999" cy="4893647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pPr algn="just">
              <a:lnSpc>
                <a:spcPct val="13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Зачем нужна оценка сложности</a:t>
            </a:r>
            <a:r>
              <a:rPr lang="ru-RU" sz="2400" b="1" dirty="0" smtClean="0">
                <a:latin typeface="Bookman Old Style" panose="02050604050505020204" pitchFamily="18" charset="0"/>
              </a:rPr>
              <a:t>?</a:t>
            </a: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3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3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Один </a:t>
            </a:r>
            <a:r>
              <a:rPr lang="ru-RU" sz="2400" dirty="0">
                <a:latin typeface="Bookman Old Style" panose="02050604050505020204" pitchFamily="18" charset="0"/>
              </a:rPr>
              <a:t>и тот же результат можно получить разными способами (разными алгоритмами).</a:t>
            </a:r>
          </a:p>
          <a:p>
            <a:pPr algn="just">
              <a:lnSpc>
                <a:spcPct val="13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Проблема: </a:t>
            </a:r>
            <a:r>
              <a:rPr lang="ru-RU" sz="2400" dirty="0">
                <a:latin typeface="Bookman Old Style" panose="02050604050505020204" pitchFamily="18" charset="0"/>
              </a:rPr>
              <a:t>Как понять, какой алгоритм лучше, не запуская его на суперкомпьютере?</a:t>
            </a:r>
          </a:p>
          <a:p>
            <a:pPr algn="just">
              <a:lnSpc>
                <a:spcPct val="13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Скорость работы зависит от процессора, памяти и языка программирования.</a:t>
            </a:r>
          </a:p>
          <a:p>
            <a:pPr algn="just">
              <a:lnSpc>
                <a:spcPct val="13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Решение: </a:t>
            </a:r>
            <a:r>
              <a:rPr lang="ru-RU" sz="2400" dirty="0">
                <a:latin typeface="Bookman Old Style" panose="02050604050505020204" pitchFamily="18" charset="0"/>
              </a:rPr>
              <a:t>Нам нужна универсальная мера, которая зависит только от количества входных данных </a:t>
            </a:r>
            <a:r>
              <a:rPr lang="ru-RU" sz="2400" dirty="0" smtClean="0">
                <a:latin typeface="Bookman Old Style" panose="02050604050505020204" pitchFamily="18" charset="0"/>
              </a:rPr>
              <a:t>(</a:t>
            </a:r>
            <a:r>
              <a:rPr lang="en-US" sz="2400" b="1" dirty="0" smtClean="0">
                <a:latin typeface="Bookman Old Style" panose="02050604050505020204" pitchFamily="18" charset="0"/>
              </a:rPr>
              <a:t>n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94854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" name="Прямоугольник 1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Вычислительная временная сложность (</a:t>
            </a:r>
            <a:r>
              <a:rPr lang="ru-RU" sz="2400" b="1" dirty="0" err="1">
                <a:latin typeface="Bookman Old Style" panose="02050604050505020204" pitchFamily="18" charset="0"/>
              </a:rPr>
              <a:t>time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complexity</a:t>
            </a:r>
            <a:r>
              <a:rPr lang="ru-RU" sz="2400" b="1" dirty="0">
                <a:latin typeface="Bookman Old Style" panose="02050604050505020204" pitchFamily="18" charset="0"/>
              </a:rPr>
              <a:t>)</a:t>
            </a:r>
            <a:r>
              <a:rPr lang="ru-RU" sz="2400" dirty="0">
                <a:latin typeface="Bookman Old Style" panose="02050604050505020204" pitchFamily="18" charset="0"/>
              </a:rPr>
              <a:t> — это максимальное возможное количество выполненных алгоритмом элементарных операций, как функция от размера входных данных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Вычислительная ёмкостная сложность (</a:t>
            </a:r>
            <a:r>
              <a:rPr lang="ru-RU" sz="2400" b="1" dirty="0" err="1">
                <a:latin typeface="Bookman Old Style" panose="02050604050505020204" pitchFamily="18" charset="0"/>
              </a:rPr>
              <a:t>space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complexity</a:t>
            </a:r>
            <a:r>
              <a:rPr lang="ru-RU" sz="2400" b="1" dirty="0">
                <a:latin typeface="Bookman Old Style" panose="02050604050505020204" pitchFamily="18" charset="0"/>
              </a:rPr>
              <a:t>)</a:t>
            </a:r>
            <a:r>
              <a:rPr lang="ru-RU" sz="2400" dirty="0">
                <a:latin typeface="Bookman Old Style" panose="02050604050505020204" pitchFamily="18" charset="0"/>
              </a:rPr>
              <a:t> — это максимальный возможный размер занятой алгоритмом дополнительной памяти, как функция от размера входных данных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i="1" dirty="0">
                <a:latin typeface="Bookman Old Style" panose="02050604050505020204" pitchFamily="18" charset="0"/>
              </a:rPr>
              <a:t>Мы чаще фокусируемся на времени, так как память сейчас дешевая, а время пользователя — нет</a:t>
            </a:r>
            <a:r>
              <a:rPr lang="ru-RU" sz="2400" i="1" dirty="0" smtClean="0">
                <a:latin typeface="Bookman Old Style" panose="02050604050505020204" pitchFamily="18" charset="0"/>
              </a:rPr>
              <a:t>.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1364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" name="Прямоугольник 1"/>
          <p:cNvSpPr/>
          <p:nvPr/>
        </p:nvSpPr>
        <p:spPr>
          <a:xfrm>
            <a:off x="0" y="0"/>
            <a:ext cx="12192000" cy="6123664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nn-NO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nn-NO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n-NO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nn-NO" sz="2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nn-NO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n-NO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i = </a:t>
            </a:r>
            <a:r>
              <a:rPr lang="nn-NO" sz="2400" dirty="0" smtClean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nn-NO" sz="2400" dirty="0">
                <a:solidFill>
                  <a:srgbClr val="000000"/>
                </a:solidFill>
                <a:latin typeface="Consolas" panose="020B0609020204030204" pitchFamily="49" charset="0"/>
              </a:rPr>
              <a:t>; i &lt; n; i++)</a:t>
            </a:r>
          </a:p>
          <a:p>
            <a:pPr>
              <a:lnSpc>
                <a:spcPct val="150000"/>
              </a:lnSpc>
            </a:pPr>
            <a:r>
              <a:rPr lang="nn-NO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count</a:t>
            </a:r>
            <a:r>
              <a:rPr lang="nn-NO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++;</a:t>
            </a:r>
          </a:p>
          <a:p>
            <a:pPr>
              <a:lnSpc>
                <a:spcPct val="150000"/>
              </a:lnSpc>
            </a:pPr>
            <a:endParaRPr lang="nn-NO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Посчитаем количество элементарных операций</a:t>
            </a:r>
            <a:r>
              <a:rPr lang="ru-RU" sz="2400" b="1" dirty="0" smtClean="0">
                <a:latin typeface="Bookman Old Style" panose="02050604050505020204" pitchFamily="18" charset="0"/>
              </a:rPr>
              <a:t>:</a:t>
            </a:r>
            <a:endParaRPr lang="ru-RU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1 для </a:t>
            </a:r>
            <a:r>
              <a:rPr lang="ru-RU" sz="2400" dirty="0" err="1">
                <a:latin typeface="Bookman Old Style" panose="02050604050505020204" pitchFamily="18" charset="0"/>
              </a:rPr>
              <a:t>int</a:t>
            </a:r>
            <a:r>
              <a:rPr lang="ru-RU" sz="2400" dirty="0">
                <a:latin typeface="Bookman Old Style" panose="02050604050505020204" pitchFamily="18" charset="0"/>
              </a:rPr>
              <a:t> i = 0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n+1 для i &lt; n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2n для i++ (что эквивалентно i = i + 1, а это две операции: присваивание и сложение)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2n для </a:t>
            </a:r>
            <a:r>
              <a:rPr lang="ru-RU" sz="2400" dirty="0" err="1">
                <a:latin typeface="Bookman Old Style" panose="02050604050505020204" pitchFamily="18" charset="0"/>
              </a:rPr>
              <a:t>сount</a:t>
            </a:r>
            <a:r>
              <a:rPr lang="ru-RU" sz="2400" dirty="0" smtClean="0">
                <a:latin typeface="Bookman Old Style" panose="02050604050505020204" pitchFamily="18" charset="0"/>
              </a:rPr>
              <a:t>++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Получаем, что </a:t>
            </a:r>
            <a:r>
              <a:rPr lang="ru-RU" sz="2400" dirty="0" smtClean="0">
                <a:latin typeface="Bookman Old Style" panose="02050604050505020204" pitchFamily="18" charset="0"/>
              </a:rPr>
              <a:t>временная </a:t>
            </a:r>
            <a:r>
              <a:rPr lang="ru-RU" sz="2400" dirty="0">
                <a:latin typeface="Bookman Old Style" panose="02050604050505020204" pitchFamily="18" charset="0"/>
              </a:rPr>
              <a:t>сложность алгоритма </a:t>
            </a:r>
            <a:r>
              <a:rPr lang="ru-RU" sz="2400" dirty="0" smtClean="0">
                <a:latin typeface="Bookman Old Style" panose="02050604050505020204" pitchFamily="18" charset="0"/>
              </a:rPr>
              <a:t>C(n</a:t>
            </a:r>
            <a:r>
              <a:rPr lang="ru-RU" sz="2400" dirty="0">
                <a:latin typeface="Bookman Old Style" panose="02050604050505020204" pitchFamily="18" charset="0"/>
              </a:rPr>
              <a:t>)=2+5n.</a:t>
            </a:r>
          </a:p>
        </p:txBody>
      </p:sp>
    </p:spTree>
    <p:extLst>
      <p:ext uri="{BB962C8B-B14F-4D97-AF65-F5344CB8AC3E}">
        <p14:creationId xmlns:p14="http://schemas.microsoft.com/office/powerpoint/2010/main" val="32745649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" name="Прямоугольник 1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И ещё один пример посложнее, перед тем как перейти к долгожданной O-нотации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while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&lt; n)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j = </a:t>
            </a:r>
            <a:r>
              <a:rPr lang="en-US" sz="2400" dirty="0" smtClean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j &lt; n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 j++)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count++;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++;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pt-BR" sz="2400" dirty="0" smtClean="0"/>
          </a:p>
          <a:p>
            <a:r>
              <a:rPr lang="pt-BR" sz="2400" dirty="0" smtClean="0">
                <a:latin typeface="Bookman Old Style" panose="02050604050505020204" pitchFamily="18" charset="0"/>
              </a:rPr>
              <a:t>Итого</a:t>
            </a:r>
            <a:r>
              <a:rPr lang="pt-BR" sz="2400" dirty="0">
                <a:latin typeface="Bookman Old Style" panose="02050604050505020204" pitchFamily="18" charset="0"/>
              </a:rPr>
              <a:t>, сложность </a:t>
            </a:r>
            <a:r>
              <a:rPr lang="pt-BR" sz="2400" i="1" dirty="0" smtClean="0">
                <a:latin typeface="Bookman Old Style" panose="02050604050505020204" pitchFamily="18" charset="0"/>
              </a:rPr>
              <a:t>C</a:t>
            </a:r>
            <a:r>
              <a:rPr lang="pt-BR" sz="2400" dirty="0" smtClean="0">
                <a:latin typeface="Bookman Old Style" panose="02050604050505020204" pitchFamily="18" charset="0"/>
              </a:rPr>
              <a:t>(</a:t>
            </a:r>
            <a:r>
              <a:rPr lang="pt-BR" sz="2400" i="1" dirty="0" smtClean="0">
                <a:latin typeface="Bookman Old Style" panose="02050604050505020204" pitchFamily="18" charset="0"/>
              </a:rPr>
              <a:t>n</a:t>
            </a:r>
            <a:r>
              <a:rPr lang="pt-BR" sz="2400" dirty="0">
                <a:latin typeface="Bookman Old Style" panose="02050604050505020204" pitchFamily="18" charset="0"/>
              </a:rPr>
              <a:t>)=1+(</a:t>
            </a:r>
            <a:r>
              <a:rPr lang="pt-BR" sz="2400" i="1" dirty="0">
                <a:latin typeface="Bookman Old Style" panose="02050604050505020204" pitchFamily="18" charset="0"/>
              </a:rPr>
              <a:t>n</a:t>
            </a:r>
            <a:r>
              <a:rPr lang="pt-BR" sz="2400" dirty="0">
                <a:latin typeface="Bookman Old Style" panose="02050604050505020204" pitchFamily="18" charset="0"/>
              </a:rPr>
              <a:t>+1)+2</a:t>
            </a:r>
            <a:r>
              <a:rPr lang="pt-BR" sz="2400" i="1" dirty="0">
                <a:latin typeface="Bookman Old Style" panose="02050604050505020204" pitchFamily="18" charset="0"/>
              </a:rPr>
              <a:t>n</a:t>
            </a:r>
            <a:r>
              <a:rPr lang="pt-BR" sz="2400" dirty="0">
                <a:latin typeface="Bookman Old Style" panose="02050604050505020204" pitchFamily="18" charset="0"/>
              </a:rPr>
              <a:t>+</a:t>
            </a:r>
            <a:r>
              <a:rPr lang="pt-BR" sz="2400" i="1" dirty="0">
                <a:latin typeface="Bookman Old Style" panose="02050604050505020204" pitchFamily="18" charset="0"/>
              </a:rPr>
              <a:t>n</a:t>
            </a:r>
            <a:r>
              <a:rPr lang="pt-BR" sz="2400" dirty="0">
                <a:latin typeface="Bookman Old Style" panose="02050604050505020204" pitchFamily="18" charset="0"/>
              </a:rPr>
              <a:t>(1+(</a:t>
            </a:r>
            <a:r>
              <a:rPr lang="pt-BR" sz="2400" i="1" dirty="0">
                <a:latin typeface="Bookman Old Style" panose="02050604050505020204" pitchFamily="18" charset="0"/>
              </a:rPr>
              <a:t>n</a:t>
            </a:r>
            <a:r>
              <a:rPr lang="pt-BR" sz="2400" dirty="0">
                <a:latin typeface="Bookman Old Style" panose="02050604050505020204" pitchFamily="18" charset="0"/>
              </a:rPr>
              <a:t>+1)+2</a:t>
            </a:r>
            <a:r>
              <a:rPr lang="pt-BR" sz="2400" i="1" dirty="0">
                <a:latin typeface="Bookman Old Style" panose="02050604050505020204" pitchFamily="18" charset="0"/>
              </a:rPr>
              <a:t>n</a:t>
            </a:r>
            <a:r>
              <a:rPr lang="pt-BR" sz="2400" dirty="0">
                <a:latin typeface="Bookman Old Style" panose="02050604050505020204" pitchFamily="18" charset="0"/>
              </a:rPr>
              <a:t>+2</a:t>
            </a:r>
            <a:r>
              <a:rPr lang="pt-BR" sz="2400" i="1" dirty="0">
                <a:latin typeface="Bookman Old Style" panose="02050604050505020204" pitchFamily="18" charset="0"/>
              </a:rPr>
              <a:t>n</a:t>
            </a:r>
            <a:r>
              <a:rPr lang="pt-BR" sz="2400" dirty="0">
                <a:latin typeface="Bookman Old Style" panose="02050604050505020204" pitchFamily="18" charset="0"/>
              </a:rPr>
              <a:t>)=</a:t>
            </a:r>
            <a:r>
              <a:rPr lang="pt-BR" sz="2400" dirty="0" smtClean="0">
                <a:latin typeface="Bookman Old Style" panose="02050604050505020204" pitchFamily="18" charset="0"/>
              </a:rPr>
              <a:t>2+5</a:t>
            </a:r>
            <a:r>
              <a:rPr lang="pt-BR" sz="2400" i="1" dirty="0" smtClean="0">
                <a:latin typeface="Bookman Old Style" panose="02050604050505020204" pitchFamily="18" charset="0"/>
              </a:rPr>
              <a:t>n</a:t>
            </a:r>
            <a:r>
              <a:rPr lang="pt-BR" sz="2400" dirty="0" smtClean="0">
                <a:latin typeface="Bookman Old Style" panose="02050604050505020204" pitchFamily="18" charset="0"/>
              </a:rPr>
              <a:t>+5</a:t>
            </a:r>
            <a:r>
              <a:rPr lang="pt-BR" sz="2400" i="1" dirty="0" smtClean="0">
                <a:latin typeface="Bookman Old Style" panose="02050604050505020204" pitchFamily="18" charset="0"/>
              </a:rPr>
              <a:t>n</a:t>
            </a:r>
            <a:r>
              <a:rPr lang="pt-BR" sz="2400" baseline="30000" dirty="0" smtClean="0">
                <a:latin typeface="Bookman Old Style" panose="02050604050505020204" pitchFamily="18" charset="0"/>
              </a:rPr>
              <a:t>2</a:t>
            </a:r>
            <a:endParaRPr lang="en-US" sz="2400" baseline="300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5559136" y="673090"/>
            <a:ext cx="6421583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Посчитаем функцию сложности: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i = 0 выполнится лишь однажды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i&lt;n внутри </a:t>
            </a:r>
            <a:r>
              <a:rPr lang="ru-RU" sz="2400" dirty="0" err="1">
                <a:latin typeface="Bookman Old Style" panose="02050604050505020204" pitchFamily="18" charset="0"/>
              </a:rPr>
              <a:t>while</a:t>
            </a:r>
            <a:r>
              <a:rPr lang="ru-RU" sz="2400" dirty="0">
                <a:latin typeface="Bookman Old Style" panose="02050604050505020204" pitchFamily="18" charset="0"/>
              </a:rPr>
              <a:t> выполнится n+1 раз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i+=1 выполнится n раз (+= это две элементарные операции)</a:t>
            </a:r>
          </a:p>
          <a:p>
            <a:pPr algn="just"/>
            <a:endParaRPr lang="en-US" sz="2400" dirty="0" smtClean="0">
              <a:latin typeface="Bookman Old Style" panose="02050604050505020204" pitchFamily="18" charset="0"/>
            </a:endParaRPr>
          </a:p>
          <a:p>
            <a:pPr algn="just"/>
            <a:r>
              <a:rPr lang="ru-RU" sz="2400" dirty="0" smtClean="0">
                <a:latin typeface="Bookman Old Style" panose="02050604050505020204" pitchFamily="18" charset="0"/>
              </a:rPr>
              <a:t>цикл </a:t>
            </a:r>
            <a:r>
              <a:rPr lang="ru-RU" sz="2400" dirty="0" err="1">
                <a:latin typeface="Bookman Old Style" panose="02050604050505020204" pitchFamily="18" charset="0"/>
              </a:rPr>
              <a:t>for</a:t>
            </a:r>
            <a:r>
              <a:rPr lang="ru-RU" sz="2400" dirty="0">
                <a:latin typeface="Bookman Old Style" panose="02050604050505020204" pitchFamily="18" charset="0"/>
              </a:rPr>
              <a:t> начнет выполняться n раз и каждый раз: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j=0 выполнится один раз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j&lt;n выполнится n+1 раз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j++ выполнится n раз (++ это две элементарные операции)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ru-RU" sz="2400" dirty="0" err="1">
                <a:latin typeface="Bookman Old Style" panose="02050604050505020204" pitchFamily="18" charset="0"/>
              </a:rPr>
              <a:t>count</a:t>
            </a:r>
            <a:r>
              <a:rPr lang="ru-RU" sz="2400" dirty="0">
                <a:latin typeface="Bookman Old Style" panose="02050604050505020204" pitchFamily="18" charset="0"/>
              </a:rPr>
              <a:t>++ выполнится n </a:t>
            </a:r>
            <a:r>
              <a:rPr lang="ru-RU" sz="2400" dirty="0" smtClean="0">
                <a:latin typeface="Bookman Old Style" panose="02050604050505020204" pitchFamily="18" charset="0"/>
              </a:rPr>
              <a:t>раз</a:t>
            </a:r>
            <a:r>
              <a:rPr lang="en-US" sz="2400" dirty="0" smtClean="0">
                <a:latin typeface="Bookman Old Style" panose="02050604050505020204" pitchFamily="18" charset="0"/>
              </a:rPr>
              <a:t/>
            </a:r>
            <a:br>
              <a:rPr lang="en-US" sz="2400" dirty="0" smtClean="0">
                <a:latin typeface="Bookman Old Style" panose="02050604050505020204" pitchFamily="18" charset="0"/>
              </a:rPr>
            </a:br>
            <a:r>
              <a:rPr lang="ru-RU" sz="2400" dirty="0" smtClean="0">
                <a:latin typeface="Bookman Old Style" panose="02050604050505020204" pitchFamily="18" charset="0"/>
              </a:rPr>
              <a:t>(++ </a:t>
            </a:r>
            <a:r>
              <a:rPr lang="ru-RU" sz="2400" dirty="0">
                <a:latin typeface="Bookman Old Style" panose="02050604050505020204" pitchFamily="18" charset="0"/>
              </a:rPr>
              <a:t>это две элементарные операции)</a:t>
            </a:r>
            <a:endParaRPr lang="ru-RU" sz="2400" b="0" i="0" dirty="0"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6086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Точный </a:t>
            </a:r>
            <a:r>
              <a:rPr lang="ru-RU" sz="2400" dirty="0">
                <a:latin typeface="Bookman Old Style" panose="02050604050505020204" pitchFamily="18" charset="0"/>
              </a:rPr>
              <a:t>расчет </a:t>
            </a:r>
            <a:r>
              <a:rPr lang="ru-RU" sz="2400" dirty="0" smtClean="0">
                <a:latin typeface="Bookman Old Style" panose="02050604050505020204" pitchFamily="18" charset="0"/>
              </a:rPr>
              <a:t>времени </a:t>
            </a:r>
            <a:r>
              <a:rPr lang="ru-RU" sz="2400" dirty="0">
                <a:latin typeface="Bookman Old Style" panose="02050604050505020204" pitchFamily="18" charset="0"/>
              </a:rPr>
              <a:t>выполнения невозможен, потому что:</a:t>
            </a:r>
          </a:p>
          <a:p>
            <a:pPr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Операции не равны:</a:t>
            </a:r>
            <a:r>
              <a:rPr lang="ru-RU" sz="2400" dirty="0" smtClean="0">
                <a:latin typeface="Bookman Old Style" panose="02050604050505020204" pitchFamily="18" charset="0"/>
              </a:rPr>
              <a:t> Сложение выполняется мгновенно, а вычисление </a:t>
            </a:r>
            <a:r>
              <a:rPr lang="ru-RU" sz="2400" dirty="0" err="1" smtClean="0">
                <a:latin typeface="Bookman Old Style" panose="02050604050505020204" pitchFamily="18" charset="0"/>
              </a:rPr>
              <a:t>sin</a:t>
            </a:r>
            <a:r>
              <a:rPr lang="ru-RU" sz="2400" dirty="0" smtClean="0">
                <a:latin typeface="Bookman Old Style" panose="02050604050505020204" pitchFamily="18" charset="0"/>
              </a:rPr>
              <a:t>(x) или </a:t>
            </a:r>
            <a:r>
              <a:rPr lang="ru-RU" sz="2400" dirty="0" err="1" smtClean="0">
                <a:latin typeface="Bookman Old Style" panose="02050604050505020204" pitchFamily="18" charset="0"/>
              </a:rPr>
              <a:t>sqrt</a:t>
            </a:r>
            <a:r>
              <a:rPr lang="ru-RU" sz="2400" dirty="0" smtClean="0">
                <a:latin typeface="Bookman Old Style" panose="02050604050505020204" pitchFamily="18" charset="0"/>
              </a:rPr>
              <a:t>(x) может занять в десятки раз больше времени.</a:t>
            </a:r>
          </a:p>
          <a:p>
            <a:pPr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Железо разное:</a:t>
            </a:r>
            <a:r>
              <a:rPr lang="ru-RU" sz="2400" dirty="0" smtClean="0">
                <a:latin typeface="Bookman Old Style" panose="02050604050505020204" pitchFamily="18" charset="0"/>
              </a:rPr>
              <a:t> На одном процессоре операция идет быстро, на другом — медленнее из-за разницы в архитектуре и кэшировании.</a:t>
            </a:r>
          </a:p>
          <a:p>
            <a:pPr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Скрытые расходы С#:</a:t>
            </a:r>
            <a:r>
              <a:rPr lang="ru-RU" sz="2400" dirty="0" smtClean="0">
                <a:latin typeface="Bookman Old Style" panose="02050604050505020204" pitchFamily="18" charset="0"/>
              </a:rPr>
              <a:t> Выделение памяти, работа «сборщика мусора».</a:t>
            </a:r>
          </a:p>
          <a:p>
            <a:pPr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Внешние факторы:</a:t>
            </a:r>
            <a:r>
              <a:rPr lang="ru-RU" sz="2400" dirty="0" smtClean="0">
                <a:latin typeface="Bookman Old Style" panose="02050604050505020204" pitchFamily="18" charset="0"/>
              </a:rPr>
              <a:t> Процессор может быть занят фоновым обновлением </a:t>
            </a:r>
            <a:r>
              <a:rPr lang="ru-RU" sz="2400" dirty="0" err="1" smtClean="0">
                <a:latin typeface="Bookman Old Style" panose="02050604050505020204" pitchFamily="18" charset="0"/>
              </a:rPr>
              <a:t>Windows</a:t>
            </a:r>
            <a:r>
              <a:rPr lang="ru-RU" sz="2400" dirty="0" smtClean="0">
                <a:latin typeface="Bookman Old Style" panose="02050604050505020204" pitchFamily="18" charset="0"/>
              </a:rPr>
              <a:t> или антивирусом.</a:t>
            </a:r>
          </a:p>
          <a:p>
            <a:pPr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Вывод</a:t>
            </a:r>
            <a:r>
              <a:rPr lang="ru-RU" sz="2400" b="1" dirty="0">
                <a:latin typeface="Bookman Old Style" panose="02050604050505020204" pitchFamily="18" charset="0"/>
              </a:rPr>
              <a:t>:</a:t>
            </a:r>
            <a:r>
              <a:rPr lang="ru-RU" sz="2400" dirty="0">
                <a:latin typeface="Bookman Old Style" panose="02050604050505020204" pitchFamily="18" charset="0"/>
              </a:rPr>
              <a:t> Вместо точного времени инженеры оценивают </a:t>
            </a:r>
            <a:r>
              <a:rPr lang="ru-RU" sz="2400" b="1" dirty="0">
                <a:latin typeface="Bookman Old Style" panose="02050604050505020204" pitchFamily="18" charset="0"/>
              </a:rPr>
              <a:t>асимптотическую сложность</a:t>
            </a:r>
            <a:r>
              <a:rPr lang="ru-RU" sz="2400" dirty="0">
                <a:latin typeface="Bookman Old Style" panose="02050604050505020204" pitchFamily="18" charset="0"/>
              </a:rPr>
              <a:t> — то, как быстро растет время работы программы при росте объема данных.</a:t>
            </a:r>
          </a:p>
        </p:txBody>
      </p:sp>
    </p:spTree>
    <p:extLst>
      <p:ext uri="{BB962C8B-B14F-4D97-AF65-F5344CB8AC3E}">
        <p14:creationId xmlns:p14="http://schemas.microsoft.com/office/powerpoint/2010/main" val="2750882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67888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Для оценки сложности инженеры обычно пользуются так называемой О-нотацией. Например, говорят «сложность этого алгоритма O(n²) (произносится: о от эн квадрат), а этого Θ(n </a:t>
            </a:r>
            <a:r>
              <a:rPr lang="ru-RU" sz="2400" dirty="0" err="1">
                <a:latin typeface="Bookman Old Style" panose="02050604050505020204" pitchFamily="18" charset="0"/>
              </a:rPr>
              <a:t>log</a:t>
            </a:r>
            <a:r>
              <a:rPr lang="ru-RU" sz="2400" dirty="0">
                <a:latin typeface="Bookman Old Style" panose="02050604050505020204" pitchFamily="18" charset="0"/>
              </a:rPr>
              <a:t>(n)) (произносится: тэта от эн лог эн).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Если очень кратко — O(n²) означает, что самое быстро растущее слагаемое в функции сложности — это n в степени не более 2, а Θ(n²) — что степень в точности 2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endParaRPr lang="ru-RU" sz="2400" b="0" i="0" dirty="0">
              <a:effectLst/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Определение 1.</a:t>
            </a:r>
            <a:r>
              <a:rPr lang="ru-RU" sz="2400" dirty="0">
                <a:latin typeface="Bookman Old Style" panose="02050604050505020204" pitchFamily="18" charset="0"/>
              </a:rPr>
              <a:t> Говорят «</a:t>
            </a:r>
            <a:r>
              <a:rPr lang="en-US" sz="2400" i="1" dirty="0">
                <a:latin typeface="Bookman Old Style" panose="02050604050505020204" pitchFamily="18" charset="0"/>
              </a:rPr>
              <a:t>f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dirty="0">
                <a:latin typeface="Bookman Old Style" panose="02050604050505020204" pitchFamily="18" charset="0"/>
              </a:rPr>
              <a:t>)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dirty="0">
                <a:latin typeface="Bookman Old Style" panose="02050604050505020204" pitchFamily="18" charset="0"/>
              </a:rPr>
              <a:t>=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i="1" dirty="0">
                <a:latin typeface="Bookman Old Style" panose="02050604050505020204" pitchFamily="18" charset="0"/>
              </a:rPr>
              <a:t>O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g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dirty="0">
                <a:latin typeface="Bookman Old Style" panose="02050604050505020204" pitchFamily="18" charset="0"/>
              </a:rPr>
              <a:t>))» </a:t>
            </a:r>
            <a:r>
              <a:rPr lang="ru-RU" sz="2400" dirty="0">
                <a:latin typeface="Bookman Old Style" panose="02050604050505020204" pitchFamily="18" charset="0"/>
              </a:rPr>
              <a:t>тогда и только тогда,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когда ∃</a:t>
            </a:r>
            <a:r>
              <a:rPr lang="en-US" sz="2400" i="1" dirty="0">
                <a:latin typeface="Bookman Old Style" panose="02050604050505020204" pitchFamily="18" charset="0"/>
              </a:rPr>
              <a:t>C</a:t>
            </a:r>
            <a:r>
              <a:rPr lang="en-US" sz="2400" dirty="0">
                <a:latin typeface="Bookman Old Style" panose="02050604050505020204" pitchFamily="18" charset="0"/>
              </a:rPr>
              <a:t>&gt;0,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dirty="0">
                <a:latin typeface="Bookman Old Style" panose="02050604050505020204" pitchFamily="18" charset="0"/>
              </a:rPr>
              <a:t>∃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baseline="-25000" dirty="0">
                <a:latin typeface="Bookman Old Style" panose="02050604050505020204" pitchFamily="18" charset="0"/>
              </a:rPr>
              <a:t>0</a:t>
            </a:r>
            <a:r>
              <a:rPr lang="en-US" sz="2400" dirty="0">
                <a:latin typeface="Bookman Old Style" panose="02050604050505020204" pitchFamily="18" charset="0"/>
              </a:rPr>
              <a:t>​:∀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dirty="0">
                <a:latin typeface="Bookman Old Style" panose="02050604050505020204" pitchFamily="18" charset="0"/>
              </a:rPr>
              <a:t>&gt;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baseline="-25000" dirty="0">
                <a:latin typeface="Bookman Old Style" panose="02050604050505020204" pitchFamily="18" charset="0"/>
              </a:rPr>
              <a:t>0</a:t>
            </a:r>
            <a:r>
              <a:rPr lang="en-US" sz="2400" dirty="0">
                <a:latin typeface="Bookman Old Style" panose="02050604050505020204" pitchFamily="18" charset="0"/>
              </a:rPr>
              <a:t>​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dirty="0">
                <a:latin typeface="Bookman Old Style" panose="02050604050505020204" pitchFamily="18" charset="0"/>
              </a:rPr>
              <a:t>→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i="1" dirty="0">
                <a:latin typeface="Bookman Old Style" panose="02050604050505020204" pitchFamily="18" charset="0"/>
              </a:rPr>
              <a:t>f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dirty="0">
                <a:latin typeface="Bookman Old Style" panose="02050604050505020204" pitchFamily="18" charset="0"/>
              </a:rPr>
              <a:t>)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dirty="0">
                <a:latin typeface="Bookman Old Style" panose="02050604050505020204" pitchFamily="18" charset="0"/>
              </a:rPr>
              <a:t>&lt;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i="1" dirty="0">
                <a:latin typeface="Bookman Old Style" panose="02050604050505020204" pitchFamily="18" charset="0"/>
              </a:rPr>
              <a:t>Cg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dirty="0">
                <a:latin typeface="Bookman Old Style" panose="02050604050505020204" pitchFamily="18" charset="0"/>
              </a:rPr>
              <a:t>)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Определение 2.</a:t>
            </a:r>
            <a:r>
              <a:rPr lang="ru-RU" sz="2400" dirty="0">
                <a:latin typeface="Bookman Old Style" panose="02050604050505020204" pitchFamily="18" charset="0"/>
              </a:rPr>
              <a:t> Говорят «</a:t>
            </a:r>
            <a:r>
              <a:rPr lang="en-US" sz="2400" i="1" dirty="0">
                <a:latin typeface="Bookman Old Style" panose="02050604050505020204" pitchFamily="18" charset="0"/>
              </a:rPr>
              <a:t>f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dirty="0">
                <a:latin typeface="Bookman Old Style" panose="02050604050505020204" pitchFamily="18" charset="0"/>
              </a:rPr>
              <a:t>)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dirty="0">
                <a:latin typeface="Bookman Old Style" panose="02050604050505020204" pitchFamily="18" charset="0"/>
              </a:rPr>
              <a:t>=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l-GR" sz="2400" dirty="0">
                <a:latin typeface="Bookman Old Style" panose="02050604050505020204" pitchFamily="18" charset="0"/>
              </a:rPr>
              <a:t>Θ(</a:t>
            </a:r>
            <a:r>
              <a:rPr lang="en-US" sz="2400" i="1" dirty="0">
                <a:latin typeface="Bookman Old Style" panose="02050604050505020204" pitchFamily="18" charset="0"/>
              </a:rPr>
              <a:t>g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dirty="0">
                <a:latin typeface="Bookman Old Style" panose="02050604050505020204" pitchFamily="18" charset="0"/>
              </a:rPr>
              <a:t>))» </a:t>
            </a:r>
            <a:r>
              <a:rPr lang="ru-RU" sz="2400" dirty="0">
                <a:latin typeface="Bookman Old Style" panose="02050604050505020204" pitchFamily="18" charset="0"/>
              </a:rPr>
              <a:t>тогда и только тогда, когда </a:t>
            </a:r>
            <a:r>
              <a:rPr lang="en-US" sz="2400" i="1" dirty="0">
                <a:latin typeface="Bookman Old Style" panose="02050604050505020204" pitchFamily="18" charset="0"/>
              </a:rPr>
              <a:t>f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dirty="0">
                <a:latin typeface="Bookman Old Style" panose="02050604050505020204" pitchFamily="18" charset="0"/>
              </a:rPr>
              <a:t>)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dirty="0">
                <a:latin typeface="Bookman Old Style" panose="02050604050505020204" pitchFamily="18" charset="0"/>
              </a:rPr>
              <a:t>=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i="1" dirty="0">
                <a:latin typeface="Bookman Old Style" panose="02050604050505020204" pitchFamily="18" charset="0"/>
              </a:rPr>
              <a:t>O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g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dirty="0">
                <a:latin typeface="Bookman Old Style" panose="02050604050505020204" pitchFamily="18" charset="0"/>
              </a:rPr>
              <a:t>)) </a:t>
            </a:r>
            <a:r>
              <a:rPr lang="ru-RU" sz="2400" dirty="0">
                <a:latin typeface="Bookman Old Style" panose="02050604050505020204" pitchFamily="18" charset="0"/>
              </a:rPr>
              <a:t>и одновременно </a:t>
            </a:r>
            <a:r>
              <a:rPr lang="en-US" sz="2400" i="1" dirty="0">
                <a:latin typeface="Bookman Old Style" panose="02050604050505020204" pitchFamily="18" charset="0"/>
              </a:rPr>
              <a:t>g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dirty="0">
                <a:latin typeface="Bookman Old Style" panose="02050604050505020204" pitchFamily="18" charset="0"/>
              </a:rPr>
              <a:t>)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dirty="0">
                <a:latin typeface="Bookman Old Style" panose="02050604050505020204" pitchFamily="18" charset="0"/>
              </a:rPr>
              <a:t>=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i="1" dirty="0">
                <a:latin typeface="Bookman Old Style" panose="02050604050505020204" pitchFamily="18" charset="0"/>
              </a:rPr>
              <a:t>O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f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dirty="0" smtClean="0">
                <a:latin typeface="Bookman Old Style" panose="02050604050505020204" pitchFamily="18" charset="0"/>
              </a:rPr>
              <a:t>))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49582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92497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Пример.</a:t>
            </a:r>
          </a:p>
          <a:p>
            <a:pPr algn="just"/>
            <a:endParaRPr lang="ru-RU" sz="2400" dirty="0" smtClean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pPr algn="just"/>
            <a:r>
              <a:rPr lang="en-US" sz="2400" dirty="0" err="1" smtClean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algn="just"/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while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&lt; n)</a:t>
            </a:r>
          </a:p>
          <a:p>
            <a:pPr algn="just"/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algn="just"/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j=</a:t>
            </a:r>
            <a:r>
              <a:rPr lang="en-US" sz="24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 j&lt;n-</a:t>
            </a:r>
            <a:r>
              <a:rPr lang="en-US" sz="2400" dirty="0">
                <a:solidFill>
                  <a:srgbClr val="098658"/>
                </a:solidFill>
                <a:latin typeface="Consolas" panose="020B0609020204030204" pitchFamily="49" charset="0"/>
              </a:rPr>
              <a:t>2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 j++)</a:t>
            </a:r>
          </a:p>
          <a:p>
            <a:pPr algn="just"/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count++;</a:t>
            </a:r>
          </a:p>
          <a:p>
            <a:pPr algn="just"/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++;</a:t>
            </a:r>
          </a:p>
          <a:p>
            <a:pPr algn="just"/>
            <a:r>
              <a:rPr lang="en-US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 algn="just"/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algn="just"/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Заметим, что </a:t>
            </a:r>
            <a:r>
              <a:rPr lang="ru-RU" sz="2400" dirty="0" err="1">
                <a:latin typeface="Bookman Old Style" panose="02050604050505020204" pitchFamily="18" charset="0"/>
              </a:rPr>
              <a:t>count</a:t>
            </a:r>
            <a:r>
              <a:rPr lang="ru-RU" sz="2400" dirty="0">
                <a:latin typeface="Bookman Old Style" panose="02050604050505020204" pitchFamily="18" charset="0"/>
              </a:rPr>
              <a:t>++ выполняется чуть меньше n² раз. Не точно n², потому что i начинается с 1, а не с нуля, да и внутренний цикл до n-2. Однако опытный инженер даже не будет пытаться учитывать эти константы — он и так знает, что в итоге будет квадратичная оценка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Оценка сложности алгоритма </a:t>
            </a:r>
            <a:r>
              <a:rPr lang="en-US" sz="2400" dirty="0" smtClean="0">
                <a:latin typeface="Bookman Old Style" panose="02050604050505020204" pitchFamily="18" charset="0"/>
              </a:rPr>
              <a:t>O(n</a:t>
            </a:r>
            <a:r>
              <a:rPr lang="en-US" sz="2400" baseline="30000" dirty="0" smtClean="0">
                <a:latin typeface="Bookman Old Style" panose="02050604050505020204" pitchFamily="18" charset="0"/>
              </a:rPr>
              <a:t>2</a:t>
            </a:r>
            <a:r>
              <a:rPr lang="en-US" sz="2400" dirty="0" smtClean="0">
                <a:latin typeface="Bookman Old Style" panose="02050604050505020204" pitchFamily="18" charset="0"/>
              </a:rPr>
              <a:t>)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5080000" y="0"/>
            <a:ext cx="7112000" cy="3970318"/>
          </a:xfrm>
          <a:prstGeom prst="rect">
            <a:avLst/>
          </a:prstGeom>
        </p:spPr>
        <p:txBody>
          <a:bodyPr wrap="square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Попробуем сходу найти самую «горячую» операцию — ту, которая выполняется больше всего раз. Чаще всего такая операция находится внутри самого вложенного цикла. В нашем случае это </a:t>
            </a:r>
            <a:r>
              <a:rPr lang="ru-RU" sz="2400" dirty="0" err="1">
                <a:latin typeface="Bookman Old Style" panose="02050604050505020204" pitchFamily="18" charset="0"/>
              </a:rPr>
              <a:t>count</a:t>
            </a:r>
            <a:r>
              <a:rPr lang="ru-RU" sz="2400" dirty="0">
                <a:latin typeface="Bookman Old Style" panose="02050604050505020204" pitchFamily="18" charset="0"/>
              </a:rPr>
              <a:t>++. Ну или j++ внутри </a:t>
            </a:r>
            <a:r>
              <a:rPr lang="ru-RU" sz="2400" dirty="0" err="1">
                <a:latin typeface="Bookman Old Style" panose="02050604050505020204" pitchFamily="18" charset="0"/>
              </a:rPr>
              <a:t>for</a:t>
            </a:r>
            <a:r>
              <a:rPr lang="ru-RU" sz="2400" dirty="0">
                <a:latin typeface="Bookman Old Style" panose="02050604050505020204" pitchFamily="18" charset="0"/>
              </a:rPr>
              <a:t> — не важно, можно взять любую из них.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60029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AB4488-D912-4AAA-A613-2985EDFB547D}"/>
              </a:ext>
            </a:extLst>
          </p:cNvPr>
          <p:cNvSpPr txBox="1"/>
          <p:nvPr/>
        </p:nvSpPr>
        <p:spPr>
          <a:xfrm>
            <a:off x="0" y="660143"/>
            <a:ext cx="12191999" cy="5015668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Отбрасываем константы</a:t>
            </a:r>
            <a:r>
              <a:rPr lang="ru-RU" sz="2400" b="1" dirty="0" smtClean="0">
                <a:latin typeface="Bookman Old Style" panose="02050604050505020204" pitchFamily="18" charset="0"/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en-US" sz="2400" dirty="0" smtClean="0">
                <a:latin typeface="Bookman Old Style" panose="02050604050505020204" pitchFamily="18" charset="0"/>
              </a:rPr>
              <a:t>O(2n), O(50n</a:t>
            </a:r>
            <a:r>
              <a:rPr lang="en-US" sz="2400" dirty="0">
                <a:latin typeface="Bookman Old Style" panose="02050604050505020204" pitchFamily="18" charset="0"/>
              </a:rPr>
              <a:t>), </a:t>
            </a:r>
            <a:r>
              <a:rPr lang="en-US" sz="2400" dirty="0" smtClean="0">
                <a:latin typeface="Bookman Old Style" panose="02050604050505020204" pitchFamily="18" charset="0"/>
              </a:rPr>
              <a:t>O(n/2) – </a:t>
            </a:r>
            <a:r>
              <a:rPr lang="ru-RU" sz="2400" dirty="0" smtClean="0">
                <a:latin typeface="Bookman Old Style" panose="02050604050505020204" pitchFamily="18" charset="0"/>
              </a:rPr>
              <a:t>это все </a:t>
            </a:r>
            <a:r>
              <a:rPr lang="en-US" sz="2400" dirty="0" smtClean="0">
                <a:latin typeface="Bookman Old Style" panose="02050604050505020204" pitchFamily="18" charset="0"/>
              </a:rPr>
              <a:t>O(n</a:t>
            </a:r>
            <a:r>
              <a:rPr lang="en-US" sz="2400" dirty="0">
                <a:latin typeface="Bookman Old Style" panose="02050604050505020204" pitchFamily="18" charset="0"/>
              </a:rPr>
              <a:t>)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endParaRPr lang="en-US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endParaRPr lang="en-US" sz="2400" b="1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Оставляем только старшую степень</a:t>
            </a:r>
            <a:r>
              <a:rPr lang="ru-RU" sz="2400" b="1" dirty="0" smtClean="0">
                <a:latin typeface="Bookman Old Style" panose="02050604050505020204" pitchFamily="18" charset="0"/>
              </a:rPr>
              <a:t>:</a:t>
            </a:r>
            <a:endParaRPr lang="en-US" sz="2400" b="1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400" dirty="0" smtClean="0">
                <a:latin typeface="Bookman Old Style" panose="02050604050505020204" pitchFamily="18" charset="0"/>
              </a:rPr>
              <a:t>O(n²</a:t>
            </a:r>
            <a:r>
              <a:rPr lang="ru-RU" sz="2400" dirty="0" smtClean="0">
                <a:latin typeface="Bookman Old Style" panose="02050604050505020204" pitchFamily="18" charset="0"/>
              </a:rPr>
              <a:t> + 100</a:t>
            </a:r>
            <a:r>
              <a:rPr lang="en-US" sz="2400" dirty="0" smtClean="0">
                <a:latin typeface="Bookman Old Style" panose="02050604050505020204" pitchFamily="18" charset="0"/>
              </a:rPr>
              <a:t>n + 500) </a:t>
            </a:r>
            <a:r>
              <a:rPr lang="en-US" sz="2400" dirty="0">
                <a:latin typeface="Bookman Old Style" panose="02050604050505020204" pitchFamily="18" charset="0"/>
              </a:rPr>
              <a:t>– </a:t>
            </a:r>
            <a:r>
              <a:rPr lang="ru-RU" sz="2400" dirty="0">
                <a:latin typeface="Bookman Old Style" panose="02050604050505020204" pitchFamily="18" charset="0"/>
              </a:rPr>
              <a:t>это </a:t>
            </a:r>
            <a:r>
              <a:rPr lang="en-US" sz="2400" dirty="0">
                <a:latin typeface="Bookman Old Style" panose="02050604050505020204" pitchFamily="18" charset="0"/>
              </a:rPr>
              <a:t>O(n²) </a:t>
            </a:r>
          </a:p>
          <a:p>
            <a:pPr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Худший случай: </a:t>
            </a:r>
            <a:r>
              <a:rPr lang="ru-RU" sz="2400" dirty="0">
                <a:latin typeface="Bookman Old Style" panose="02050604050505020204" pitchFamily="18" charset="0"/>
              </a:rPr>
              <a:t>Мы всегда считаем сложность для самого плохого варианта (например, ищем число, которое стоит в самом конце массива).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  <p:sp>
        <p:nvSpPr>
          <p:cNvPr id="4" name="Rectangle 28" descr="Светлый диагональный 2">
            <a:extLst>
              <a:ext uri="{FF2B5EF4-FFF2-40B4-BE49-F238E27FC236}">
                <a16:creationId xmlns:a16="http://schemas.microsoft.com/office/drawing/2014/main" id="{BB3DD146-65A3-48E1-9F24-69A934AA06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Правила </a:t>
            </a: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записи </a:t>
            </a: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Big O</a:t>
            </a:r>
          </a:p>
        </p:txBody>
      </p:sp>
    </p:spTree>
    <p:extLst>
      <p:ext uri="{BB962C8B-B14F-4D97-AF65-F5344CB8AC3E}">
        <p14:creationId xmlns:p14="http://schemas.microsoft.com/office/powerpoint/2010/main" val="21059298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AB4488-D912-4AAA-A613-2985EDFB547D}"/>
              </a:ext>
            </a:extLst>
          </p:cNvPr>
          <p:cNvSpPr txBox="1"/>
          <p:nvPr/>
        </p:nvSpPr>
        <p:spPr>
          <a:xfrm>
            <a:off x="0" y="0"/>
            <a:ext cx="12191999" cy="580672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Основные уровни сложности</a:t>
            </a:r>
            <a:r>
              <a:rPr lang="ru-RU" sz="2400" b="1" dirty="0" smtClean="0">
                <a:latin typeface="Bookman Old Style" panose="02050604050505020204" pitchFamily="18" charset="0"/>
              </a:rPr>
              <a:t>: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9454460"/>
              </p:ext>
            </p:extLst>
          </p:nvPr>
        </p:nvGraphicFramePr>
        <p:xfrm>
          <a:off x="838199" y="1071543"/>
          <a:ext cx="10515600" cy="4709160"/>
        </p:xfrm>
        <a:graphic>
          <a:graphicData uri="http://schemas.openxmlformats.org/drawingml/2006/table">
            <a:tbl>
              <a:tblPr/>
              <a:tblGrid>
                <a:gridCol w="2471058">
                  <a:extLst>
                    <a:ext uri="{9D8B030D-6E8A-4147-A177-3AD203B41FA5}">
                      <a16:colId xmlns:a16="http://schemas.microsoft.com/office/drawing/2014/main" val="3932266839"/>
                    </a:ext>
                  </a:extLst>
                </a:gridCol>
                <a:gridCol w="3439886">
                  <a:extLst>
                    <a:ext uri="{9D8B030D-6E8A-4147-A177-3AD203B41FA5}">
                      <a16:colId xmlns:a16="http://schemas.microsoft.com/office/drawing/2014/main" val="1373790570"/>
                    </a:ext>
                  </a:extLst>
                </a:gridCol>
                <a:gridCol w="4604656">
                  <a:extLst>
                    <a:ext uri="{9D8B030D-6E8A-4147-A177-3AD203B41FA5}">
                      <a16:colId xmlns:a16="http://schemas.microsoft.com/office/drawing/2014/main" val="35921879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ru-RU" sz="2400" b="1" dirty="0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Сложность</a:t>
                      </a:r>
                    </a:p>
                  </a:txBody>
                  <a:tcPr marL="114300" marR="1143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b="1" dirty="0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Название</a:t>
                      </a:r>
                    </a:p>
                  </a:txBody>
                  <a:tcPr marL="114300" marR="1143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b="1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Пример</a:t>
                      </a:r>
                    </a:p>
                  </a:txBody>
                  <a:tcPr marL="114300" marR="1143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58411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400" b="1" i="1" dirty="0" smtClean="0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O</a:t>
                      </a:r>
                      <a:r>
                        <a:rPr lang="en-US" sz="2400" b="1" dirty="0" smtClean="0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(1</a:t>
                      </a:r>
                      <a:r>
                        <a:rPr lang="en-US" sz="2400" b="1" dirty="0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)</a:t>
                      </a:r>
                      <a:endParaRPr lang="en-US" sz="2400" b="0" dirty="0">
                        <a:solidFill>
                          <a:srgbClr val="1C1C1D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114300" marR="1143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b="0" dirty="0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Константная</a:t>
                      </a:r>
                    </a:p>
                  </a:txBody>
                  <a:tcPr marL="114300" marR="1143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b="0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Доступ к элементу массива по индексу</a:t>
                      </a:r>
                    </a:p>
                  </a:txBody>
                  <a:tcPr marL="114300" marR="1143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81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400" b="1" i="1" dirty="0" smtClean="0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O</a:t>
                      </a:r>
                      <a:r>
                        <a:rPr lang="en-US" sz="2400" b="1" dirty="0" smtClean="0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(</a:t>
                      </a:r>
                      <a:r>
                        <a:rPr lang="en-US" sz="2400" b="1" dirty="0" err="1" smtClean="0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log</a:t>
                      </a:r>
                      <a:r>
                        <a:rPr lang="en-US" sz="2400" b="1" i="1" dirty="0" err="1" smtClean="0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n</a:t>
                      </a:r>
                      <a:r>
                        <a:rPr lang="en-US" sz="2400" b="1" dirty="0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)</a:t>
                      </a:r>
                      <a:endParaRPr lang="en-US" sz="2400" b="0" dirty="0">
                        <a:solidFill>
                          <a:srgbClr val="1C1C1D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114300" marR="1143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b="0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Логарифмическая</a:t>
                      </a:r>
                    </a:p>
                  </a:txBody>
                  <a:tcPr marL="114300" marR="1143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b="0" dirty="0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Бинарный поиск (в следующей лекции!)</a:t>
                      </a:r>
                    </a:p>
                  </a:txBody>
                  <a:tcPr marL="114300" marR="1143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00927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400" b="1" i="1" dirty="0" smtClean="0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O</a:t>
                      </a:r>
                      <a:r>
                        <a:rPr lang="en-US" sz="2400" b="1" dirty="0" smtClean="0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(</a:t>
                      </a:r>
                      <a:r>
                        <a:rPr lang="en-US" sz="2400" b="1" i="1" dirty="0" smtClean="0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n</a:t>
                      </a:r>
                      <a:r>
                        <a:rPr lang="en-US" sz="2400" b="1" dirty="0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)</a:t>
                      </a:r>
                      <a:endParaRPr lang="en-US" sz="2400" b="0" dirty="0">
                        <a:solidFill>
                          <a:srgbClr val="1C1C1D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114300" marR="1143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b="0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Линейная</a:t>
                      </a:r>
                    </a:p>
                  </a:txBody>
                  <a:tcPr marL="114300" marR="1143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b="0" dirty="0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Один цикл (поиск в обычном массиве)</a:t>
                      </a:r>
                    </a:p>
                  </a:txBody>
                  <a:tcPr marL="114300" marR="1143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3251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400" b="1" i="1" dirty="0" smtClean="0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O</a:t>
                      </a:r>
                      <a:r>
                        <a:rPr lang="en-US" sz="2400" b="1" dirty="0" smtClean="0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(</a:t>
                      </a:r>
                      <a:r>
                        <a:rPr lang="en-US" sz="2400" b="1" i="1" dirty="0" err="1" smtClean="0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n</a:t>
                      </a:r>
                      <a:r>
                        <a:rPr lang="en-US" sz="2400" b="1" dirty="0" err="1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⋅log</a:t>
                      </a:r>
                      <a:r>
                        <a:rPr lang="en-US" sz="2400" b="1" i="1" dirty="0" err="1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n</a:t>
                      </a:r>
                      <a:r>
                        <a:rPr lang="en-US" sz="2400" b="1" dirty="0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)</a:t>
                      </a:r>
                      <a:endParaRPr lang="en-US" sz="2400" b="0" dirty="0">
                        <a:solidFill>
                          <a:srgbClr val="1C1C1D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114300" marR="1143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b="0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Линейно-логарифмическая</a:t>
                      </a:r>
                    </a:p>
                  </a:txBody>
                  <a:tcPr marL="114300" marR="1143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b="0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Быстрая сортировка (</a:t>
                      </a:r>
                      <a:r>
                        <a:rPr lang="en-US" sz="2400" b="0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Array.Sort)</a:t>
                      </a:r>
                    </a:p>
                  </a:txBody>
                  <a:tcPr marL="114300" marR="1143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618910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400" b="1" i="1" dirty="0" smtClean="0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O</a:t>
                      </a:r>
                      <a:r>
                        <a:rPr lang="en-US" sz="2400" b="1" dirty="0" smtClean="0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(</a:t>
                      </a:r>
                      <a:r>
                        <a:rPr lang="en-US" sz="2400" b="1" i="1" dirty="0" smtClean="0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n</a:t>
                      </a:r>
                      <a:r>
                        <a:rPr lang="en-US" sz="2400" dirty="0" smtClean="0">
                          <a:latin typeface="Bookman Old Style" panose="02050604050505020204" pitchFamily="18" charset="0"/>
                        </a:rPr>
                        <a:t>²</a:t>
                      </a:r>
                      <a:r>
                        <a:rPr lang="en-US" sz="2400" b="1" dirty="0" smtClean="0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)</a:t>
                      </a:r>
                      <a:endParaRPr lang="en-US" sz="2400" b="0" dirty="0">
                        <a:solidFill>
                          <a:srgbClr val="1C1C1D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114300" marR="1143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b="0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Квадратичная</a:t>
                      </a:r>
                    </a:p>
                  </a:txBody>
                  <a:tcPr marL="114300" marR="1143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b="0" dirty="0">
                          <a:solidFill>
                            <a:srgbClr val="1C1C1D"/>
                          </a:solidFill>
                          <a:effectLst/>
                          <a:latin typeface="Bookman Old Style" panose="02050604050505020204" pitchFamily="18" charset="0"/>
                        </a:rPr>
                        <a:t>Два вложенных цикла (Сортировка пузырьком)</a:t>
                      </a:r>
                    </a:p>
                  </a:txBody>
                  <a:tcPr marL="114300" marR="1143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26783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07026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AB4488-D912-4AAA-A613-2985EDFB547D}"/>
              </a:ext>
            </a:extLst>
          </p:cNvPr>
          <p:cNvSpPr txBox="1"/>
          <p:nvPr/>
        </p:nvSpPr>
        <p:spPr>
          <a:xfrm>
            <a:off x="0" y="660143"/>
            <a:ext cx="12191999" cy="4524315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i="0" dirty="0" smtClean="0">
                <a:effectLst/>
                <a:latin typeface="Bookman Old Style" panose="02050604050505020204" pitchFamily="18" charset="0"/>
              </a:rPr>
              <a:t>Какая оценка сложности данного алгоритма?</a:t>
            </a:r>
            <a:endParaRPr lang="en-US" sz="2400" i="0" dirty="0" smtClean="0">
              <a:effectLst/>
              <a:latin typeface="Bookman Old Style" panose="02050604050505020204" pitchFamily="18" charset="0"/>
            </a:endParaRPr>
          </a:p>
          <a:p>
            <a:pPr algn="just"/>
            <a:endParaRPr lang="en-US" sz="2400" dirty="0">
              <a:solidFill>
                <a:srgbClr val="212121"/>
              </a:solidFill>
              <a:latin typeface="Bookman Old Style" panose="02050604050505020204" pitchFamily="18" charset="0"/>
            </a:endParaRPr>
          </a:p>
          <a:p>
            <a:pPr algn="just"/>
            <a:endParaRPr lang="en-US" sz="2400" i="0" dirty="0" smtClean="0">
              <a:solidFill>
                <a:srgbClr val="212121"/>
              </a:solidFill>
              <a:effectLst/>
              <a:latin typeface="Bookman Old Style" panose="02050604050505020204" pitchFamily="18" charset="0"/>
            </a:endParaRPr>
          </a:p>
          <a:p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n = </a:t>
            </a:r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.Parse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Console.ReadLine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());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sum = 0.0;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nn-NO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for</a:t>
            </a:r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nn-NO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i = 0; i &lt; n; i++)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sum += n;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(sum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en-US" sz="2400" dirty="0" smtClean="0"/>
          </a:p>
        </p:txBody>
      </p:sp>
    </p:spTree>
    <p:extLst>
      <p:ext uri="{BB962C8B-B14F-4D97-AF65-F5344CB8AC3E}">
        <p14:creationId xmlns:p14="http://schemas.microsoft.com/office/powerpoint/2010/main" val="36323741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AB4488-D912-4AAA-A613-2985EDFB547D}"/>
              </a:ext>
            </a:extLst>
          </p:cNvPr>
          <p:cNvSpPr txBox="1"/>
          <p:nvPr/>
        </p:nvSpPr>
        <p:spPr>
          <a:xfrm>
            <a:off x="0" y="703685"/>
            <a:ext cx="12192000" cy="4524315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r>
              <a:rPr lang="ru-RU" sz="2400" dirty="0">
                <a:latin typeface="Bookman Old Style" panose="02050604050505020204" pitchFamily="18" charset="0"/>
              </a:rPr>
              <a:t>Какая оценка сложности данного алгоритма?</a:t>
            </a:r>
            <a:endParaRPr lang="en-US" sz="2400" dirty="0">
              <a:latin typeface="Bookman Old Style" panose="02050604050505020204" pitchFamily="18" charset="0"/>
            </a:endParaRPr>
          </a:p>
          <a:p>
            <a:endParaRPr lang="ru-RU" sz="2400" dirty="0" smtClean="0">
              <a:solidFill>
                <a:srgbClr val="0000FF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n = </a:t>
            </a:r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.Parse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Console.ReadLine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sum = 0.0;</a:t>
            </a:r>
          </a:p>
          <a:p>
            <a:endParaRPr lang="nn-NO" sz="2400" dirty="0">
              <a:solidFill>
                <a:srgbClr val="0000FF"/>
              </a:solidFill>
              <a:latin typeface="Cascadia Mono" panose="020B0609020000020004" pitchFamily="49" charset="0"/>
            </a:endParaRPr>
          </a:p>
          <a:p>
            <a:r>
              <a:rPr lang="nn-NO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for</a:t>
            </a:r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nn-NO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i = 0; i &lt; n; i++)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	for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j = 0; j &lt; n; j++)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	sum += n;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90190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AB4488-D912-4AAA-A613-2985EDFB547D}"/>
              </a:ext>
            </a:extLst>
          </p:cNvPr>
          <p:cNvSpPr txBox="1"/>
          <p:nvPr/>
        </p:nvSpPr>
        <p:spPr>
          <a:xfrm>
            <a:off x="0" y="703685"/>
            <a:ext cx="12192000" cy="4460324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Какая оценка сложности данного </a:t>
            </a:r>
            <a:r>
              <a:rPr lang="ru-RU" sz="2400" dirty="0" smtClean="0">
                <a:latin typeface="Bookman Old Style" panose="02050604050505020204" pitchFamily="18" charset="0"/>
              </a:rPr>
              <a:t>алгоритма</a:t>
            </a:r>
            <a:r>
              <a:rPr lang="en-US" sz="2400" dirty="0" smtClean="0">
                <a:latin typeface="Bookman Old Style" panose="02050604050505020204" pitchFamily="18" charset="0"/>
              </a:rPr>
              <a:t> (</a:t>
            </a:r>
            <a:r>
              <a:rPr lang="ru-RU" sz="2400" dirty="0" smtClean="0">
                <a:latin typeface="Bookman Old Style" panose="02050604050505020204" pitchFamily="18" charset="0"/>
              </a:rPr>
              <a:t>добавление нового элемента</a:t>
            </a:r>
            <a:r>
              <a:rPr lang="en-US" sz="2400" dirty="0" smtClean="0">
                <a:latin typeface="Bookman Old Style" panose="02050604050505020204" pitchFamily="18" charset="0"/>
              </a:rPr>
              <a:t>)</a:t>
            </a:r>
            <a:r>
              <a:rPr lang="ru-RU" sz="2400" dirty="0" smtClean="0">
                <a:latin typeface="Bookman Old Style" panose="02050604050505020204" pitchFamily="18" charset="0"/>
              </a:rPr>
              <a:t>?</a:t>
            </a:r>
            <a:endParaRPr lang="en-US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 { 1, 2, 3, 4 };</a:t>
            </a:r>
          </a:p>
          <a:p>
            <a:pPr>
              <a:lnSpc>
                <a:spcPct val="150000"/>
              </a:lnSpc>
            </a:pP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>
              <a:lnSpc>
                <a:spcPct val="150000"/>
              </a:lnSpc>
            </a:pP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В памяти это выглядит так: [ 1 | 2 | 3 | 4 ]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Add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(5);</a:t>
            </a:r>
          </a:p>
        </p:txBody>
      </p:sp>
    </p:spTree>
    <p:extLst>
      <p:ext uri="{BB962C8B-B14F-4D97-AF65-F5344CB8AC3E}">
        <p14:creationId xmlns:p14="http://schemas.microsoft.com/office/powerpoint/2010/main" val="16696825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AB4488-D912-4AAA-A613-2985EDFB547D}"/>
              </a:ext>
            </a:extLst>
          </p:cNvPr>
          <p:cNvSpPr txBox="1"/>
          <p:nvPr/>
        </p:nvSpPr>
        <p:spPr>
          <a:xfrm>
            <a:off x="0" y="456942"/>
            <a:ext cx="12192000" cy="5570884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Визуализация:</a:t>
            </a:r>
            <a:endParaRPr lang="en-US" sz="2400" b="1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endParaRPr lang="ru-RU" sz="2400" b="1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Шаг 1 (Места нет):</a:t>
            </a:r>
            <a:r>
              <a:rPr lang="ru-RU" sz="2400" dirty="0">
                <a:latin typeface="Bookman Old Style" panose="02050604050505020204" pitchFamily="18" charset="0"/>
              </a:rPr>
              <a:t/>
            </a:r>
            <a:br>
              <a:rPr lang="ru-RU" sz="2400" dirty="0">
                <a:latin typeface="Bookman Old Style" panose="02050604050505020204" pitchFamily="18" charset="0"/>
              </a:rPr>
            </a:br>
            <a:r>
              <a:rPr lang="ru-RU" sz="2400" dirty="0">
                <a:latin typeface="Bookman Old Style" panose="02050604050505020204" pitchFamily="18" charset="0"/>
              </a:rPr>
              <a:t>[ 1 ][ 2 ][ 3 ][ 4 ] — </a:t>
            </a:r>
            <a:r>
              <a:rPr lang="ru-RU" sz="2400" i="1" dirty="0" err="1">
                <a:latin typeface="Bookman Old Style" panose="02050604050505020204" pitchFamily="18" charset="0"/>
              </a:rPr>
              <a:t>Full</a:t>
            </a:r>
            <a:r>
              <a:rPr lang="ru-RU" sz="2400" i="1" dirty="0">
                <a:latin typeface="Bookman Old Style" panose="02050604050505020204" pitchFamily="18" charset="0"/>
              </a:rPr>
              <a:t>!</a:t>
            </a: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Шаг 2 (Создание нового):</a:t>
            </a:r>
            <a:r>
              <a:rPr lang="ru-RU" sz="2400" dirty="0">
                <a:latin typeface="Bookman Old Style" panose="02050604050505020204" pitchFamily="18" charset="0"/>
              </a:rPr>
              <a:t/>
            </a:r>
            <a:br>
              <a:rPr lang="ru-RU" sz="2400" dirty="0">
                <a:latin typeface="Bookman Old Style" panose="02050604050505020204" pitchFamily="18" charset="0"/>
              </a:rPr>
            </a:br>
            <a:r>
              <a:rPr lang="ru-RU" sz="2400" dirty="0" smtClean="0">
                <a:latin typeface="Bookman Old Style" panose="02050604050505020204" pitchFamily="18" charset="0"/>
              </a:rPr>
              <a:t>[    ][    ][    ][    ][    </a:t>
            </a:r>
            <a:r>
              <a:rPr lang="ru-RU" sz="2400" dirty="0">
                <a:latin typeface="Bookman Old Style" panose="02050604050505020204" pitchFamily="18" charset="0"/>
              </a:rPr>
              <a:t>][ </a:t>
            </a:r>
            <a:r>
              <a:rPr lang="ru-RU" sz="2400" dirty="0" smtClean="0">
                <a:latin typeface="Bookman Old Style" panose="02050604050505020204" pitchFamily="18" charset="0"/>
              </a:rPr>
              <a:t>   ][    ][    ]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solidFill>
                  <a:srgbClr val="1C1C1D"/>
                </a:solidFill>
                <a:latin typeface="Bookman Old Style" panose="02050604050505020204" pitchFamily="18" charset="0"/>
              </a:rPr>
              <a:t>Шаг 3 (Копирование - вот тут </a:t>
            </a:r>
            <a:r>
              <a:rPr lang="ru-RU" sz="2400" b="1" dirty="0" smtClean="0">
                <a:solidFill>
                  <a:srgbClr val="1C1C1D"/>
                </a:solidFill>
                <a:latin typeface="Bookman Old Style" panose="02050604050505020204" pitchFamily="18" charset="0"/>
              </a:rPr>
              <a:t>прячется </a:t>
            </a:r>
            <a:r>
              <a:rPr lang="en-US" sz="2400" b="1" dirty="0" smtClean="0">
                <a:solidFill>
                  <a:srgbClr val="1C1C1D"/>
                </a:solidFill>
                <a:latin typeface="Bookman Old Style" panose="02050604050505020204" pitchFamily="18" charset="0"/>
              </a:rPr>
              <a:t>O(n)</a:t>
            </a:r>
            <a:r>
              <a:rPr lang="ru-RU" sz="2400" b="1" dirty="0" smtClean="0">
                <a:solidFill>
                  <a:srgbClr val="1C1C1D"/>
                </a:solidFill>
                <a:latin typeface="Bookman Old Style" panose="02050604050505020204" pitchFamily="18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ru-RU" sz="2400" dirty="0">
                <a:solidFill>
                  <a:srgbClr val="1C1C1D"/>
                </a:solidFill>
                <a:latin typeface="Bookman Old Style" panose="02050604050505020204" pitchFamily="18" charset="0"/>
              </a:rPr>
              <a:t>[ 1 ][ 2 ][ 3 ][ 4 </a:t>
            </a:r>
            <a:r>
              <a:rPr lang="ru-RU" sz="2400" dirty="0" smtClean="0">
                <a:solidFill>
                  <a:srgbClr val="1C1C1D"/>
                </a:solidFill>
                <a:latin typeface="Bookman Old Style" panose="02050604050505020204" pitchFamily="18" charset="0"/>
              </a:rPr>
              <a:t>][</a:t>
            </a:r>
            <a:r>
              <a:rPr lang="en-US" sz="2400" dirty="0" smtClean="0">
                <a:solidFill>
                  <a:srgbClr val="1C1C1D"/>
                </a:solidFill>
                <a:latin typeface="Bookman Old Style" panose="02050604050505020204" pitchFamily="18" charset="0"/>
              </a:rPr>
              <a:t>   </a:t>
            </a:r>
            <a:r>
              <a:rPr lang="ru-RU" sz="2400" dirty="0" smtClean="0">
                <a:solidFill>
                  <a:srgbClr val="1C1C1D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>
                <a:solidFill>
                  <a:srgbClr val="1C1C1D"/>
                </a:solidFill>
                <a:latin typeface="Bookman Old Style" panose="02050604050505020204" pitchFamily="18" charset="0"/>
              </a:rPr>
              <a:t>][ </a:t>
            </a:r>
            <a:r>
              <a:rPr lang="en-US" sz="2400" dirty="0" smtClean="0">
                <a:solidFill>
                  <a:srgbClr val="1C1C1D"/>
                </a:solidFill>
                <a:latin typeface="Bookman Old Style" panose="02050604050505020204" pitchFamily="18" charset="0"/>
              </a:rPr>
              <a:t>   </a:t>
            </a:r>
            <a:r>
              <a:rPr lang="ru-RU" sz="2400" dirty="0" smtClean="0">
                <a:solidFill>
                  <a:srgbClr val="1C1C1D"/>
                </a:solidFill>
                <a:latin typeface="Bookman Old Style" panose="02050604050505020204" pitchFamily="18" charset="0"/>
              </a:rPr>
              <a:t>][</a:t>
            </a:r>
            <a:r>
              <a:rPr lang="en-US" sz="2400" dirty="0" smtClean="0">
                <a:solidFill>
                  <a:srgbClr val="1C1C1D"/>
                </a:solidFill>
                <a:latin typeface="Bookman Old Style" panose="02050604050505020204" pitchFamily="18" charset="0"/>
              </a:rPr>
              <a:t>   </a:t>
            </a:r>
            <a:r>
              <a:rPr lang="ru-RU" sz="2400" dirty="0" smtClean="0">
                <a:solidFill>
                  <a:srgbClr val="1C1C1D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>
                <a:solidFill>
                  <a:srgbClr val="1C1C1D"/>
                </a:solidFill>
                <a:latin typeface="Bookman Old Style" panose="02050604050505020204" pitchFamily="18" charset="0"/>
              </a:rPr>
              <a:t>][ </a:t>
            </a:r>
            <a:r>
              <a:rPr lang="en-US" sz="2400" dirty="0" smtClean="0">
                <a:solidFill>
                  <a:srgbClr val="1C1C1D"/>
                </a:solidFill>
                <a:latin typeface="Bookman Old Style" panose="02050604050505020204" pitchFamily="18" charset="0"/>
              </a:rPr>
              <a:t>   </a:t>
            </a:r>
            <a:r>
              <a:rPr lang="ru-RU" sz="2400" dirty="0" smtClean="0">
                <a:solidFill>
                  <a:srgbClr val="1C1C1D"/>
                </a:solidFill>
                <a:latin typeface="Bookman Old Style" panose="02050604050505020204" pitchFamily="18" charset="0"/>
              </a:rPr>
              <a:t>]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solidFill>
                  <a:srgbClr val="1C1C1D"/>
                </a:solidFill>
                <a:latin typeface="Bookman Old Style" panose="02050604050505020204" pitchFamily="18" charset="0"/>
              </a:rPr>
              <a:t>Шаг 4 (Наконец-то добавили):</a:t>
            </a:r>
            <a:r>
              <a:rPr lang="ru-RU" sz="2400" dirty="0">
                <a:latin typeface="Bookman Old Style" panose="02050604050505020204" pitchFamily="18" charset="0"/>
              </a:rPr>
              <a:t/>
            </a:r>
            <a:br>
              <a:rPr lang="ru-RU" sz="2400" dirty="0">
                <a:latin typeface="Bookman Old Style" panose="02050604050505020204" pitchFamily="18" charset="0"/>
              </a:rPr>
            </a:br>
            <a:r>
              <a:rPr lang="ru-RU" sz="2400" dirty="0">
                <a:solidFill>
                  <a:srgbClr val="1C1C1D"/>
                </a:solidFill>
                <a:latin typeface="Bookman Old Style" panose="02050604050505020204" pitchFamily="18" charset="0"/>
              </a:rPr>
              <a:t>[ 1 ][ 2 ][ 3 ][ 4 ][ 5 </a:t>
            </a:r>
            <a:r>
              <a:rPr lang="ru-RU" sz="2400" dirty="0" smtClean="0">
                <a:solidFill>
                  <a:srgbClr val="1C1C1D"/>
                </a:solidFill>
                <a:latin typeface="Bookman Old Style" panose="02050604050505020204" pitchFamily="18" charset="0"/>
              </a:rPr>
              <a:t>][</a:t>
            </a:r>
            <a:r>
              <a:rPr lang="en-US" sz="2400" dirty="0" smtClean="0">
                <a:solidFill>
                  <a:srgbClr val="1C1C1D"/>
                </a:solidFill>
                <a:latin typeface="Bookman Old Style" panose="02050604050505020204" pitchFamily="18" charset="0"/>
              </a:rPr>
              <a:t>   </a:t>
            </a:r>
            <a:r>
              <a:rPr lang="ru-RU" sz="2400" dirty="0" smtClean="0">
                <a:solidFill>
                  <a:srgbClr val="1C1C1D"/>
                </a:solidFill>
                <a:latin typeface="Bookman Old Style" panose="02050604050505020204" pitchFamily="18" charset="0"/>
              </a:rPr>
              <a:t> ][</a:t>
            </a:r>
            <a:r>
              <a:rPr lang="en-US" sz="2400" dirty="0" smtClean="0">
                <a:solidFill>
                  <a:srgbClr val="1C1C1D"/>
                </a:solidFill>
                <a:latin typeface="Bookman Old Style" panose="02050604050505020204" pitchFamily="18" charset="0"/>
              </a:rPr>
              <a:t>   </a:t>
            </a:r>
            <a:r>
              <a:rPr lang="ru-RU" sz="2400" dirty="0" smtClean="0">
                <a:solidFill>
                  <a:srgbClr val="1C1C1D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>
                <a:solidFill>
                  <a:srgbClr val="1C1C1D"/>
                </a:solidFill>
                <a:latin typeface="Bookman Old Style" panose="02050604050505020204" pitchFamily="18" charset="0"/>
              </a:rPr>
              <a:t>][ </a:t>
            </a:r>
            <a:r>
              <a:rPr lang="en-US" sz="2400" dirty="0" smtClean="0">
                <a:solidFill>
                  <a:srgbClr val="1C1C1D"/>
                </a:solidFill>
                <a:latin typeface="Bookman Old Style" panose="02050604050505020204" pitchFamily="18" charset="0"/>
              </a:rPr>
              <a:t>   </a:t>
            </a:r>
            <a:r>
              <a:rPr lang="ru-RU" sz="2400" dirty="0" smtClean="0">
                <a:solidFill>
                  <a:srgbClr val="1C1C1D"/>
                </a:solidFill>
                <a:latin typeface="Bookman Old Style" panose="02050604050505020204" pitchFamily="18" charset="0"/>
              </a:rPr>
              <a:t>]</a:t>
            </a:r>
            <a:r>
              <a:rPr lang="ru-RU" sz="2400" dirty="0">
                <a:solidFill>
                  <a:srgbClr val="1C1C1D"/>
                </a:solidFill>
                <a:latin typeface="Bookman Old Style" panose="02050604050505020204" pitchFamily="18" charset="0"/>
              </a:rPr>
              <a:t> — </a:t>
            </a:r>
            <a:r>
              <a:rPr lang="ru-RU" sz="2400" i="1" dirty="0">
                <a:solidFill>
                  <a:srgbClr val="1C1C1D"/>
                </a:solidFill>
                <a:latin typeface="Bookman Old Style" panose="02050604050505020204" pitchFamily="18" charset="0"/>
              </a:rPr>
              <a:t>Готово!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15918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F812F1D-119B-4710-A9EA-C5989C91D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062" y="167344"/>
            <a:ext cx="6565127" cy="652331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0E7331F-F70E-4819-A964-4DF6F7DEE568}"/>
              </a:ext>
            </a:extLst>
          </p:cNvPr>
          <p:cNvSpPr txBox="1"/>
          <p:nvPr/>
        </p:nvSpPr>
        <p:spPr>
          <a:xfrm>
            <a:off x="3294349" y="3340293"/>
            <a:ext cx="32580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b="1" i="0" dirty="0">
                <a:solidFill>
                  <a:srgbClr val="212121"/>
                </a:solidFill>
                <a:effectLst/>
                <a:latin typeface="Bookman Old Style" panose="02050604050505020204" pitchFamily="18" charset="0"/>
              </a:rPr>
              <a:t>O(n)</a:t>
            </a:r>
            <a:endParaRPr lang="ru-RU" sz="2400" b="1" i="0" dirty="0">
              <a:solidFill>
                <a:srgbClr val="212121"/>
              </a:solidFill>
              <a:effectLst/>
              <a:latin typeface="Bookman Old Style" panose="020506040505050202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227CD6-7EBF-4172-8EA7-2BDFCEEE8F57}"/>
              </a:ext>
            </a:extLst>
          </p:cNvPr>
          <p:cNvSpPr txBox="1"/>
          <p:nvPr/>
        </p:nvSpPr>
        <p:spPr>
          <a:xfrm>
            <a:off x="3294348" y="4875755"/>
            <a:ext cx="32580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b="1" i="0" dirty="0">
                <a:solidFill>
                  <a:srgbClr val="212121"/>
                </a:solidFill>
                <a:effectLst/>
                <a:latin typeface="Bookman Old Style" panose="02050604050505020204" pitchFamily="18" charset="0"/>
              </a:rPr>
              <a:t>O(log(n))</a:t>
            </a:r>
            <a:endParaRPr lang="ru-RU" sz="2400" b="1" i="0" dirty="0">
              <a:solidFill>
                <a:srgbClr val="212121"/>
              </a:solidFill>
              <a:effectLst/>
              <a:latin typeface="Bookman Old Style" panose="020506040505050202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6EB0EC-E476-4AC6-8D92-DE3F785DB877}"/>
              </a:ext>
            </a:extLst>
          </p:cNvPr>
          <p:cNvSpPr txBox="1"/>
          <p:nvPr/>
        </p:nvSpPr>
        <p:spPr>
          <a:xfrm>
            <a:off x="2403850" y="2116046"/>
            <a:ext cx="32580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b="1" i="0" dirty="0">
                <a:solidFill>
                  <a:srgbClr val="212121"/>
                </a:solidFill>
                <a:effectLst/>
                <a:latin typeface="Bookman Old Style" panose="02050604050505020204" pitchFamily="18" charset="0"/>
              </a:rPr>
              <a:t>O(n*log(n))</a:t>
            </a:r>
            <a:endParaRPr lang="ru-RU" sz="2400" b="1" i="0" dirty="0">
              <a:solidFill>
                <a:srgbClr val="212121"/>
              </a:solidFill>
              <a:effectLst/>
              <a:latin typeface="Bookman Old Style" panose="020506040505050202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F1195E-FE7D-40C0-8FF7-4FC6EFBFFB2C}"/>
              </a:ext>
            </a:extLst>
          </p:cNvPr>
          <p:cNvSpPr txBox="1"/>
          <p:nvPr/>
        </p:nvSpPr>
        <p:spPr>
          <a:xfrm>
            <a:off x="346367" y="4099685"/>
            <a:ext cx="32580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b="1" i="0" dirty="0">
                <a:solidFill>
                  <a:srgbClr val="212121"/>
                </a:solidFill>
                <a:effectLst/>
                <a:latin typeface="Bookman Old Style" panose="02050604050505020204" pitchFamily="18" charset="0"/>
              </a:rPr>
              <a:t>O(n</a:t>
            </a:r>
            <a:r>
              <a:rPr lang="en-US" sz="2400" b="1" i="0" baseline="30000" dirty="0">
                <a:solidFill>
                  <a:srgbClr val="212121"/>
                </a:solidFill>
                <a:effectLst/>
                <a:latin typeface="Bookman Old Style" panose="02050604050505020204" pitchFamily="18" charset="0"/>
              </a:rPr>
              <a:t>2</a:t>
            </a:r>
            <a:r>
              <a:rPr lang="en-US" sz="2400" b="1" i="0" dirty="0">
                <a:solidFill>
                  <a:srgbClr val="212121"/>
                </a:solidFill>
                <a:effectLst/>
                <a:latin typeface="Bookman Old Style" panose="02050604050505020204" pitchFamily="18" charset="0"/>
              </a:rPr>
              <a:t>)</a:t>
            </a:r>
            <a:endParaRPr lang="ru-RU" sz="2400" b="1" i="0" dirty="0">
              <a:solidFill>
                <a:srgbClr val="212121"/>
              </a:solidFill>
              <a:effectLst/>
              <a:latin typeface="Bookman Old Style" panose="020506040505050202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07C1F24-B9EF-4185-9064-DA1FA1308064}"/>
              </a:ext>
            </a:extLst>
          </p:cNvPr>
          <p:cNvSpPr txBox="1"/>
          <p:nvPr/>
        </p:nvSpPr>
        <p:spPr>
          <a:xfrm>
            <a:off x="1557271" y="2949866"/>
            <a:ext cx="32580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b="1" i="0" dirty="0">
                <a:solidFill>
                  <a:srgbClr val="212121"/>
                </a:solidFill>
                <a:effectLst/>
                <a:latin typeface="Bookman Old Style" panose="02050604050505020204" pitchFamily="18" charset="0"/>
              </a:rPr>
              <a:t>O(n!)</a:t>
            </a:r>
            <a:endParaRPr lang="ru-RU" sz="2400" b="1" i="0" dirty="0">
              <a:solidFill>
                <a:srgbClr val="212121"/>
              </a:solidFill>
              <a:effectLst/>
              <a:latin typeface="Bookman Old Style" panose="020506040505050202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3D788B-44BB-4308-92B8-C92939E2C834}"/>
              </a:ext>
            </a:extLst>
          </p:cNvPr>
          <p:cNvSpPr txBox="1"/>
          <p:nvPr/>
        </p:nvSpPr>
        <p:spPr>
          <a:xfrm>
            <a:off x="6771189" y="5419"/>
            <a:ext cx="5420812" cy="3733669"/>
          </a:xfrm>
          <a:prstGeom prst="rect">
            <a:avLst/>
          </a:prstGeom>
          <a:noFill/>
        </p:spPr>
        <p:txBody>
          <a:bodyPr wrap="square" lIns="360000" tIns="360000" rIns="360000">
            <a:spAutoFit/>
          </a:bodyPr>
          <a:lstStyle/>
          <a:p>
            <a:pPr algn="just"/>
            <a:r>
              <a:rPr lang="ru-RU" sz="2400" b="1" dirty="0">
                <a:latin typeface="Bookman Old Style" panose="02050604050505020204" pitchFamily="18" charset="0"/>
              </a:rPr>
              <a:t>Скорость роста </a:t>
            </a:r>
            <a:r>
              <a:rPr lang="ru-RU" sz="2400" dirty="0">
                <a:latin typeface="Bookman Old Style" panose="02050604050505020204" pitchFamily="18" charset="0"/>
              </a:rPr>
              <a:t>наиболее</a:t>
            </a:r>
          </a:p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популярных функций</a:t>
            </a:r>
          </a:p>
          <a:p>
            <a:pPr algn="just"/>
            <a:endParaRPr lang="ru-RU" sz="2400" dirty="0">
              <a:latin typeface="Bookman Old Style" panose="02050604050505020204" pitchFamily="18" charset="0"/>
            </a:endParaRPr>
          </a:p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Важно внимательно подходить к выбору алгоритма, особенно если критично время выполнения расчета.</a:t>
            </a:r>
          </a:p>
          <a:p>
            <a:pPr algn="just"/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40224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3" name="Rectangle 28" descr="Светлый диагональный 2">
            <a:extLst>
              <a:ext uri="{FF2B5EF4-FFF2-40B4-BE49-F238E27FC236}">
                <a16:creationId xmlns:a16="http://schemas.microsoft.com/office/drawing/2014/main" id="{1258AB28-D449-49A9-BC9F-A886C5854F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Проблема поиска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0" y="654356"/>
            <a:ext cx="12192000" cy="2308324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Чтобы </a:t>
            </a:r>
            <a:r>
              <a:rPr lang="ru-RU" sz="2400" dirty="0">
                <a:latin typeface="Bookman Old Style" panose="02050604050505020204" pitchFamily="18" charset="0"/>
              </a:rPr>
              <a:t>найти элемент в </a:t>
            </a:r>
            <a:r>
              <a:rPr lang="ru-RU" sz="2400" dirty="0" err="1">
                <a:latin typeface="Bookman Old Style" panose="02050604050505020204" pitchFamily="18" charset="0"/>
              </a:rPr>
              <a:t>List</a:t>
            </a:r>
            <a:r>
              <a:rPr lang="ru-RU" sz="2400" dirty="0">
                <a:latin typeface="Bookman Old Style" panose="02050604050505020204" pitchFamily="18" charset="0"/>
              </a:rPr>
              <a:t>&lt;T&gt;, компьютер перебирает его с начала до конца.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Если в списке 1 000 000 элементов, поиск может занять 1 000 000 операций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2976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" name="Прямоугольник 1"/>
          <p:cNvSpPr/>
          <p:nvPr/>
        </p:nvSpPr>
        <p:spPr>
          <a:xfrm>
            <a:off x="5124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numbers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 { 10, 25, 3, 44, 12, 5 };</a:t>
            </a:r>
          </a:p>
          <a:p>
            <a:r>
              <a:rPr lang="ru-RU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target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44;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Что мы ищем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foundIndex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-1;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Мы идем по списку шаг за шагом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0;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&lt;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numbers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.Count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++)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Каждая итерация цикла — это 1 операция сравнения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numbers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] ==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target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foundIndex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400" dirty="0" err="1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break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Нашли! Выходим из цикла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r>
              <a:rPr lang="ru-RU" sz="2400" dirty="0" err="1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ru-RU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ru-RU" sz="2400" dirty="0" err="1" smtClean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WriteLine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$"Элемент найден на позиции: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ru-RU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foundIndex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Сложность </a:t>
            </a:r>
            <a:r>
              <a:rPr lang="ru-RU" sz="2400" dirty="0">
                <a:latin typeface="Bookman Old Style" panose="02050604050505020204" pitchFamily="18" charset="0"/>
              </a:rPr>
              <a:t>поиска в списке: </a:t>
            </a:r>
            <a:r>
              <a:rPr lang="ru-RU" sz="2400" dirty="0" smtClean="0">
                <a:latin typeface="Bookman Old Style" panose="02050604050505020204" pitchFamily="18" charset="0"/>
              </a:rPr>
              <a:t>O(n).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9280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" name="Прямоугольник 1"/>
          <p:cNvSpPr/>
          <p:nvPr/>
        </p:nvSpPr>
        <p:spPr>
          <a:xfrm>
            <a:off x="5124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Вопрос: </a:t>
            </a:r>
            <a:r>
              <a:rPr lang="ru-RU" sz="2400" dirty="0">
                <a:latin typeface="Bookman Old Style" panose="02050604050505020204" pitchFamily="18" charset="0"/>
              </a:rPr>
              <a:t>Можно ли найти элемент за O(1), независимо от размера коллекции?</a:t>
            </a: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Ответ: </a:t>
            </a:r>
            <a:r>
              <a:rPr lang="ru-RU" sz="2400" dirty="0">
                <a:latin typeface="Bookman Old Style" panose="02050604050505020204" pitchFamily="18" charset="0"/>
              </a:rPr>
              <a:t>Да, если использовать Хэш-таблицы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Представьте гардероб. Чтобы найти куртку в куче (как в </a:t>
            </a:r>
            <a:r>
              <a:rPr lang="ru-RU" sz="2400" dirty="0" err="1">
                <a:latin typeface="Bookman Old Style" panose="02050604050505020204" pitchFamily="18" charset="0"/>
              </a:rPr>
              <a:t>List</a:t>
            </a:r>
            <a:r>
              <a:rPr lang="ru-RU" sz="2400" dirty="0">
                <a:latin typeface="Bookman Old Style" panose="02050604050505020204" pitchFamily="18" charset="0"/>
              </a:rPr>
              <a:t>), нужно перебрать все куртки.</a:t>
            </a:r>
          </a:p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Но в гардеробе есть </a:t>
            </a:r>
            <a:r>
              <a:rPr lang="ru-RU" sz="2400" b="1" dirty="0">
                <a:latin typeface="Bookman Old Style" panose="02050604050505020204" pitchFamily="18" charset="0"/>
              </a:rPr>
              <a:t>номерки</a:t>
            </a:r>
            <a:r>
              <a:rPr lang="ru-RU" sz="2400" dirty="0">
                <a:latin typeface="Bookman Old Style" panose="02050604050505020204" pitchFamily="18" charset="0"/>
              </a:rPr>
              <a:t>. Вы даете номерок (Ключ) и сразу получаете свою куртку (Значение).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Хэш-функция</a:t>
            </a:r>
            <a:r>
              <a:rPr lang="ru-RU" sz="2400" dirty="0">
                <a:latin typeface="Bookman Old Style" panose="02050604050505020204" pitchFamily="18" charset="0"/>
              </a:rPr>
              <a:t> — это «магия», которая превращает любой объект (строку, число) в уникальный номер ячейки памяти.</a:t>
            </a:r>
          </a:p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Благодаря этому мы не ищем элемент, а </a:t>
            </a:r>
            <a:r>
              <a:rPr lang="ru-RU" sz="2400" b="1" dirty="0">
                <a:latin typeface="Bookman Old Style" panose="02050604050505020204" pitchFamily="18" charset="0"/>
              </a:rPr>
              <a:t>сразу прыгаем в нужную ячейку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1262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3" name="Rectangle 28" descr="Светлый диагональный 2">
            <a:extLst>
              <a:ext uri="{FF2B5EF4-FFF2-40B4-BE49-F238E27FC236}">
                <a16:creationId xmlns:a16="http://schemas.microsoft.com/office/drawing/2014/main" id="{1258AB28-D449-49A9-BC9F-A886C5854F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Словарь (Ключ — Значение)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0" y="654356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Хранит данные парами: </a:t>
            </a:r>
            <a:r>
              <a:rPr lang="ru-RU" sz="2400" dirty="0">
                <a:latin typeface="Bookman Old Style" panose="02050604050505020204" pitchFamily="18" charset="0"/>
              </a:rPr>
              <a:t>уникальный Ключ и привязанное к нему Значение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Ключ - ФИО (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), Значение - возраст (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ages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Dictionary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&gt;();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ages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Add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Иван"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20);</a:t>
            </a:r>
          </a:p>
          <a:p>
            <a:r>
              <a:rPr lang="ru-RU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ages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"Петр"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] = 21;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Удобная запись через </a:t>
            </a:r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скобки</a:t>
            </a:r>
            <a:endParaRPr lang="en-US" sz="2400" dirty="0" smtClean="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2400" dirty="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Особенности:</a:t>
            </a:r>
          </a:p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Поиск по ключу работает мгновенно: </a:t>
            </a:r>
            <a:r>
              <a:rPr lang="ru-RU" sz="2400" dirty="0" smtClean="0">
                <a:latin typeface="Bookman Old Style" panose="02050604050505020204" pitchFamily="18" charset="0"/>
              </a:rPr>
              <a:t>O(1).</a:t>
            </a: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Ключи не могут повторяться.</a:t>
            </a:r>
          </a:p>
        </p:txBody>
      </p:sp>
    </p:spTree>
    <p:extLst>
      <p:ext uri="{BB962C8B-B14F-4D97-AF65-F5344CB8AC3E}">
        <p14:creationId xmlns:p14="http://schemas.microsoft.com/office/powerpoint/2010/main" val="33005150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" name="Прямоугольник 1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 отличие от списка, в словаре мы работаем не с индексами (0, 1, 2...), а с уникальными ключами.</a:t>
            </a: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Если попытаться достать значение по ключу, которого нет в словаре, программа «упадет» с ошибкой. Чтобы этого избежать, используем метод </a:t>
            </a:r>
            <a:r>
              <a:rPr lang="ru-RU" sz="2400" dirty="0" err="1">
                <a:latin typeface="Bookman Old Style" panose="02050604050505020204" pitchFamily="18" charset="0"/>
              </a:rPr>
              <a:t>ContainsKey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  <a:p>
            <a:endParaRPr lang="ru-RU" sz="2400" dirty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ages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ContainsKey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Иван"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Возраст Ивана: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ages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Иван"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]}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r>
              <a:rPr lang="en-US" sz="2400" dirty="0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else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Такого ключа нет!"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24128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" name="Прямоугольник 1"/>
          <p:cNvSpPr/>
          <p:nvPr/>
        </p:nvSpPr>
        <p:spPr>
          <a:xfrm>
            <a:off x="0" y="0"/>
            <a:ext cx="12192000" cy="581697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Удаление в словаре происходит мгновенно по ключу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ages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ru-RU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Remove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"Иван"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Удаляет и ключ, и </a:t>
            </a:r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значение</a:t>
            </a:r>
          </a:p>
          <a:p>
            <a:pPr algn="just">
              <a:lnSpc>
                <a:spcPct val="150000"/>
              </a:lnSpc>
            </a:pPr>
            <a:endParaRPr lang="ru-RU" sz="2400" dirty="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При переборе словаря мы получаем объект «Пара» (</a:t>
            </a:r>
            <a:r>
              <a:rPr lang="ru-RU" sz="2400" dirty="0" err="1">
                <a:latin typeface="Bookman Old Style" panose="02050604050505020204" pitchFamily="18" charset="0"/>
              </a:rPr>
              <a:t>KeyValuePair</a:t>
            </a:r>
            <a:r>
              <a:rPr lang="ru-RU" sz="2400" dirty="0">
                <a:latin typeface="Bookman Old Style" panose="02050604050505020204" pitchFamily="18" charset="0"/>
              </a:rPr>
              <a:t>), у которого есть свойства </a:t>
            </a:r>
            <a:r>
              <a:rPr lang="ru-RU" sz="2400" dirty="0" err="1">
                <a:latin typeface="Bookman Old Style" panose="02050604050505020204" pitchFamily="18" charset="0"/>
              </a:rPr>
              <a:t>Key</a:t>
            </a:r>
            <a:r>
              <a:rPr lang="ru-RU" sz="2400" dirty="0">
                <a:latin typeface="Bookman Old Style" panose="02050604050505020204" pitchFamily="18" charset="0"/>
              </a:rPr>
              <a:t> и </a:t>
            </a:r>
            <a:r>
              <a:rPr lang="ru-RU" sz="2400" dirty="0" err="1">
                <a:latin typeface="Bookman Old Style" panose="02050604050505020204" pitchFamily="18" charset="0"/>
              </a:rPr>
              <a:t>Value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r>
              <a:rPr lang="en-US" sz="2400" dirty="0" err="1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foreach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pair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ages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pair.Key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— это имя, 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pair.Value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— это возраст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pair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.Key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— 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pair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.Value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лет"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48653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" name="Прямоугольник 1"/>
          <p:cNvSpPr/>
          <p:nvPr/>
        </p:nvSpPr>
        <p:spPr>
          <a:xfrm>
            <a:off x="0" y="0"/>
            <a:ext cx="12192000" cy="397031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1C1C1D"/>
                </a:solidFill>
                <a:latin typeface="Bookman Old Style" panose="02050604050505020204" pitchFamily="18" charset="0"/>
              </a:rPr>
              <a:t>В современных версиях C# не обязательно писать </a:t>
            </a:r>
            <a:r>
              <a:rPr lang="ru-RU" sz="2400" dirty="0" err="1">
                <a:solidFill>
                  <a:srgbClr val="1C1C1D"/>
                </a:solidFill>
                <a:latin typeface="Bookman Old Style" panose="02050604050505020204" pitchFamily="18" charset="0"/>
              </a:rPr>
              <a:t>pair.Key</a:t>
            </a:r>
            <a:r>
              <a:rPr lang="ru-RU" sz="2400" dirty="0">
                <a:solidFill>
                  <a:srgbClr val="1C1C1D"/>
                </a:solidFill>
                <a:latin typeface="Bookman Old Style" panose="02050604050505020204" pitchFamily="18" charset="0"/>
              </a:rPr>
              <a:t> и </a:t>
            </a:r>
            <a:r>
              <a:rPr lang="ru-RU" sz="2400" dirty="0" err="1">
                <a:solidFill>
                  <a:srgbClr val="1C1C1D"/>
                </a:solidFill>
                <a:latin typeface="Bookman Old Style" panose="02050604050505020204" pitchFamily="18" charset="0"/>
              </a:rPr>
              <a:t>pair.Value</a:t>
            </a:r>
            <a:r>
              <a:rPr lang="ru-RU" sz="2400" dirty="0">
                <a:solidFill>
                  <a:srgbClr val="1C1C1D"/>
                </a:solidFill>
                <a:latin typeface="Bookman Old Style" panose="02050604050505020204" pitchFamily="18" charset="0"/>
              </a:rPr>
              <a:t>. Можно «распаковать» пару прямо в заголовке цикла </a:t>
            </a:r>
            <a:r>
              <a:rPr lang="ru-RU" sz="2400" dirty="0" err="1">
                <a:solidFill>
                  <a:srgbClr val="1C1C1D"/>
                </a:solidFill>
                <a:latin typeface="Bookman Old Style" panose="02050604050505020204" pitchFamily="18" charset="0"/>
              </a:rPr>
              <a:t>foreach</a:t>
            </a:r>
            <a:r>
              <a:rPr lang="ru-RU" sz="2400" dirty="0" smtClean="0">
                <a:solidFill>
                  <a:srgbClr val="1C1C1D"/>
                </a:solidFill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Сейчас (распаковка в переменные):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foreach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age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</a:t>
            </a:r>
            <a:r>
              <a:rPr lang="en-US" sz="2400" dirty="0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ages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Мы сразу получили доступ к имени и возрасту!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— 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age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5982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3" name="Rectangle 28" descr="Светлый диагональный 2">
            <a:extLst>
              <a:ext uri="{FF2B5EF4-FFF2-40B4-BE49-F238E27FC236}">
                <a16:creationId xmlns:a16="http://schemas.microsoft.com/office/drawing/2014/main" id="{1258AB28-D449-49A9-BC9F-A886C5854F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Множество (</a:t>
            </a:r>
            <a:r>
              <a:rPr lang="en-US" sz="2800" b="1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HashSet</a:t>
            </a: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)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0" y="654356"/>
            <a:ext cx="12192000" cy="526297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Это коллекция, которая содержит </a:t>
            </a:r>
            <a:r>
              <a:rPr lang="ru-RU" sz="2400" b="1" dirty="0">
                <a:latin typeface="Bookman Old Style" panose="02050604050505020204" pitchFamily="18" charset="0"/>
              </a:rPr>
              <a:t>только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b="1" dirty="0">
                <a:latin typeface="Bookman Old Style" panose="02050604050505020204" pitchFamily="18" charset="0"/>
              </a:rPr>
              <a:t>уникальные элементы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Аналог </a:t>
            </a:r>
            <a:r>
              <a:rPr lang="ru-RU" sz="2400" dirty="0" err="1">
                <a:latin typeface="Bookman Old Style" panose="02050604050505020204" pitchFamily="18" charset="0"/>
              </a:rPr>
              <a:t>List</a:t>
            </a:r>
            <a:r>
              <a:rPr lang="ru-RU" sz="2400" dirty="0">
                <a:latin typeface="Bookman Old Style" panose="02050604050505020204" pitchFamily="18" charset="0"/>
              </a:rPr>
              <a:t>, но в нем не может быть двух одинаковых чисел или строк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>
              <a:latin typeface="Bookman Old Style" panose="02050604050505020204" pitchFamily="18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uniqueNumbers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HashSet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&gt;();</a:t>
            </a: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uniqueNumbers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Add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(5);</a:t>
            </a:r>
          </a:p>
          <a:p>
            <a:r>
              <a:rPr lang="ru-RU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uniqueNumbers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ru-RU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Add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(5);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Ничего не произойдет, 5 уже есть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uniqueNumbers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.Count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Выведет </a:t>
            </a:r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</a:t>
            </a:r>
            <a:endParaRPr lang="en-US" sz="2400" dirty="0" smtClean="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2400" dirty="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Зачем это нужно?</a:t>
            </a:r>
          </a:p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Мгновенная проверка "есть ли такой элемент в списке" 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ru-RU" sz="2400" dirty="0" smtClean="0">
                <a:latin typeface="Bookman Old Style" panose="02050604050505020204" pitchFamily="18" charset="0"/>
              </a:rPr>
              <a:t>O(1)</a:t>
            </a:r>
            <a:r>
              <a:rPr lang="en-US" sz="2400" dirty="0" smtClean="0">
                <a:latin typeface="Bookman Old Style" panose="02050604050505020204" pitchFamily="18" charset="0"/>
              </a:rPr>
              <a:t>)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Быстрое удаление дубликатов.</a:t>
            </a:r>
          </a:p>
        </p:txBody>
      </p:sp>
    </p:spTree>
    <p:extLst>
      <p:ext uri="{BB962C8B-B14F-4D97-AF65-F5344CB8AC3E}">
        <p14:creationId xmlns:p14="http://schemas.microsoft.com/office/powerpoint/2010/main" val="1449704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" name="Прямоугольник 1"/>
          <p:cNvSpPr/>
          <p:nvPr/>
        </p:nvSpPr>
        <p:spPr>
          <a:xfrm>
            <a:off x="0" y="654356"/>
            <a:ext cx="12192000" cy="341632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Самый простой способ очистить список от повторов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dirtyList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 { 1, 2, 2, 3, 3, 3 };</a:t>
            </a:r>
          </a:p>
          <a:p>
            <a:endParaRPr lang="en-US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cleanSet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HashSet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&gt;(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dirtyList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2400" dirty="0" smtClean="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Внутри останутся только 1, 2, </a:t>
            </a:r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</a:t>
            </a:r>
          </a:p>
          <a:p>
            <a:endParaRPr lang="ru-RU" sz="2400" dirty="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12107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" name="Прямоугольник 1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400" dirty="0">
                <a:latin typeface="Bookman Old Style" panose="02050604050505020204" pitchFamily="18" charset="0"/>
              </a:rPr>
              <a:t>Проверка </a:t>
            </a:r>
            <a:r>
              <a:rPr lang="ru-RU" sz="2400" b="1" dirty="0" err="1">
                <a:latin typeface="Bookman Old Style" panose="02050604050505020204" pitchFamily="18" charset="0"/>
              </a:rPr>
              <a:t>Contains</a:t>
            </a:r>
            <a:r>
              <a:rPr lang="ru-RU" sz="2400" dirty="0">
                <a:latin typeface="Bookman Old Style" panose="02050604050505020204" pitchFamily="18" charset="0"/>
              </a:rPr>
              <a:t> работает мгновенно, независимо от того, сколько в нем элементов (миллион или десять). </a:t>
            </a:r>
          </a:p>
          <a:p>
            <a:endParaRPr lang="nb-NO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nb-NO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nb-NO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nb-NO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bannedUsers</a:t>
            </a:r>
            <a:r>
              <a:rPr lang="nb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nb-NO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nb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nb-NO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HashSet</a:t>
            </a:r>
            <a:r>
              <a:rPr lang="nb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nb-NO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nb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 </a:t>
            </a:r>
            <a:endParaRPr lang="nb-NO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nb-NO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 </a:t>
            </a:r>
            <a:r>
              <a:rPr lang="nb-NO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"admin"</a:t>
            </a:r>
            <a:r>
              <a:rPr lang="nb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nb-NO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"spammer777"</a:t>
            </a:r>
            <a:r>
              <a:rPr lang="nb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nb-NO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"bot_123"</a:t>
            </a:r>
            <a:r>
              <a:rPr lang="nb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};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Write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Введите ваш логин: 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ReadLine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Мгновенная проверка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bannedUsers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Contains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Ошибка: Доступ заблокирован!"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r>
              <a:rPr lang="en-US" sz="2400" dirty="0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else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ru-RU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WriteLine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"Добро пожаловать в систему!"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7314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13495</TotalTime>
  <Words>1661</Words>
  <Application>Microsoft Office PowerPoint</Application>
  <PresentationFormat>Широкоэкранный</PresentationFormat>
  <Paragraphs>403</Paragraphs>
  <Slides>35</Slides>
  <Notes>35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35</vt:i4>
      </vt:variant>
    </vt:vector>
  </HeadingPairs>
  <TitlesOfParts>
    <vt:vector size="43" baseType="lpstr">
      <vt:lpstr>Arial</vt:lpstr>
      <vt:lpstr>Bookman Old Style</vt:lpstr>
      <vt:lpstr>Calibri</vt:lpstr>
      <vt:lpstr>Calibri Light</vt:lpstr>
      <vt:lpstr>Cascadia Mono</vt:lpstr>
      <vt:lpstr>Consolas</vt:lpstr>
      <vt:lpstr>Times New Roman</vt:lpstr>
      <vt:lpstr>Тема Office</vt:lpstr>
      <vt:lpstr>Лекция 6. Основы языка C#  Содержание лекции: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ПРОГРАММЫ ДЛЯ РАСЧЁТА ПРОДОЛЬНО-ПОПЕРЕЧНЫХ КОЛЕБАНИЙ СТВОЛА АРТИЛЛЕРИЙСКОГО ОРУДИЯ</dc:title>
  <dc:creator>vsufiy</dc:creator>
  <cp:lastModifiedBy>Daniil Kljukin</cp:lastModifiedBy>
  <cp:revision>713</cp:revision>
  <dcterms:modified xsi:type="dcterms:W3CDTF">2026-02-08T11:51:46Z</dcterms:modified>
</cp:coreProperties>
</file>