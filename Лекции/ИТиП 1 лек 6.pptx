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34"/>
  </p:notesMasterIdLst>
  <p:sldIdLst>
    <p:sldId id="273" r:id="rId2"/>
    <p:sldId id="1029" r:id="rId3"/>
    <p:sldId id="1043" r:id="rId4"/>
    <p:sldId id="1044" r:id="rId5"/>
    <p:sldId id="1046" r:id="rId6"/>
    <p:sldId id="1047" r:id="rId7"/>
    <p:sldId id="1030" r:id="rId8"/>
    <p:sldId id="1031" r:id="rId9"/>
    <p:sldId id="1036" r:id="rId10"/>
    <p:sldId id="1032" r:id="rId11"/>
    <p:sldId id="1033" r:id="rId12"/>
    <p:sldId id="1034" r:id="rId13"/>
    <p:sldId id="1035" r:id="rId14"/>
    <p:sldId id="1015" r:id="rId15"/>
    <p:sldId id="1038" r:id="rId16"/>
    <p:sldId id="1039" r:id="rId17"/>
    <p:sldId id="1040" r:id="rId18"/>
    <p:sldId id="1041" r:id="rId19"/>
    <p:sldId id="1042" r:id="rId20"/>
    <p:sldId id="1037" r:id="rId21"/>
    <p:sldId id="1016" r:id="rId22"/>
    <p:sldId id="1017" r:id="rId23"/>
    <p:sldId id="1004" r:id="rId24"/>
    <p:sldId id="1005" r:id="rId25"/>
    <p:sldId id="1006" r:id="rId26"/>
    <p:sldId id="1007" r:id="rId27"/>
    <p:sldId id="1008" r:id="rId28"/>
    <p:sldId id="1009" r:id="rId29"/>
    <p:sldId id="1010" r:id="rId30"/>
    <p:sldId id="1011" r:id="rId31"/>
    <p:sldId id="1012" r:id="rId32"/>
    <p:sldId id="101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2" autoAdjust="0"/>
    <p:restoredTop sz="82523" autoAdjust="0"/>
  </p:normalViewPr>
  <p:slideViewPr>
    <p:cSldViewPr snapToGrid="0">
      <p:cViewPr varScale="1">
        <p:scale>
          <a:sx n="92" d="100"/>
          <a:sy n="92" d="100"/>
        </p:scale>
        <p:origin x="1062" y="90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01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113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3664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7542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7225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3651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7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0413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9208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0187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553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2028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0242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6407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30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181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2675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4542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5324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4104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6880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148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008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1963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5187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4598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88689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Пояснения </a:t>
            </a:r>
            <a:r>
              <a:rPr lang="ru-RU" smtClean="0"/>
              <a:t>про словарь </a:t>
            </a:r>
            <a:r>
              <a:rPr lang="en-US" smtClean="0"/>
              <a:t>https://habr.com/ru/articles/198104/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9590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9590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4747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097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Информационные технологии</a:t>
            </a:r>
            <a:b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</a:b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xmlns="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161" y="2538130"/>
            <a:ext cx="8978016" cy="1384995"/>
          </a:xfrm>
        </p:spPr>
        <p:txBody>
          <a:bodyPr>
            <a:noAutofit/>
          </a:bodyPr>
          <a:lstStyle/>
          <a:p>
            <a:pPr algn="l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6.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Основы языка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C#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F7B00361-5492-4290-B470-295172C16526}"/>
              </a:ext>
            </a:extLst>
          </p:cNvPr>
          <p:cNvSpPr txBox="1"/>
          <p:nvPr/>
        </p:nvSpPr>
        <p:spPr>
          <a:xfrm>
            <a:off x="511160" y="3923125"/>
            <a:ext cx="11680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Отладка программы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Сложность алгоритмов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Коллекции</a:t>
            </a:r>
            <a:endParaRPr lang="ru-RU" sz="2800" b="1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3" name="Rectangle 28" descr="Светлый диагональный 2">
            <a:extLst>
              <a:ext uri="{FF2B5EF4-FFF2-40B4-BE49-F238E27FC236}">
                <a16:creationId xmlns:a16="http://schemas.microsoft.com/office/drawing/2014/main" xmlns="" id="{1258AB28-D449-49A9-BC9F-A886C5854F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Отладка программы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xmlns="" id="{77C4BDB6-33FD-4B97-96E3-B47A3CECF63E}"/>
              </a:ext>
            </a:extLst>
          </p:cNvPr>
          <p:cNvSpPr txBox="1"/>
          <p:nvPr/>
        </p:nvSpPr>
        <p:spPr>
          <a:xfrm>
            <a:off x="0" y="654356"/>
            <a:ext cx="12192000" cy="646331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i="0" dirty="0" smtClean="0">
                <a:effectLst/>
                <a:latin typeface="Bookman Old Style" panose="02050604050505020204" pitchFamily="18" charset="0"/>
              </a:rPr>
              <a:t>Разработка сложной программы невозможна без отладки.</a:t>
            </a:r>
          </a:p>
        </p:txBody>
      </p:sp>
      <p:pic>
        <p:nvPicPr>
          <p:cNvPr id="17410" name="Picture 2" descr="Быстрый и удобный сервис для создания мемов :) | Мемы ..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2654" y="1473199"/>
            <a:ext cx="3349346" cy="538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Прямоугольник 1"/>
          <p:cNvSpPr/>
          <p:nvPr/>
        </p:nvSpPr>
        <p:spPr>
          <a:xfrm>
            <a:off x="0" y="1308713"/>
            <a:ext cx="8842654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Отла́дка</a:t>
            </a:r>
            <a:r>
              <a:rPr lang="ru-RU" sz="2400" dirty="0">
                <a:latin typeface="Bookman Old Style" panose="02050604050505020204" pitchFamily="18" charset="0"/>
              </a:rPr>
              <a:t> — этап разработки компьютерной программы, на котором обнаруживают, локализуют и устраняют ошибки.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</a:t>
            </a:r>
            <a:r>
              <a:rPr lang="ru-RU" sz="2400" dirty="0">
                <a:latin typeface="Bookman Old Style" panose="02050604050505020204" pitchFamily="18" charset="0"/>
              </a:rPr>
              <a:t>понять, где возникла ошибка, приходится: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 узнавать текущие значения переменных;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 выяснять, по какому пути выполнялась программа.</a:t>
            </a:r>
          </a:p>
          <a:p>
            <a:pPr indent="714375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Перед запуском отладки также необходимо расставить </a:t>
            </a:r>
            <a:r>
              <a:rPr lang="ru-RU" sz="2400" b="1" dirty="0">
                <a:latin typeface="Bookman Old Style" panose="02050604050505020204" pitchFamily="18" charset="0"/>
              </a:rPr>
              <a:t>точки </a:t>
            </a:r>
            <a:r>
              <a:rPr lang="ru-RU" sz="2400" b="1" dirty="0" smtClean="0">
                <a:latin typeface="Bookman Old Style" panose="02050604050505020204" pitchFamily="18" charset="0"/>
              </a:rPr>
              <a:t>останова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программы.</a:t>
            </a:r>
          </a:p>
        </p:txBody>
      </p:sp>
    </p:spTree>
    <p:extLst>
      <p:ext uri="{BB962C8B-B14F-4D97-AF65-F5344CB8AC3E}">
        <p14:creationId xmlns:p14="http://schemas.microsoft.com/office/powerpoint/2010/main" val="3332976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Точка </a:t>
            </a:r>
            <a:r>
              <a:rPr lang="ru-RU" sz="2400" b="1" dirty="0" smtClean="0">
                <a:latin typeface="Bookman Old Style" panose="02050604050505020204" pitchFamily="18" charset="0"/>
              </a:rPr>
              <a:t>останова     </a:t>
            </a:r>
            <a:r>
              <a:rPr lang="ru-RU" sz="2400" dirty="0">
                <a:latin typeface="Bookman Old Style" panose="02050604050505020204" pitchFamily="18" charset="0"/>
              </a:rPr>
              <a:t> — это маркер в коде, при достижении которого выполнение программы приостанавливается, позволяя разработчику исследовать: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значения переменных</a:t>
            </a:r>
            <a:r>
              <a:rPr lang="ru-RU" sz="2400" dirty="0">
                <a:latin typeface="Bookman Old Style" panose="02050604050505020204" pitchFamily="18" charset="0"/>
              </a:rPr>
              <a:t>,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стек вызовов</a:t>
            </a:r>
            <a:r>
              <a:rPr lang="ru-RU" sz="2400" dirty="0">
                <a:latin typeface="Bookman Old Style" panose="02050604050505020204" pitchFamily="18" charset="0"/>
              </a:rPr>
              <a:t>,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состояние памяти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b="0" i="0" dirty="0">
              <a:effectLst/>
              <a:latin typeface="Bookman Old Style" panose="02050604050505020204" pitchFamily="18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t="37792" b="33106"/>
          <a:stretch/>
        </p:blipFill>
        <p:spPr>
          <a:xfrm>
            <a:off x="152400" y="3733800"/>
            <a:ext cx="11887200" cy="173355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3"/>
          <a:srcRect l="1603" t="52756" r="94631" b="40688"/>
          <a:stretch/>
        </p:blipFill>
        <p:spPr>
          <a:xfrm>
            <a:off x="3238500" y="190500"/>
            <a:ext cx="447675" cy="390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793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Стек </a:t>
            </a:r>
            <a:r>
              <a:rPr lang="ru-RU" sz="2400" b="1" dirty="0">
                <a:latin typeface="Bookman Old Style" panose="02050604050505020204" pitchFamily="18" charset="0"/>
              </a:rPr>
              <a:t>вызовов</a:t>
            </a:r>
            <a:r>
              <a:rPr lang="ru-RU" sz="2400" dirty="0">
                <a:latin typeface="Bookman Old Style" panose="02050604050505020204" pitchFamily="18" charset="0"/>
              </a:rPr>
              <a:t> — это структура данных, отражающая последовательность вызовов методов, приведших к текущей точке выполнения программы.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Использование при отладке: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Позволяет отследить </a:t>
            </a:r>
            <a:r>
              <a:rPr lang="ru-RU" sz="2400" b="1" dirty="0">
                <a:latin typeface="Bookman Old Style" panose="02050604050505020204" pitchFamily="18" charset="0"/>
              </a:rPr>
              <a:t>путь выполнения</a:t>
            </a:r>
            <a:r>
              <a:rPr lang="ru-RU" sz="2400" dirty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Выявляет </a:t>
            </a:r>
            <a:r>
              <a:rPr lang="ru-RU" sz="2400" b="1" dirty="0">
                <a:latin typeface="Bookman Old Style" panose="02050604050505020204" pitchFamily="18" charset="0"/>
              </a:rPr>
              <a:t>рекурсивные вызовы</a:t>
            </a:r>
            <a:r>
              <a:rPr lang="ru-RU" sz="2400" dirty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Помогает находить </a:t>
            </a:r>
            <a:r>
              <a:rPr lang="ru-RU" sz="2400" b="1" dirty="0">
                <a:latin typeface="Bookman Old Style" panose="02050604050505020204" pitchFamily="18" charset="0"/>
              </a:rPr>
              <a:t>источники исключений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5380" y="3970318"/>
            <a:ext cx="8681239" cy="280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70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Пошаговое выполнение (</a:t>
            </a:r>
            <a:r>
              <a:rPr lang="ru-RU" sz="2400" b="1" dirty="0" err="1">
                <a:latin typeface="Bookman Old Style" panose="02050604050505020204" pitchFamily="18" charset="0"/>
              </a:rPr>
              <a:t>Stepping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Пошаговое выполнение</a:t>
            </a:r>
            <a:r>
              <a:rPr lang="ru-RU" sz="2400" dirty="0">
                <a:latin typeface="Bookman Old Style" panose="02050604050505020204" pitchFamily="18" charset="0"/>
              </a:rPr>
              <a:t> — это режим отладки, при котором программа выполняется по одной инструкции за раз.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Основные </a:t>
            </a:r>
            <a:r>
              <a:rPr lang="ru-RU" sz="2400" b="1" dirty="0" smtClean="0">
                <a:latin typeface="Bookman Old Style" panose="02050604050505020204" pitchFamily="18" charset="0"/>
              </a:rPr>
              <a:t>команды: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Bookman Old Style" panose="02050604050505020204" pitchFamily="18" charset="0"/>
              </a:rPr>
              <a:t>Continue</a:t>
            </a:r>
            <a:r>
              <a:rPr lang="ru-RU" sz="2400" b="1" dirty="0" smtClean="0">
                <a:latin typeface="Bookman Old Style" panose="02050604050505020204" pitchFamily="18" charset="0"/>
              </a:rPr>
              <a:t> (F5)</a:t>
            </a:r>
            <a:r>
              <a:rPr lang="ru-RU" sz="2400" dirty="0">
                <a:latin typeface="Bookman Old Style" panose="02050604050505020204" pitchFamily="18" charset="0"/>
              </a:rPr>
              <a:t> — </a:t>
            </a:r>
            <a:r>
              <a:rPr lang="ru-RU" sz="2400" dirty="0" smtClean="0">
                <a:latin typeface="Bookman Old Style" panose="02050604050505020204" pitchFamily="18" charset="0"/>
              </a:rPr>
              <a:t> продолжение до следующей точки останова;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Step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Into</a:t>
            </a:r>
            <a:r>
              <a:rPr lang="ru-RU" sz="2400" b="1" dirty="0">
                <a:latin typeface="Bookman Old Style" panose="02050604050505020204" pitchFamily="18" charset="0"/>
              </a:rPr>
              <a:t> (F11)</a:t>
            </a:r>
            <a:r>
              <a:rPr lang="ru-RU" sz="2400" dirty="0">
                <a:latin typeface="Bookman Old Style" panose="02050604050505020204" pitchFamily="18" charset="0"/>
              </a:rPr>
              <a:t> — вход в вызываемый метод</a:t>
            </a:r>
            <a:r>
              <a:rPr lang="ru-RU" sz="2400" dirty="0" smtClean="0">
                <a:latin typeface="Bookman Old Style" panose="020506040505050202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Step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Over</a:t>
            </a:r>
            <a:r>
              <a:rPr lang="ru-RU" sz="2400" b="1" dirty="0">
                <a:latin typeface="Bookman Old Style" panose="02050604050505020204" pitchFamily="18" charset="0"/>
              </a:rPr>
              <a:t> (F10)</a:t>
            </a:r>
            <a:r>
              <a:rPr lang="ru-RU" sz="2400" dirty="0">
                <a:latin typeface="Bookman Old Style" panose="02050604050505020204" pitchFamily="18" charset="0"/>
              </a:rPr>
              <a:t> — выполнение текущего метода без входа в вызываемые;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Step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Out</a:t>
            </a:r>
            <a:r>
              <a:rPr lang="ru-RU" sz="2400" b="1" dirty="0">
                <a:latin typeface="Bookman Old Style" panose="02050604050505020204" pitchFamily="18" charset="0"/>
              </a:rPr>
              <a:t> (Shift+F11)</a:t>
            </a:r>
            <a:r>
              <a:rPr lang="ru-RU" sz="2400" dirty="0">
                <a:latin typeface="Bookman Old Style" panose="02050604050505020204" pitchFamily="18" charset="0"/>
              </a:rPr>
              <a:t> — выход из текущего метода.</a:t>
            </a:r>
            <a:endParaRPr lang="ru-RU" sz="2400" b="0" i="0" dirty="0">
              <a:effectLst/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7470" y="5181601"/>
            <a:ext cx="5182765" cy="842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21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390703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Окно просмотра переменных</a:t>
            </a:r>
            <a:r>
              <a:rPr lang="ru-RU" sz="2400" dirty="0">
                <a:latin typeface="Bookman Old Style" panose="02050604050505020204" pitchFamily="18" charset="0"/>
              </a:rPr>
              <a:t> — инструмент отладчика, отображающий текущие значения переменных и выражений в режиме реального времени.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Функциональность: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Изменение значений</a:t>
            </a:r>
            <a:r>
              <a:rPr lang="ru-RU" sz="2400" dirty="0">
                <a:latin typeface="Bookman Old Style" panose="02050604050505020204" pitchFamily="18" charset="0"/>
              </a:rPr>
              <a:t> переменных во время отладки;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Вычисление выражений</a:t>
            </a:r>
            <a:r>
              <a:rPr lang="ru-RU" sz="2400" dirty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Отслеживание сложных структур данных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  <a:endParaRPr lang="ru-RU" sz="2400" b="0" i="0" dirty="0">
              <a:effectLst/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150" y="3907032"/>
            <a:ext cx="4257676" cy="2857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181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" y="749108"/>
            <a:ext cx="11887200" cy="5956897"/>
          </a:xfrm>
          <a:prstGeom prst="rect">
            <a:avLst/>
          </a:prstGeom>
        </p:spPr>
      </p:pic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xmlns="" id="{A77419EE-67E1-4427-B3CF-1F8E2A5542DE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638175" y="691445"/>
            <a:ext cx="1492450" cy="32233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xmlns="" id="{E89F4841-A32E-46D0-B56E-837AD63F9712}"/>
              </a:ext>
            </a:extLst>
          </p:cNvPr>
          <p:cNvSpPr/>
          <p:nvPr/>
        </p:nvSpPr>
        <p:spPr>
          <a:xfrm>
            <a:off x="506264" y="153568"/>
            <a:ext cx="3248721" cy="537877"/>
          </a:xfrm>
          <a:prstGeom prst="rect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latin typeface="Bookman Old Style" panose="02050604050505020204" pitchFamily="18" charset="0"/>
              </a:rPr>
              <a:t>Точка остановки</a:t>
            </a:r>
            <a:endParaRPr lang="en-US" sz="2400" b="1" dirty="0">
              <a:latin typeface="Bookman Old Style" panose="02050604050505020204" pitchFamily="18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xmlns="" id="{CCAF371D-8414-49A2-954E-DB79EF536F72}"/>
              </a:ext>
            </a:extLst>
          </p:cNvPr>
          <p:cNvSpPr/>
          <p:nvPr/>
        </p:nvSpPr>
        <p:spPr>
          <a:xfrm>
            <a:off x="5350880" y="153568"/>
            <a:ext cx="3867150" cy="537877"/>
          </a:xfrm>
          <a:prstGeom prst="rect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latin typeface="Bookman Old Style" panose="02050604050505020204" pitchFamily="18" charset="0"/>
              </a:rPr>
              <a:t>Запуск отладки (</a:t>
            </a:r>
            <a:r>
              <a:rPr lang="en-US" sz="2400" b="1" dirty="0">
                <a:latin typeface="Bookman Old Style" panose="02050604050505020204" pitchFamily="18" charset="0"/>
              </a:rPr>
              <a:t>F5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  <a:endParaRPr lang="en-US" sz="2400" b="1" dirty="0">
              <a:latin typeface="Bookman Old Style" panose="02050604050505020204" pitchFamily="18" charset="0"/>
            </a:endParaRPr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xmlns="" id="{B4BA09B5-8BEC-4854-9FB5-BAA10376267D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7284455" y="691445"/>
            <a:ext cx="2119318" cy="51390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1122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xmlns="" id="{42B6AC90-6141-4C9C-80C4-8CA13D08E8FA}"/>
              </a:ext>
            </a:extLst>
          </p:cNvPr>
          <p:cNvSpPr txBox="1"/>
          <p:nvPr/>
        </p:nvSpPr>
        <p:spPr>
          <a:xfrm>
            <a:off x="0" y="62268"/>
            <a:ext cx="12192000" cy="6740307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При достижении точки </a:t>
            </a:r>
            <a:r>
              <a:rPr lang="ru-RU" sz="2400" dirty="0" smtClean="0">
                <a:latin typeface="Bookman Old Style" panose="02050604050505020204" pitchFamily="18" charset="0"/>
              </a:rPr>
              <a:t>остановки, </a:t>
            </a:r>
            <a:r>
              <a:rPr lang="ru-RU" sz="2400" dirty="0">
                <a:latin typeface="Bookman Old Style" panose="02050604050505020204" pitchFamily="18" charset="0"/>
              </a:rPr>
              <a:t>выполнение программы приостанавливается, в это время можно проверить значения переменных. Для этого необходимо навестись мышью на переменную.</a:t>
            </a: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Возобновление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до следующей точки остановки: </a:t>
            </a:r>
            <a:r>
              <a:rPr lang="en-US" sz="2400" b="1" dirty="0" smtClean="0">
                <a:latin typeface="Bookman Old Style" panose="02050604050505020204" pitchFamily="18" charset="0"/>
              </a:rPr>
              <a:t>F5; 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Следующий </a:t>
            </a:r>
            <a:r>
              <a:rPr lang="ru-RU" sz="2400" b="1" dirty="0">
                <a:latin typeface="Bookman Old Style" panose="02050604050505020204" pitchFamily="18" charset="0"/>
              </a:rPr>
              <a:t>шаг</a:t>
            </a:r>
            <a:r>
              <a:rPr lang="ru-RU" sz="2400" dirty="0">
                <a:latin typeface="Bookman Old Style" panose="02050604050505020204" pitchFamily="18" charset="0"/>
              </a:rPr>
              <a:t> без обхода во внутрь: </a:t>
            </a:r>
            <a:r>
              <a:rPr lang="en-US" sz="2400" b="1" dirty="0">
                <a:latin typeface="Bookman Old Style" panose="02050604050505020204" pitchFamily="18" charset="0"/>
              </a:rPr>
              <a:t>F</a:t>
            </a:r>
            <a:r>
              <a:rPr lang="ru-RU" sz="2400" b="1" dirty="0">
                <a:latin typeface="Bookman Old Style" panose="02050604050505020204" pitchFamily="18" charset="0"/>
              </a:rPr>
              <a:t>10</a:t>
            </a:r>
            <a:r>
              <a:rPr lang="en-US" sz="2400" b="1" dirty="0" smtClean="0">
                <a:latin typeface="Bookman Old Style" panose="02050604050505020204" pitchFamily="18" charset="0"/>
              </a:rPr>
              <a:t>; 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Следующий </a:t>
            </a:r>
            <a:r>
              <a:rPr lang="ru-RU" sz="2400" b="1" dirty="0">
                <a:latin typeface="Bookman Old Style" panose="02050604050505020204" pitchFamily="18" charset="0"/>
              </a:rPr>
              <a:t>шаг</a:t>
            </a:r>
            <a:r>
              <a:rPr lang="ru-RU" sz="2400" dirty="0">
                <a:latin typeface="Bookman Old Style" panose="02050604050505020204" pitchFamily="18" charset="0"/>
              </a:rPr>
              <a:t> с обходом во внутрь: </a:t>
            </a:r>
            <a:r>
              <a:rPr lang="en-US" sz="2400" b="1" dirty="0">
                <a:latin typeface="Bookman Old Style" panose="02050604050505020204" pitchFamily="18" charset="0"/>
              </a:rPr>
              <a:t>F</a:t>
            </a:r>
            <a:r>
              <a:rPr lang="ru-RU" sz="2400" b="1" dirty="0">
                <a:latin typeface="Bookman Old Style" panose="02050604050505020204" pitchFamily="18" charset="0"/>
              </a:rPr>
              <a:t>11</a:t>
            </a:r>
            <a:r>
              <a:rPr lang="en-US" sz="2400" b="1" dirty="0" smtClean="0">
                <a:latin typeface="Bookman Old Style" panose="02050604050505020204" pitchFamily="18" charset="0"/>
              </a:rPr>
              <a:t>; 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Остановить </a:t>
            </a:r>
            <a:r>
              <a:rPr lang="ru-RU" sz="2400" dirty="0">
                <a:latin typeface="Bookman Old Style" panose="02050604050505020204" pitchFamily="18" charset="0"/>
              </a:rPr>
              <a:t>отладку и завершить : </a:t>
            </a:r>
            <a:r>
              <a:rPr lang="en-US" sz="2400" b="1" dirty="0">
                <a:latin typeface="Bookman Old Style" panose="02050604050505020204" pitchFamily="18" charset="0"/>
              </a:rPr>
              <a:t>Shift + F5</a:t>
            </a:r>
            <a:r>
              <a:rPr lang="en-US" sz="2400" b="1" dirty="0" smtClean="0">
                <a:latin typeface="Bookman Old Style" panose="02050604050505020204" pitchFamily="18" charset="0"/>
              </a:rPr>
              <a:t>;</a:t>
            </a:r>
          </a:p>
          <a:p>
            <a:pPr algn="just"/>
            <a:endParaRPr lang="en-US" sz="2400" b="1" dirty="0">
              <a:latin typeface="Bookman Old Style" panose="02050604050505020204" pitchFamily="18" charset="0"/>
            </a:endParaRPr>
          </a:p>
          <a:p>
            <a:pPr algn="just"/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/>
            <a:endParaRPr lang="en-US" sz="2400" b="1" dirty="0">
              <a:latin typeface="Bookman Old Style" panose="02050604050505020204" pitchFamily="18" charset="0"/>
            </a:endParaRPr>
          </a:p>
          <a:p>
            <a:pPr algn="just"/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/>
            <a:endParaRPr lang="en-US" sz="2400" b="1" dirty="0">
              <a:latin typeface="Bookman Old Style" panose="02050604050505020204" pitchFamily="18" charset="0"/>
            </a:endParaRPr>
          </a:p>
          <a:p>
            <a:pPr algn="just"/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/>
            <a:endParaRPr lang="en-US" sz="2400" b="1" dirty="0">
              <a:latin typeface="Bookman Old Style" panose="02050604050505020204" pitchFamily="18" charset="0"/>
            </a:endParaRPr>
          </a:p>
          <a:p>
            <a:pPr algn="just"/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/>
            <a:endParaRPr lang="en-US" sz="2400" b="1" dirty="0">
              <a:latin typeface="Bookman Old Style" panose="02050604050505020204" pitchFamily="18" charset="0"/>
            </a:endParaRPr>
          </a:p>
          <a:p>
            <a:pPr algn="just"/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Для успешной сдачи экзамена необходимо уметь отлаживать ПО.</a:t>
            </a:r>
            <a:endParaRPr lang="en-US" sz="2400" b="1" dirty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t="10071" r="69731" b="56667"/>
          <a:stretch/>
        </p:blipFill>
        <p:spPr>
          <a:xfrm>
            <a:off x="243688" y="2719039"/>
            <a:ext cx="11418440" cy="3528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438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xmlns="" id="{42B6AC90-6141-4C9C-80C4-8CA13D08E8FA}"/>
              </a:ext>
            </a:extLst>
          </p:cNvPr>
          <p:cNvSpPr txBox="1"/>
          <p:nvPr/>
        </p:nvSpPr>
        <p:spPr>
          <a:xfrm>
            <a:off x="0" y="62268"/>
            <a:ext cx="12192000" cy="461665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Текущие значения переменных можно смотреть на вкладке «Локальные»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1654" y="523933"/>
            <a:ext cx="9268691" cy="6220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554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156966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Чтобы приостановить выполнение программы до исполнения строки 3 необходимо поставить точку останова на  строку 3. После приостановки чтобы зайти в метод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GetAverage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необходимо нажать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 smtClean="0">
                <a:latin typeface="Bookman Old Style" panose="02050604050505020204" pitchFamily="18" charset="0"/>
              </a:rPr>
              <a:t>F11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Если заходить не нужно, чтобы перейти к след. строке – </a:t>
            </a:r>
            <a:r>
              <a:rPr lang="en-US" sz="2400" b="1" dirty="0" smtClean="0">
                <a:latin typeface="Bookman Old Style" panose="02050604050505020204" pitchFamily="18" charset="0"/>
              </a:rPr>
              <a:t>F10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" y="1526556"/>
            <a:ext cx="7990779" cy="5111648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8324154" y="2720356"/>
            <a:ext cx="3867846" cy="2677656"/>
          </a:xfrm>
          <a:prstGeom prst="rect">
            <a:avLst/>
          </a:prstGeom>
        </p:spPr>
        <p:txBody>
          <a:bodyPr wrap="square" rIns="360000">
            <a:spAutoFit/>
          </a:bodyPr>
          <a:lstStyle/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Чтобы посмотреть текущее значение переменной необходимо </a:t>
            </a:r>
            <a:r>
              <a:rPr lang="ru-RU" sz="2400" b="1" dirty="0" smtClean="0">
                <a:latin typeface="Bookman Old Style" panose="02050604050505020204" pitchFamily="18" charset="0"/>
              </a:rPr>
              <a:t>навести на неё мышью</a:t>
            </a:r>
            <a:r>
              <a:rPr lang="ru-RU" sz="2400" dirty="0" smtClean="0">
                <a:latin typeface="Bookman Old Style" panose="02050604050505020204" pitchFamily="18" charset="0"/>
              </a:rPr>
              <a:t> или зайти на вкладку </a:t>
            </a:r>
            <a:r>
              <a:rPr lang="ru-RU" sz="2400" b="1" dirty="0" smtClean="0">
                <a:latin typeface="Bookman Old Style" panose="02050604050505020204" pitchFamily="18" charset="0"/>
              </a:rPr>
              <a:t>«Локальные»</a:t>
            </a:r>
            <a:endParaRPr lang="en-US" sz="2400" b="1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150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Чтобы продолжить </a:t>
            </a:r>
            <a:r>
              <a:rPr lang="ru-RU" sz="2400" dirty="0" smtClean="0">
                <a:latin typeface="Bookman Old Style" panose="02050604050505020204" pitchFamily="18" charset="0"/>
              </a:rPr>
              <a:t>выполнение программы необходимо нажать </a:t>
            </a:r>
            <a:r>
              <a:rPr lang="en-US" sz="2400" b="1" dirty="0" smtClean="0">
                <a:latin typeface="Bookman Old Style" panose="02050604050505020204" pitchFamily="18" charset="0"/>
              </a:rPr>
              <a:t>F5</a:t>
            </a:r>
            <a:r>
              <a:rPr lang="en-US" sz="2400" dirty="0" smtClean="0">
                <a:latin typeface="Bookman Old Style" panose="02050604050505020204" pitchFamily="18" charset="0"/>
              </a:rPr>
              <a:t>, </a:t>
            </a:r>
            <a:r>
              <a:rPr lang="ru-RU" sz="2400" dirty="0" smtClean="0">
                <a:latin typeface="Bookman Old Style" panose="02050604050505020204" pitchFamily="18" charset="0"/>
              </a:rPr>
              <a:t>в таком случае программа будет выполняться </a:t>
            </a:r>
            <a:r>
              <a:rPr lang="ru-RU" sz="2400" b="1" dirty="0" smtClean="0">
                <a:latin typeface="Bookman Old Style" panose="02050604050505020204" pitchFamily="18" charset="0"/>
              </a:rPr>
              <a:t>до следующей </a:t>
            </a:r>
            <a:r>
              <a:rPr lang="ru-RU" sz="2400" dirty="0" smtClean="0">
                <a:latin typeface="Bookman Old Style" panose="02050604050505020204" pitchFamily="18" charset="0"/>
              </a:rPr>
              <a:t>точки останова.</a:t>
            </a:r>
          </a:p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Точек останова может быть несколько.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200329"/>
            <a:ext cx="8946664" cy="5657671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8946665" y="1200329"/>
            <a:ext cx="3245335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Сначала мы остановимся на строке 3, потом на строке 7 </a:t>
            </a:r>
            <a:r>
              <a:rPr lang="ru-RU" sz="2400" b="1" dirty="0" smtClean="0">
                <a:latin typeface="Bookman Old Style" panose="02050604050505020204" pitchFamily="18" charset="0"/>
              </a:rPr>
              <a:t>(Если метод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GetSum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b="1" dirty="0" smtClean="0">
                <a:latin typeface="Bookman Old Style" panose="02050604050505020204" pitchFamily="18" charset="0"/>
              </a:rPr>
              <a:t>будет вызван).</a:t>
            </a:r>
            <a:endParaRPr lang="en-US" sz="2400" b="1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1666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Вопросы. </a:t>
            </a:r>
            <a:r>
              <a:rPr lang="ru-RU" sz="2400" dirty="0" smtClean="0">
                <a:latin typeface="Bookman Old Style" panose="02050604050505020204" pitchFamily="18" charset="0"/>
              </a:rPr>
              <a:t>На какой точке останова мы остановимся вначале, на какой потом?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30997"/>
            <a:ext cx="9504430" cy="602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655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Вопросы. </a:t>
            </a:r>
            <a:r>
              <a:rPr lang="ru-RU" sz="2400" dirty="0" smtClean="0">
                <a:latin typeface="Bookman Old Style" panose="02050604050505020204" pitchFamily="18" charset="0"/>
              </a:rPr>
              <a:t>Куда необходимо поставить точку останова, если мы выяснили, что </a:t>
            </a:r>
            <a:r>
              <a:rPr lang="en-US" sz="2400" dirty="0" smtClean="0">
                <a:latin typeface="Bookman Old Style" panose="02050604050505020204" pitchFamily="18" charset="0"/>
              </a:rPr>
              <a:t>a, b </a:t>
            </a:r>
            <a:r>
              <a:rPr lang="ru-RU" sz="2400" dirty="0" smtClean="0">
                <a:latin typeface="Bookman Old Style" panose="02050604050505020204" pitchFamily="18" charset="0"/>
              </a:rPr>
              <a:t>считываются корректно, но среднее значение неправильное?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830998"/>
            <a:ext cx="9462956" cy="60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901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7" name="Rectangle 28" descr="Светлый диагональный 2">
            <a:extLst>
              <a:ext uri="{FF2B5EF4-FFF2-40B4-BE49-F238E27FC236}">
                <a16:creationId xmlns:a16="http://schemas.microsoft.com/office/drawing/2014/main" xmlns="" id="{BB3DD146-65A3-48E1-9F24-69A934AA06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Оценка сложности алгоритмов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F0AB4488-D912-4AAA-A613-2985EDFB547D}"/>
              </a:ext>
            </a:extLst>
          </p:cNvPr>
          <p:cNvSpPr txBox="1"/>
          <p:nvPr/>
        </p:nvSpPr>
        <p:spPr>
          <a:xfrm>
            <a:off x="0" y="660143"/>
            <a:ext cx="12191999" cy="4893647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indent="717550" algn="just">
              <a:lnSpc>
                <a:spcPct val="13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Сам термин "алгоритм" произошел от имени персидского математика Аль-Хорезми, труды которого сыграли важную роль на становление математики как науки.</a:t>
            </a:r>
          </a:p>
          <a:p>
            <a:pPr indent="717550" algn="just">
              <a:lnSpc>
                <a:spcPct val="13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Алгоритм </a:t>
            </a:r>
            <a:r>
              <a:rPr lang="ru-RU" sz="2400" dirty="0">
                <a:latin typeface="Bookman Old Style" panose="02050604050505020204" pitchFamily="18" charset="0"/>
              </a:rPr>
              <a:t>может иметь входные данные, над которыми производятся вычисления, а также может иметь выходной результат - одно значение или набор значений. З</a:t>
            </a:r>
            <a:r>
              <a:rPr lang="ru-RU" sz="2400" dirty="0" smtClean="0">
                <a:latin typeface="Bookman Old Style" panose="02050604050505020204" pitchFamily="18" charset="0"/>
              </a:rPr>
              <a:t>адача </a:t>
            </a:r>
            <a:r>
              <a:rPr lang="ru-RU" sz="2400" dirty="0">
                <a:latin typeface="Bookman Old Style" panose="02050604050505020204" pitchFamily="18" charset="0"/>
              </a:rPr>
              <a:t>алгоритма состоит в преобразовании входных значений в выходные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indent="717550" algn="just">
              <a:lnSpc>
                <a:spcPct val="13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Сложность алгоритмов оценивается по 2 критериям:</a:t>
            </a:r>
          </a:p>
          <a:p>
            <a:pPr marL="723900" indent="-34290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требуемому </a:t>
            </a:r>
            <a:r>
              <a:rPr lang="ru-RU" sz="2400" b="1" dirty="0" smtClean="0">
                <a:latin typeface="Bookman Old Style" panose="02050604050505020204" pitchFamily="18" charset="0"/>
              </a:rPr>
              <a:t>времени</a:t>
            </a:r>
            <a:r>
              <a:rPr lang="ru-RU" sz="2400" dirty="0" smtClean="0">
                <a:latin typeface="Bookman Old Style" panose="02050604050505020204" pitchFamily="18" charset="0"/>
              </a:rPr>
              <a:t> на выполнение,</a:t>
            </a:r>
          </a:p>
          <a:p>
            <a:pPr marL="723900" indent="-34290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требуемой </a:t>
            </a:r>
            <a:r>
              <a:rPr lang="ru-RU" sz="2400" b="1" dirty="0" smtClean="0">
                <a:latin typeface="Bookman Old Style" panose="02050604050505020204" pitchFamily="18" charset="0"/>
              </a:rPr>
              <a:t>памяти</a:t>
            </a:r>
            <a:r>
              <a:rPr lang="ru-RU" sz="2400" dirty="0" smtClean="0">
                <a:latin typeface="Bookman Old Style" panose="02050604050505020204" pitchFamily="18" charset="0"/>
              </a:rPr>
              <a:t> на выполнение.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506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Вычислительная временная сложность (</a:t>
            </a:r>
            <a:r>
              <a:rPr lang="ru-RU" sz="2400" b="1" dirty="0" err="1">
                <a:latin typeface="Bookman Old Style" panose="02050604050505020204" pitchFamily="18" charset="0"/>
              </a:rPr>
              <a:t>time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complexity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 — это максимальное возможное количество выполненных алгоритмом элементарных операций, как функция от размера входных данных.</a:t>
            </a:r>
          </a:p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Вычислительная ёмкостная сложность (</a:t>
            </a:r>
            <a:r>
              <a:rPr lang="ru-RU" sz="2400" b="1" dirty="0" err="1">
                <a:latin typeface="Bookman Old Style" panose="02050604050505020204" pitchFamily="18" charset="0"/>
              </a:rPr>
              <a:t>space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complexity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 — это максимальный возможный размер занятой алгоритмом дополнительной памяти, как функция от размера входных данных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nn-NO" sz="2400" dirty="0" smtClean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nn-NO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nn-NO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nn-NO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nn-NO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i = </a:t>
            </a:r>
            <a:r>
              <a:rPr lang="nn-NO" sz="2400" dirty="0" smtClean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nn-NO" sz="2400" dirty="0">
                <a:solidFill>
                  <a:srgbClr val="000000"/>
                </a:solidFill>
                <a:latin typeface="Consolas" panose="020B0609020204030204" pitchFamily="49" charset="0"/>
              </a:rPr>
              <a:t>; i &lt; n; i++)</a:t>
            </a:r>
          </a:p>
          <a:p>
            <a:r>
              <a:rPr lang="nn-NO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count</a:t>
            </a:r>
            <a:r>
              <a:rPr lang="nn-NO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++;</a:t>
            </a:r>
          </a:p>
          <a:p>
            <a:endParaRPr lang="nn-NO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Посчитаем количество элементарных операций</a:t>
            </a:r>
            <a:r>
              <a:rPr lang="ru-RU" sz="2400" b="1" dirty="0" smtClean="0">
                <a:latin typeface="Bookman Old Style" panose="02050604050505020204" pitchFamily="18" charset="0"/>
              </a:rPr>
              <a:t>: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1 для </a:t>
            </a:r>
            <a:r>
              <a:rPr lang="ru-RU" sz="2400" dirty="0" err="1">
                <a:latin typeface="Bookman Old Style" panose="02050604050505020204" pitchFamily="18" charset="0"/>
              </a:rPr>
              <a:t>int</a:t>
            </a:r>
            <a:r>
              <a:rPr lang="ru-RU" sz="2400" dirty="0">
                <a:latin typeface="Bookman Old Style" panose="02050604050505020204" pitchFamily="18" charset="0"/>
              </a:rPr>
              <a:t> i = 0</a:t>
            </a: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n+1 для i &lt; n</a:t>
            </a: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2n для i++ (что эквивалентно i = i + 1, а это две операции: присваивание и сложение)</a:t>
            </a: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2n для </a:t>
            </a:r>
            <a:r>
              <a:rPr lang="ru-RU" sz="2400" dirty="0" err="1">
                <a:latin typeface="Bookman Old Style" panose="02050604050505020204" pitchFamily="18" charset="0"/>
              </a:rPr>
              <a:t>сount</a:t>
            </a:r>
            <a:r>
              <a:rPr lang="ru-RU" sz="2400" dirty="0" smtClean="0">
                <a:latin typeface="Bookman Old Style" panose="02050604050505020204" pitchFamily="18" charset="0"/>
              </a:rPr>
              <a:t>++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/>
            <a:endParaRPr lang="en-US" sz="24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Получаем, что </a:t>
            </a:r>
            <a:r>
              <a:rPr lang="ru-RU" sz="2400" dirty="0" smtClean="0">
                <a:latin typeface="Bookman Old Style" panose="02050604050505020204" pitchFamily="18" charset="0"/>
              </a:rPr>
              <a:t>временная </a:t>
            </a:r>
            <a:r>
              <a:rPr lang="ru-RU" sz="2400" dirty="0">
                <a:latin typeface="Bookman Old Style" panose="02050604050505020204" pitchFamily="18" charset="0"/>
              </a:rPr>
              <a:t>сложность алгоритма </a:t>
            </a:r>
            <a:r>
              <a:rPr lang="ru-RU" sz="2400" dirty="0" smtClean="0">
                <a:latin typeface="Bookman Old Style" panose="02050604050505020204" pitchFamily="18" charset="0"/>
              </a:rPr>
              <a:t>C(n</a:t>
            </a:r>
            <a:r>
              <a:rPr lang="ru-RU" sz="2400" dirty="0">
                <a:latin typeface="Bookman Old Style" panose="02050604050505020204" pitchFamily="18" charset="0"/>
              </a:rPr>
              <a:t>)=2+5n.</a:t>
            </a:r>
          </a:p>
        </p:txBody>
      </p:sp>
    </p:spTree>
    <p:extLst>
      <p:ext uri="{BB962C8B-B14F-4D97-AF65-F5344CB8AC3E}">
        <p14:creationId xmlns:p14="http://schemas.microsoft.com/office/powerpoint/2010/main" val="1482312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И ещё один пример посложнее, перед тем как перейти к долгожданной O-нотации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while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&lt; n)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j = </a:t>
            </a:r>
            <a:r>
              <a:rPr lang="en-US" sz="2400" dirty="0" smtClean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j &lt; 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j++)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count++;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++;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pt-BR" sz="2400" dirty="0" smtClean="0"/>
          </a:p>
          <a:p>
            <a:r>
              <a:rPr lang="pt-BR" sz="2400" dirty="0" smtClean="0">
                <a:latin typeface="Bookman Old Style" panose="02050604050505020204" pitchFamily="18" charset="0"/>
              </a:rPr>
              <a:t>Итого</a:t>
            </a:r>
            <a:r>
              <a:rPr lang="pt-BR" sz="2400" dirty="0">
                <a:latin typeface="Bookman Old Style" panose="02050604050505020204" pitchFamily="18" charset="0"/>
              </a:rPr>
              <a:t>, сложность </a:t>
            </a:r>
            <a:r>
              <a:rPr lang="pt-BR" sz="2400" i="1" dirty="0" smtClean="0">
                <a:latin typeface="Bookman Old Style" panose="02050604050505020204" pitchFamily="18" charset="0"/>
              </a:rPr>
              <a:t>C</a:t>
            </a:r>
            <a:r>
              <a:rPr lang="pt-BR" sz="2400" dirty="0" smtClean="0">
                <a:latin typeface="Bookman Old Style" panose="02050604050505020204" pitchFamily="18" charset="0"/>
              </a:rPr>
              <a:t>(</a:t>
            </a:r>
            <a:r>
              <a:rPr lang="pt-BR" sz="2400" i="1" dirty="0" smtClean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)=1+(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+1)+2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+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(1+(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+1)+2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+2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)=</a:t>
            </a:r>
            <a:r>
              <a:rPr lang="pt-BR" sz="2400" dirty="0" smtClean="0">
                <a:latin typeface="Bookman Old Style" panose="02050604050505020204" pitchFamily="18" charset="0"/>
              </a:rPr>
              <a:t>2+5</a:t>
            </a:r>
            <a:r>
              <a:rPr lang="pt-BR" sz="2400" i="1" dirty="0" smtClean="0">
                <a:latin typeface="Bookman Old Style" panose="02050604050505020204" pitchFamily="18" charset="0"/>
              </a:rPr>
              <a:t>n</a:t>
            </a:r>
            <a:r>
              <a:rPr lang="pt-BR" sz="2400" dirty="0" smtClean="0">
                <a:latin typeface="Bookman Old Style" panose="02050604050505020204" pitchFamily="18" charset="0"/>
              </a:rPr>
              <a:t>+5</a:t>
            </a:r>
            <a:r>
              <a:rPr lang="pt-BR" sz="2400" i="1" dirty="0" smtClean="0">
                <a:latin typeface="Bookman Old Style" panose="02050604050505020204" pitchFamily="18" charset="0"/>
              </a:rPr>
              <a:t>n</a:t>
            </a:r>
            <a:r>
              <a:rPr lang="pt-BR" sz="2400" baseline="30000" dirty="0" smtClean="0">
                <a:latin typeface="Bookman Old Style" panose="02050604050505020204" pitchFamily="18" charset="0"/>
              </a:rPr>
              <a:t>2</a:t>
            </a:r>
            <a:endParaRPr lang="en-US" sz="2400" baseline="300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5559136" y="673090"/>
            <a:ext cx="6421583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Посчитаем функцию сложности: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i = 0 выполнится лишь однажды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i&lt;n внутри </a:t>
            </a:r>
            <a:r>
              <a:rPr lang="ru-RU" sz="2400" dirty="0" err="1">
                <a:latin typeface="Bookman Old Style" panose="02050604050505020204" pitchFamily="18" charset="0"/>
              </a:rPr>
              <a:t>while</a:t>
            </a:r>
            <a:r>
              <a:rPr lang="ru-RU" sz="2400" dirty="0">
                <a:latin typeface="Bookman Old Style" panose="02050604050505020204" pitchFamily="18" charset="0"/>
              </a:rPr>
              <a:t> выполнится n+1 раз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i+=1 выполнится n раз (+= это две элементарные операции)</a:t>
            </a:r>
          </a:p>
          <a:p>
            <a:pPr algn="just"/>
            <a:endParaRPr lang="en-US" sz="24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цикл </a:t>
            </a:r>
            <a:r>
              <a:rPr lang="ru-RU" sz="2400" dirty="0" err="1">
                <a:latin typeface="Bookman Old Style" panose="02050604050505020204" pitchFamily="18" charset="0"/>
              </a:rPr>
              <a:t>for</a:t>
            </a:r>
            <a:r>
              <a:rPr lang="ru-RU" sz="2400" dirty="0">
                <a:latin typeface="Bookman Old Style" panose="02050604050505020204" pitchFamily="18" charset="0"/>
              </a:rPr>
              <a:t> начнет выполняться n раз и каждый раз: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j=0 выполнится один раз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j&lt;n выполнится n+1 раз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j++ выполнится n раз (++ это две элементарные операции)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ru-RU" sz="2400" dirty="0" err="1">
                <a:latin typeface="Bookman Old Style" panose="02050604050505020204" pitchFamily="18" charset="0"/>
              </a:rPr>
              <a:t>count</a:t>
            </a:r>
            <a:r>
              <a:rPr lang="ru-RU" sz="2400" dirty="0">
                <a:latin typeface="Bookman Old Style" panose="02050604050505020204" pitchFamily="18" charset="0"/>
              </a:rPr>
              <a:t>++ выполнится n </a:t>
            </a:r>
            <a:r>
              <a:rPr lang="ru-RU" sz="2400" dirty="0" smtClean="0">
                <a:latin typeface="Bookman Old Style" panose="02050604050505020204" pitchFamily="18" charset="0"/>
              </a:rPr>
              <a:t>раз</a:t>
            </a:r>
            <a:r>
              <a:rPr lang="en-US" sz="2400" dirty="0" smtClean="0">
                <a:latin typeface="Bookman Old Style" panose="02050604050505020204" pitchFamily="18" charset="0"/>
              </a:rPr>
              <a:t/>
            </a:r>
            <a:br>
              <a:rPr lang="en-US" sz="2400" dirty="0" smtClean="0">
                <a:latin typeface="Bookman Old Style" panose="02050604050505020204" pitchFamily="18" charset="0"/>
              </a:rPr>
            </a:br>
            <a:r>
              <a:rPr lang="ru-RU" sz="2400" dirty="0" smtClean="0">
                <a:latin typeface="Bookman Old Style" panose="02050604050505020204" pitchFamily="18" charset="0"/>
              </a:rPr>
              <a:t>(++ </a:t>
            </a:r>
            <a:r>
              <a:rPr lang="ru-RU" sz="2400" dirty="0">
                <a:latin typeface="Bookman Old Style" panose="02050604050505020204" pitchFamily="18" charset="0"/>
              </a:rPr>
              <a:t>это две элементарные операции)</a:t>
            </a:r>
            <a:endParaRPr lang="ru-RU" sz="2400" b="0" i="0" dirty="0"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089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Для реального кода вычислительная сложность может быть крайне сложной функцией!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Кроме </a:t>
            </a:r>
            <a:r>
              <a:rPr lang="ru-RU" sz="2400" dirty="0">
                <a:latin typeface="Bookman Old Style" panose="02050604050505020204" pitchFamily="18" charset="0"/>
              </a:rPr>
              <a:t>того, легко ошибиться в расчетах и забыть какое-нибудь из слагаемых.</a:t>
            </a: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С другой стороны, есть множество причин, почему нет смысла считать точный вид функции сложности:</a:t>
            </a:r>
          </a:p>
          <a:p>
            <a:pPr algn="just"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Некоторые «элементарные» операции, такие как </a:t>
            </a:r>
            <a:r>
              <a:rPr lang="ru-RU" sz="2400" dirty="0" err="1">
                <a:latin typeface="Bookman Old Style" panose="02050604050505020204" pitchFamily="18" charset="0"/>
              </a:rPr>
              <a:t>sin</a:t>
            </a:r>
            <a:r>
              <a:rPr lang="ru-RU" sz="2400" dirty="0">
                <a:latin typeface="Bookman Old Style" panose="02050604050505020204" pitchFamily="18" charset="0"/>
              </a:rPr>
              <a:t> или квадратный корень более дорогие, а функция сложности это не учитывает.</a:t>
            </a:r>
          </a:p>
          <a:p>
            <a:pPr algn="just"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Стоимость элементарных операций разная на разных процессорах.</a:t>
            </a:r>
          </a:p>
          <a:p>
            <a:pPr algn="just"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Стоимость элементарной операции зависит от контекста выполнения (от кэширования, переключения контекстов, работы конвейера команд у процессора, ...).</a:t>
            </a:r>
          </a:p>
          <a:p>
            <a:pPr algn="just"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Когда код написан на языке высокого уровня (C#, </a:t>
            </a:r>
            <a:r>
              <a:rPr lang="ru-RU" sz="2400" dirty="0" err="1">
                <a:latin typeface="Bookman Old Style" panose="02050604050505020204" pitchFamily="18" charset="0"/>
              </a:rPr>
              <a:t>Python</a:t>
            </a:r>
            <a:r>
              <a:rPr lang="ru-RU" sz="2400" dirty="0"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latin typeface="Bookman Old Style" panose="02050604050505020204" pitchFamily="18" charset="0"/>
              </a:rPr>
              <a:t>JavaScript</a:t>
            </a:r>
            <a:r>
              <a:rPr lang="ru-RU" sz="2400" dirty="0">
                <a:latin typeface="Bookman Old Style" panose="02050604050505020204" pitchFamily="18" charset="0"/>
              </a:rPr>
              <a:t>, ...) есть скрытая стоимость: выделение памяти, сборка мусора, JIT-компиляция и т.п</a:t>
            </a:r>
            <a:r>
              <a:rPr lang="ru-RU" sz="2400" dirty="0" smtClean="0">
                <a:latin typeface="Bookman Old Style" panose="02050604050505020204" pitchFamily="18" charset="0"/>
              </a:rPr>
              <a:t>.)</a:t>
            </a:r>
          </a:p>
          <a:p>
            <a:pPr algn="just">
              <a:buFont typeface="+mj-lt"/>
              <a:buAutoNum type="arabicPeriod"/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Поэтому </a:t>
            </a:r>
            <a:r>
              <a:rPr lang="ru-RU" sz="2400" dirty="0">
                <a:latin typeface="Bookman Old Style" panose="02050604050505020204" pitchFamily="18" charset="0"/>
              </a:rPr>
              <a:t>вместо того, чтобы считать </a:t>
            </a:r>
            <a:r>
              <a:rPr lang="ru-RU" sz="2400" dirty="0" smtClean="0">
                <a:latin typeface="Bookman Old Style" panose="02050604050505020204" pitchFamily="18" charset="0"/>
              </a:rPr>
              <a:t>сложные </a:t>
            </a:r>
            <a:r>
              <a:rPr lang="ru-RU" sz="2400" dirty="0">
                <a:latin typeface="Bookman Old Style" panose="02050604050505020204" pitchFamily="18" charset="0"/>
              </a:rPr>
              <a:t>формулы, инженеры пользуются  </a:t>
            </a:r>
            <a:r>
              <a:rPr lang="ru-RU" sz="2400" i="1" dirty="0">
                <a:latin typeface="Bookman Old Style" panose="02050604050505020204" pitchFamily="18" charset="0"/>
              </a:rPr>
              <a:t>асимптотической оценкой</a:t>
            </a:r>
            <a:r>
              <a:rPr lang="ru-RU" sz="2400" dirty="0">
                <a:latin typeface="Bookman Old Style" panose="02050604050505020204" pitchFamily="18" charset="0"/>
              </a:rPr>
              <a:t> функции сложности.</a:t>
            </a:r>
            <a:endParaRPr lang="ru-RU" sz="2400" b="0" i="0" dirty="0"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5275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Для оценки сложности инженеры обычно пользуются так называемой О-нотацией. Например, говорят «сложность этого алгоритма O(n²) (произносится: о от эн квадрат), а этого Θ(n </a:t>
            </a:r>
            <a:r>
              <a:rPr lang="ru-RU" sz="2400" dirty="0" err="1">
                <a:latin typeface="Bookman Old Style" panose="02050604050505020204" pitchFamily="18" charset="0"/>
              </a:rPr>
              <a:t>log</a:t>
            </a:r>
            <a:r>
              <a:rPr lang="ru-RU" sz="2400" dirty="0">
                <a:latin typeface="Bookman Old Style" panose="02050604050505020204" pitchFamily="18" charset="0"/>
              </a:rPr>
              <a:t>(n)) (произносится: тэта от эн лог эн).</a:t>
            </a: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Если очень кратко — O(n²) означает, что самое быстро растущее слагаемое в функции сложности — это n в степени не более 2, а Θ(n²) — что степень в точности 2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/>
            <a:endParaRPr lang="ru-RU" sz="2400" b="0" i="0" dirty="0">
              <a:effectLst/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Определение 1.</a:t>
            </a:r>
            <a:r>
              <a:rPr lang="ru-RU" sz="2400" dirty="0">
                <a:latin typeface="Bookman Old Style" panose="02050604050505020204" pitchFamily="18" charset="0"/>
              </a:rPr>
              <a:t> Говорят «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=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O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))» </a:t>
            </a:r>
            <a:r>
              <a:rPr lang="ru-RU" sz="2400" dirty="0">
                <a:latin typeface="Bookman Old Style" panose="02050604050505020204" pitchFamily="18" charset="0"/>
              </a:rPr>
              <a:t>тогда и только тогда,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когда ∃</a:t>
            </a:r>
            <a:r>
              <a:rPr lang="en-US" sz="2400" i="1" dirty="0">
                <a:latin typeface="Bookman Old Style" panose="02050604050505020204" pitchFamily="18" charset="0"/>
              </a:rPr>
              <a:t>C</a:t>
            </a:r>
            <a:r>
              <a:rPr lang="en-US" sz="2400" dirty="0">
                <a:latin typeface="Bookman Old Style" panose="02050604050505020204" pitchFamily="18" charset="0"/>
              </a:rPr>
              <a:t>&gt;0,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∃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baseline="-25000" dirty="0">
                <a:latin typeface="Bookman Old Style" panose="02050604050505020204" pitchFamily="18" charset="0"/>
              </a:rPr>
              <a:t>0</a:t>
            </a:r>
            <a:r>
              <a:rPr lang="en-US" sz="2400" dirty="0">
                <a:latin typeface="Bookman Old Style" panose="02050604050505020204" pitchFamily="18" charset="0"/>
              </a:rPr>
              <a:t>​:∀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&gt;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baseline="-25000" dirty="0">
                <a:latin typeface="Bookman Old Style" panose="02050604050505020204" pitchFamily="18" charset="0"/>
              </a:rPr>
              <a:t>0</a:t>
            </a:r>
            <a:r>
              <a:rPr lang="en-US" sz="2400" dirty="0">
                <a:latin typeface="Bookman Old Style" panose="02050604050505020204" pitchFamily="18" charset="0"/>
              </a:rPr>
              <a:t>​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→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&lt;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Cg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Определение 2.</a:t>
            </a:r>
            <a:r>
              <a:rPr lang="ru-RU" sz="2400" dirty="0">
                <a:latin typeface="Bookman Old Style" panose="02050604050505020204" pitchFamily="18" charset="0"/>
              </a:rPr>
              <a:t> Говорят «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=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l-GR" sz="2400" dirty="0">
                <a:latin typeface="Bookman Old Style" panose="02050604050505020204" pitchFamily="18" charset="0"/>
              </a:rPr>
              <a:t>Θ(</a:t>
            </a:r>
            <a:r>
              <a:rPr lang="en-US" sz="2400" i="1" dirty="0">
                <a:latin typeface="Bookman Old Style" panose="02050604050505020204" pitchFamily="18" charset="0"/>
              </a:rPr>
              <a:t>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))» </a:t>
            </a:r>
            <a:r>
              <a:rPr lang="ru-RU" sz="2400" dirty="0">
                <a:latin typeface="Bookman Old Style" panose="02050604050505020204" pitchFamily="18" charset="0"/>
              </a:rPr>
              <a:t>тогда и только тогда, когда 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=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O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)) </a:t>
            </a:r>
            <a:r>
              <a:rPr lang="ru-RU" sz="2400" dirty="0">
                <a:latin typeface="Bookman Old Style" panose="02050604050505020204" pitchFamily="18" charset="0"/>
              </a:rPr>
              <a:t>и одновременно </a:t>
            </a:r>
            <a:r>
              <a:rPr lang="en-US" sz="2400" i="1" dirty="0">
                <a:latin typeface="Bookman Old Style" panose="02050604050505020204" pitchFamily="18" charset="0"/>
              </a:rPr>
              <a:t>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=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O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))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/>
            <a:endParaRPr lang="ru-RU" sz="2400" dirty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Как видно Θ — более точная и, соответственно, более предпочтительная оценка, чем О-большое. </a:t>
            </a:r>
          </a:p>
        </p:txBody>
      </p:sp>
    </p:spTree>
    <p:extLst>
      <p:ext uri="{BB962C8B-B14F-4D97-AF65-F5344CB8AC3E}">
        <p14:creationId xmlns:p14="http://schemas.microsoft.com/office/powerpoint/2010/main" val="17588981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92497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Пример.</a:t>
            </a:r>
          </a:p>
          <a:p>
            <a:pPr algn="just"/>
            <a:endParaRPr lang="ru-RU" sz="2400" dirty="0" smtClean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algn="just"/>
            <a:r>
              <a:rPr lang="en-US" sz="2400" dirty="0" err="1" smtClean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algn="just"/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while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&lt; n)</a:t>
            </a:r>
          </a:p>
          <a:p>
            <a:pPr algn="just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algn="just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j=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j&lt;n-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j++)</a:t>
            </a:r>
          </a:p>
          <a:p>
            <a:pPr algn="just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count++;</a:t>
            </a:r>
          </a:p>
          <a:p>
            <a:pPr algn="just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++;</a:t>
            </a:r>
          </a:p>
          <a:p>
            <a:pPr algn="just"/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algn="just"/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/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Заметим, что </a:t>
            </a:r>
            <a:r>
              <a:rPr lang="ru-RU" sz="2400" dirty="0" err="1">
                <a:latin typeface="Bookman Old Style" panose="02050604050505020204" pitchFamily="18" charset="0"/>
              </a:rPr>
              <a:t>count</a:t>
            </a:r>
            <a:r>
              <a:rPr lang="ru-RU" sz="2400" dirty="0">
                <a:latin typeface="Bookman Old Style" panose="02050604050505020204" pitchFamily="18" charset="0"/>
              </a:rPr>
              <a:t>++ выполняется чуть меньше n² раз. Не точно n², потому что i начинается с 1, а не с нуля, да и внутренний цикл до n-2. Однако опытный инженер даже не будет пытаться учитывать эти константы — он и так знает, что в итоге будет квадратичная оценка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Оценка сложности алгоритма </a:t>
            </a:r>
            <a:r>
              <a:rPr lang="en-US" sz="2400" dirty="0" smtClean="0">
                <a:latin typeface="Bookman Old Style" panose="02050604050505020204" pitchFamily="18" charset="0"/>
              </a:rPr>
              <a:t>O(n</a:t>
            </a:r>
            <a:r>
              <a:rPr lang="en-US" sz="2400" baseline="30000" dirty="0" smtClean="0">
                <a:latin typeface="Bookman Old Style" panose="02050604050505020204" pitchFamily="18" charset="0"/>
              </a:rPr>
              <a:t>2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5080000" y="0"/>
            <a:ext cx="7112000" cy="3970318"/>
          </a:xfrm>
          <a:prstGeom prst="rect">
            <a:avLst/>
          </a:prstGeom>
        </p:spPr>
        <p:txBody>
          <a:bodyPr wrap="square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Попробуем сходу найти самую «горячую» операцию — ту, которая выполняется больше всего раз. Чаще всего такая операция находится внутри самого вложенного цикла. В нашем случае это </a:t>
            </a:r>
            <a:r>
              <a:rPr lang="ru-RU" sz="2400" dirty="0" err="1">
                <a:latin typeface="Bookman Old Style" panose="02050604050505020204" pitchFamily="18" charset="0"/>
              </a:rPr>
              <a:t>count</a:t>
            </a:r>
            <a:r>
              <a:rPr lang="ru-RU" sz="2400" dirty="0">
                <a:latin typeface="Bookman Old Style" panose="02050604050505020204" pitchFamily="18" charset="0"/>
              </a:rPr>
              <a:t>++. Ну или j++ внутри </a:t>
            </a:r>
            <a:r>
              <a:rPr lang="ru-RU" sz="2400" dirty="0" err="1">
                <a:latin typeface="Bookman Old Style" panose="02050604050505020204" pitchFamily="18" charset="0"/>
              </a:rPr>
              <a:t>for</a:t>
            </a:r>
            <a:r>
              <a:rPr lang="ru-RU" sz="2400" dirty="0">
                <a:latin typeface="Bookman Old Style" panose="02050604050505020204" pitchFamily="18" charset="0"/>
              </a:rPr>
              <a:t> — не важно, можно взять любую из них.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8362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F0AB4488-D912-4AAA-A613-2985EDFB547D}"/>
              </a:ext>
            </a:extLst>
          </p:cNvPr>
          <p:cNvSpPr txBox="1"/>
          <p:nvPr/>
        </p:nvSpPr>
        <p:spPr>
          <a:xfrm>
            <a:off x="0" y="660143"/>
            <a:ext cx="12191999" cy="4524315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i="0" dirty="0" smtClean="0">
                <a:effectLst/>
                <a:latin typeface="Bookman Old Style" panose="02050604050505020204" pitchFamily="18" charset="0"/>
              </a:rPr>
              <a:t>Какая оценка сложности данного алгоритма?</a:t>
            </a:r>
            <a:endParaRPr lang="en-US" sz="2400" i="0" dirty="0" smtClean="0">
              <a:effectLst/>
              <a:latin typeface="Bookman Old Style" panose="02050604050505020204" pitchFamily="18" charset="0"/>
            </a:endParaRPr>
          </a:p>
          <a:p>
            <a:pPr algn="just"/>
            <a:endParaRPr lang="en-US" sz="2400" dirty="0">
              <a:solidFill>
                <a:srgbClr val="212121"/>
              </a:solidFill>
              <a:latin typeface="Bookman Old Style" panose="02050604050505020204" pitchFamily="18" charset="0"/>
            </a:endParaRPr>
          </a:p>
          <a:p>
            <a:pPr algn="just"/>
            <a:endParaRPr lang="en-US" sz="2400" i="0" dirty="0" smtClean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 =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.Parse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Console.ReadLine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());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sum = 0.0;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n; i++)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sum += n;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(sum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1335099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F0AB4488-D912-4AAA-A613-2985EDFB547D}"/>
              </a:ext>
            </a:extLst>
          </p:cNvPr>
          <p:cNvSpPr txBox="1"/>
          <p:nvPr/>
        </p:nvSpPr>
        <p:spPr>
          <a:xfrm>
            <a:off x="0" y="703685"/>
            <a:ext cx="12192000" cy="4524315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ru-RU" sz="2400" dirty="0">
                <a:latin typeface="Bookman Old Style" panose="02050604050505020204" pitchFamily="18" charset="0"/>
              </a:rPr>
              <a:t>Какая оценка сложности данного алгоритма?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ru-RU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 =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.Parse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Console.ReadLine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sum = 0.0;</a:t>
            </a:r>
          </a:p>
          <a:p>
            <a:endParaRPr lang="nn-NO" sz="2400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n; i++)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	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j = 0; j &lt; n; j++)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	sum += n;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65841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xmlns="" id="{BF812F1D-119B-4710-A9EA-C5989C91D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62" y="167344"/>
            <a:ext cx="6565127" cy="65233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90E7331F-F70E-4819-A964-4DF6F7DEE568}"/>
              </a:ext>
            </a:extLst>
          </p:cNvPr>
          <p:cNvSpPr txBox="1"/>
          <p:nvPr/>
        </p:nvSpPr>
        <p:spPr>
          <a:xfrm>
            <a:off x="3294349" y="3340293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O(n)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25227CD6-7EBF-4172-8EA7-2BDFCEEE8F57}"/>
              </a:ext>
            </a:extLst>
          </p:cNvPr>
          <p:cNvSpPr txBox="1"/>
          <p:nvPr/>
        </p:nvSpPr>
        <p:spPr>
          <a:xfrm>
            <a:off x="3294348" y="4875755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O(log(n))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BC6EB0EC-E476-4AC6-8D92-DE3F785DB877}"/>
              </a:ext>
            </a:extLst>
          </p:cNvPr>
          <p:cNvSpPr txBox="1"/>
          <p:nvPr/>
        </p:nvSpPr>
        <p:spPr>
          <a:xfrm>
            <a:off x="2403850" y="2116046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O(n*log(n))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10F1195E-FE7D-40C0-8FF7-4FC6EFBFFB2C}"/>
              </a:ext>
            </a:extLst>
          </p:cNvPr>
          <p:cNvSpPr txBox="1"/>
          <p:nvPr/>
        </p:nvSpPr>
        <p:spPr>
          <a:xfrm>
            <a:off x="346367" y="4099685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O(n</a:t>
            </a:r>
            <a:r>
              <a:rPr lang="en-US" sz="2400" b="1" i="0" baseline="3000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2</a:t>
            </a:r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xmlns="" id="{B07C1F24-B9EF-4185-9064-DA1FA1308064}"/>
              </a:ext>
            </a:extLst>
          </p:cNvPr>
          <p:cNvSpPr txBox="1"/>
          <p:nvPr/>
        </p:nvSpPr>
        <p:spPr>
          <a:xfrm>
            <a:off x="1557271" y="2949866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O(n!)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xmlns="" id="{4B3D788B-44BB-4308-92B8-C92939E2C834}"/>
              </a:ext>
            </a:extLst>
          </p:cNvPr>
          <p:cNvSpPr txBox="1"/>
          <p:nvPr/>
        </p:nvSpPr>
        <p:spPr>
          <a:xfrm>
            <a:off x="6771189" y="5419"/>
            <a:ext cx="5420812" cy="3733669"/>
          </a:xfrm>
          <a:prstGeom prst="rect">
            <a:avLst/>
          </a:prstGeom>
          <a:noFill/>
        </p:spPr>
        <p:txBody>
          <a:bodyPr wrap="square" lIns="360000" tIns="360000" rIns="360000">
            <a:spAutoFit/>
          </a:bodyPr>
          <a:lstStyle/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Скорость роста </a:t>
            </a:r>
            <a:r>
              <a:rPr lang="ru-RU" sz="2400" dirty="0">
                <a:latin typeface="Bookman Old Style" panose="02050604050505020204" pitchFamily="18" charset="0"/>
              </a:rPr>
              <a:t>наиболее</a:t>
            </a: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популярных функций</a:t>
            </a:r>
          </a:p>
          <a:p>
            <a:pPr algn="just"/>
            <a:endParaRPr lang="ru-RU" sz="2400" dirty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Важно внимательно подходить к выбору алгоритма, особенно если критично время выполнения расчета.</a:t>
            </a:r>
          </a:p>
          <a:p>
            <a:pPr algn="just"/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1370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0" y="629674"/>
            <a:ext cx="12192000" cy="357020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lang="ru-RU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Коллекция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совокупность объектов (значений переменных). Отличается от массивов дополнительными функциями и гибкостью.</a:t>
            </a:r>
          </a:p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lang="ru-RU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Виды коллекций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: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List, LinkedList, Stack, Queue, HashSet, </a:t>
            </a:r>
            <a:r>
              <a:rPr lang="en-US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Dictionary</a:t>
            </a:r>
            <a:endParaRPr lang="ru-RU" sz="2400" dirty="0" smtClean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List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список однотипных объектов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.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Основное отличие от массивов – автоматическое увеличение емкости при переполнении. 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Сложность поиска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O(n),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вставка и удаление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O(1)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или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O(n</a:t>
            </a:r>
            <a:r>
              <a:rPr lang="en-US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).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0155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xmlns="" id="{B39FAD8A-D72C-485D-976F-2EF886D06657}"/>
              </a:ext>
            </a:extLst>
          </p:cNvPr>
          <p:cNvSpPr/>
          <p:nvPr/>
        </p:nvSpPr>
        <p:spPr>
          <a:xfrm>
            <a:off x="4781551" y="3156537"/>
            <a:ext cx="7410450" cy="372717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Add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добавление элемента в список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Remove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удалить первый попавшийся элемент с заданным значением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RemoveAll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удалить все элементы с заданным значением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RemoveAt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удалить значение по индексу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Count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количество элементов в массиве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Capacity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вместимость массива.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FB438E15-9A8F-4CD5-8332-02E2F579A84C}"/>
              </a:ext>
            </a:extLst>
          </p:cNvPr>
          <p:cNvSpPr txBox="1"/>
          <p:nvPr/>
        </p:nvSpPr>
        <p:spPr>
          <a:xfrm>
            <a:off x="0" y="0"/>
            <a:ext cx="12192000" cy="4154984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List&lt;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 list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List&lt;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list.Add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(1);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list.Add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(2);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list.Count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list.Capacity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i </a:t>
            </a:r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list)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1946" y="168005"/>
            <a:ext cx="1124107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100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C# Stack with Examples - GeeksforGeeks">
            <a:extLst>
              <a:ext uri="{FF2B5EF4-FFF2-40B4-BE49-F238E27FC236}">
                <a16:creationId xmlns:a16="http://schemas.microsoft.com/office/drawing/2014/main" xmlns="" id="{12D89CCE-66AD-4E76-B0F2-02EC5EDF9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4494" y="2138230"/>
            <a:ext cx="2243160" cy="4719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xmlns="" id="{7B9A6075-3C57-45F2-8B49-725530C20120}"/>
              </a:ext>
            </a:extLst>
          </p:cNvPr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Stack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 представляет коллекцию, которая использует алгоритм LIFO ("последний вошел - первый вышел"). При такой организации каждый следующий добавленный элемент помещается поверх предыдущего. Извлечение из коллекции происходит в обратном порядке - извлекается тот элемент, который находится выше всех в стеке.</a:t>
            </a:r>
            <a:endParaRPr lang="en-US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Сложность поиска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O(n),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вставка и удаление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O(1)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или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O(n).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268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BD19B906-5203-43ED-AE0F-279DD12732BC}"/>
              </a:ext>
            </a:extLst>
          </p:cNvPr>
          <p:cNvSpPr txBox="1"/>
          <p:nvPr/>
        </p:nvSpPr>
        <p:spPr>
          <a:xfrm>
            <a:off x="0" y="12275"/>
            <a:ext cx="9813292" cy="5262979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Stack&lt;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 stack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Stack&lt;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stack.Push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3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stack.Push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5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stack.Count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i </a:t>
            </a:r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stack)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value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stack.Pop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(value);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i </a:t>
            </a:r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stack)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/>
          </a:p>
        </p:txBody>
      </p:sp>
      <p:pic>
        <p:nvPicPr>
          <p:cNvPr id="2052" name="Picture 4" descr="C# Stack with Examples - GeeksforGeeks">
            <a:extLst>
              <a:ext uri="{FF2B5EF4-FFF2-40B4-BE49-F238E27FC236}">
                <a16:creationId xmlns:a16="http://schemas.microsoft.com/office/drawing/2014/main" xmlns="" id="{12D89CCE-66AD-4E76-B0F2-02EC5EDF9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8102" y="1932655"/>
            <a:ext cx="2243160" cy="4719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xmlns="" id="{B39FAD8A-D72C-485D-976F-2EF886D06657}"/>
              </a:ext>
            </a:extLst>
          </p:cNvPr>
          <p:cNvSpPr/>
          <p:nvPr/>
        </p:nvSpPr>
        <p:spPr>
          <a:xfrm>
            <a:off x="6213885" y="4187809"/>
            <a:ext cx="3078464" cy="21748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Push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добавление значения поверх предыдущего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Pop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извлечь верхний элемент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2734" y="702152"/>
            <a:ext cx="1162212" cy="269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010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xmlns="" id="{7B9A6075-3C57-45F2-8B49-725530C20120}"/>
              </a:ext>
            </a:extLst>
          </p:cNvPr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Queue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 представляет обычную очередь, которая работает по алгоритму FIFO ("первый вошел - первый вышел").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Сложность поиска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O(n),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вставка и удаление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O(1)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или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O(n).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  <p:pic>
        <p:nvPicPr>
          <p:cNvPr id="4098" name="Picture 2" descr="C# Queue with Examples - GeeksforGeeks">
            <a:extLst>
              <a:ext uri="{FF2B5EF4-FFF2-40B4-BE49-F238E27FC236}">
                <a16:creationId xmlns:a16="http://schemas.microsoft.com/office/drawing/2014/main" xmlns="" id="{88C7C84D-0F61-4305-96C2-EEBEFE48B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411888"/>
            <a:ext cx="12192000" cy="325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7469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xmlns="" id="{B39FAD8A-D72C-485D-976F-2EF886D06657}"/>
              </a:ext>
            </a:extLst>
          </p:cNvPr>
          <p:cNvSpPr/>
          <p:nvPr/>
        </p:nvSpPr>
        <p:spPr>
          <a:xfrm>
            <a:off x="8352154" y="772785"/>
            <a:ext cx="3078464" cy="25811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Enqueue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добавление значения в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конец коллекции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Dequeue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извлечь первый элемент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BD19B906-5203-43ED-AE0F-279DD12732BC}"/>
              </a:ext>
            </a:extLst>
          </p:cNvPr>
          <p:cNvSpPr txBox="1"/>
          <p:nvPr/>
        </p:nvSpPr>
        <p:spPr>
          <a:xfrm>
            <a:off x="0" y="0"/>
            <a:ext cx="8183485" cy="6001643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Queue&lt;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queue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Queue&lt;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queue.Enqueue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(3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queue.Enqueue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(5);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queue.Count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i </a:t>
            </a:r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queue</a:t>
            </a:r>
            <a:r>
              <a:rPr lang="sv-SE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  <a:endParaRPr lang="sv-SE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value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queue.Dequeue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(value);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i </a:t>
            </a:r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queue</a:t>
            </a:r>
            <a:r>
              <a:rPr lang="sv-SE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  <a:endParaRPr lang="sv-SE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/>
          </a:p>
        </p:txBody>
      </p:sp>
      <p:pic>
        <p:nvPicPr>
          <p:cNvPr id="4098" name="Picture 2" descr="C# Queue with Examples - GeeksforGeeks">
            <a:extLst>
              <a:ext uri="{FF2B5EF4-FFF2-40B4-BE49-F238E27FC236}">
                <a16:creationId xmlns:a16="http://schemas.microsoft.com/office/drawing/2014/main" xmlns="" id="{88C7C84D-0F61-4305-96C2-EEBEFE48B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8083" y="4888282"/>
            <a:ext cx="7383917" cy="1969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157" y="1287144"/>
            <a:ext cx="1152686" cy="269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319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xmlns="" id="{7B9A6075-3C57-45F2-8B49-725530C20120}"/>
              </a:ext>
            </a:extLst>
          </p:cNvPr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Dictionary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 хранит объекты, которые представляют пару ключ-значение.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Сложность поиска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O(1),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вставка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O(1),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удаление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O(1).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xmlns="" id="{B39FAD8A-D72C-485D-976F-2EF886D06657}"/>
              </a:ext>
            </a:extLst>
          </p:cNvPr>
          <p:cNvSpPr/>
          <p:nvPr/>
        </p:nvSpPr>
        <p:spPr>
          <a:xfrm>
            <a:off x="6972300" y="2007316"/>
            <a:ext cx="5219700" cy="3573286"/>
          </a:xfrm>
          <a:prstGeom prst="rect">
            <a:avLst/>
          </a:prstGeom>
        </p:spPr>
        <p:txBody>
          <a:bodyPr wrap="square" rIns="360000">
            <a:spAutoFit/>
          </a:bodyPr>
          <a:lstStyle/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Add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добавление пары ключ-значение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Remove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удалить значение по ключу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ContainsKey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содержит ли словарь заданный ключ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ContainsValue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содержит ли словарь заданное значение.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07316"/>
            <a:ext cx="6972300" cy="4748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256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BD19B906-5203-43ED-AE0F-279DD12732BC}"/>
              </a:ext>
            </a:extLst>
          </p:cNvPr>
          <p:cNvSpPr txBox="1"/>
          <p:nvPr/>
        </p:nvSpPr>
        <p:spPr>
          <a:xfrm>
            <a:off x="0" y="0"/>
            <a:ext cx="12191999" cy="6740307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Dictionary&lt;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&gt;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dictionary =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Dictionary&lt;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,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dictionary.Add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Петя"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170);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dictionary.Add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Вася"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190);</a:t>
            </a:r>
          </a:p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dictionary.Count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(key, value)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dictionary)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{key}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{value}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;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dictionary.ContainsKey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Вася"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dictionary.Remove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Вася"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(key, value)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dictionary)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key}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{value}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;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825" y="745840"/>
            <a:ext cx="5772149" cy="1715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2625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xmlns="" id="{7B9A6075-3C57-45F2-8B49-725530C20120}"/>
              </a:ext>
            </a:extLst>
          </p:cNvPr>
          <p:cNvSpPr/>
          <p:nvPr/>
        </p:nvSpPr>
        <p:spPr>
          <a:xfrm>
            <a:off x="0" y="0"/>
            <a:ext cx="12192000" cy="230832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LinkedList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связанный список (</a:t>
            </a:r>
            <a:r>
              <a:rPr lang="ru-RU" sz="2400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двусвязанный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). Хранит информацию о первом элементе, каждый элемент хранит информацию об элемента до него и после него. Не хранит индексы.</a:t>
            </a:r>
            <a:endParaRPr lang="en-US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Сложность поиска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O(n),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вставка и удаление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O(1).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67" b="12933"/>
          <a:stretch/>
        </p:blipFill>
        <p:spPr>
          <a:xfrm>
            <a:off x="742950" y="2308324"/>
            <a:ext cx="10706100" cy="385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186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xmlns="" id="{B39FAD8A-D72C-485D-976F-2EF886D06657}"/>
              </a:ext>
            </a:extLst>
          </p:cNvPr>
          <p:cNvSpPr/>
          <p:nvPr/>
        </p:nvSpPr>
        <p:spPr>
          <a:xfrm>
            <a:off x="5351860" y="3612924"/>
            <a:ext cx="6113146" cy="265810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AddFirst</a:t>
            </a: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добавление значения в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начало списка</a:t>
            </a:r>
            <a:r>
              <a:rPr lang="en-US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AddAfter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добавить значение после заданного элемента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AddBefore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добавить значение перед заданным элементом.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BD19B906-5203-43ED-AE0F-279DD12732BC}"/>
              </a:ext>
            </a:extLst>
          </p:cNvPr>
          <p:cNvSpPr txBox="1"/>
          <p:nvPr/>
        </p:nvSpPr>
        <p:spPr>
          <a:xfrm>
            <a:off x="0" y="0"/>
            <a:ext cx="12192000" cy="3416320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var list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LinkedList&lt;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first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list.AddFirst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(1);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seconds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list.AddAfter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(first, 2);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list.Count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i </a:t>
            </a:r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list)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9648" y="3612924"/>
            <a:ext cx="1162212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9844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13399</TotalTime>
  <Words>1310</Words>
  <Application>Microsoft Office PowerPoint</Application>
  <PresentationFormat>Широкоэкранный</PresentationFormat>
  <Paragraphs>300</Paragraphs>
  <Slides>32</Slides>
  <Notes>32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32</vt:i4>
      </vt:variant>
    </vt:vector>
  </HeadingPairs>
  <TitlesOfParts>
    <vt:vector size="40" baseType="lpstr">
      <vt:lpstr>Arial</vt:lpstr>
      <vt:lpstr>Bookman Old Style</vt:lpstr>
      <vt:lpstr>Calibri</vt:lpstr>
      <vt:lpstr>Calibri Light</vt:lpstr>
      <vt:lpstr>Cascadia Mono</vt:lpstr>
      <vt:lpstr>Consolas</vt:lpstr>
      <vt:lpstr>Times New Roman</vt:lpstr>
      <vt:lpstr>Тема Office</vt:lpstr>
      <vt:lpstr>Лекция 6. Основы языка C#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m10</cp:lastModifiedBy>
  <cp:revision>694</cp:revision>
  <dcterms:modified xsi:type="dcterms:W3CDTF">2025-11-12T07:11:50Z</dcterms:modified>
</cp:coreProperties>
</file>