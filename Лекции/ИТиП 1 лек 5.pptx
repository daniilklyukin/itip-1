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7"/>
  </p:notesMasterIdLst>
  <p:sldIdLst>
    <p:sldId id="273" r:id="rId2"/>
    <p:sldId id="1024" r:id="rId3"/>
    <p:sldId id="1035" r:id="rId4"/>
    <p:sldId id="1047" r:id="rId5"/>
    <p:sldId id="1039" r:id="rId6"/>
    <p:sldId id="1038" r:id="rId7"/>
    <p:sldId id="1040" r:id="rId8"/>
    <p:sldId id="1041" r:id="rId9"/>
    <p:sldId id="1036" r:id="rId10"/>
    <p:sldId id="1042" r:id="rId11"/>
    <p:sldId id="1043" r:id="rId12"/>
    <p:sldId id="1044" r:id="rId13"/>
    <p:sldId id="1045" r:id="rId14"/>
    <p:sldId id="1046" r:id="rId15"/>
    <p:sldId id="1037" r:id="rId16"/>
    <p:sldId id="1029" r:id="rId17"/>
    <p:sldId id="1030" r:id="rId18"/>
    <p:sldId id="1048" r:id="rId19"/>
    <p:sldId id="1031" r:id="rId20"/>
    <p:sldId id="1050" r:id="rId21"/>
    <p:sldId id="1051" r:id="rId22"/>
    <p:sldId id="1052" r:id="rId23"/>
    <p:sldId id="1049" r:id="rId24"/>
    <p:sldId id="1032" r:id="rId25"/>
    <p:sldId id="103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82523" autoAdjust="0"/>
  </p:normalViewPr>
  <p:slideViewPr>
    <p:cSldViewPr snapToGrid="0">
      <p:cViewPr varScale="1">
        <p:scale>
          <a:sx n="76" d="100"/>
          <a:sy n="76" d="100"/>
        </p:scale>
        <p:origin x="120" y="132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81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58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7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41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09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54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33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9294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230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328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14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910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281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97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576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813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54139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865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68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103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8876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6128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342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8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6511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460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40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15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35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69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35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624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92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76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61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>
                <a:solidFill>
                  <a:srgbClr val="5A5A5A"/>
                </a:solidFill>
                <a:latin typeface="Bookman Old Style" panose="02050604050505020204" pitchFamily="18" charset="0"/>
              </a:rPr>
              <a:t>23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139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35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35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articles/172627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801560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Информационные технологии</a:t>
            </a:r>
            <a:b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</a:br>
            <a:r>
              <a:rPr lang="ru-RU" sz="4800" b="1" dirty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и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468" y="2565531"/>
            <a:ext cx="8978016" cy="1384995"/>
          </a:xfrm>
        </p:spPr>
        <p:txBody>
          <a:bodyPr>
            <a:noAutofit/>
          </a:bodyPr>
          <a:lstStyle/>
          <a:p>
            <a:pPr algn="l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5.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Основы языка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C#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лекции: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ст. преподаватель каф. </a:t>
            </a:r>
            <a:r>
              <a:rPr lang="ru-RU" b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35468" y="3950526"/>
            <a:ext cx="89780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Тип данных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String (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Строки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Основные методы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Проблема сложения строк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StringBuilder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— «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Строитель»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строк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Сравнение скорости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654356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Что это такое?</a:t>
            </a:r>
          </a:p>
          <a:p>
            <a:pPr algn="just">
              <a:lnSpc>
                <a:spcPct val="120000"/>
              </a:lnSpc>
            </a:pP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— это последовательность символов текста. Внутри C# строка представляет собой массив символов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char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, доступных только для чтения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lnSpc>
                <a:spcPct val="120000"/>
              </a:lnSpc>
            </a:pP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Основные особенности строк в .NET: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Они являются ссылочными типами.</a:t>
            </a:r>
          </a:p>
          <a:p>
            <a:pPr marL="457200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Они неизменяемы. Однажды, создав строку, мы больше не можем ее изменить (честным способом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).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marL="457200" indent="-457200" algn="just">
              <a:lnSpc>
                <a:spcPct val="120000"/>
              </a:lnSpc>
              <a:buFont typeface="+mj-lt"/>
              <a:buAutoNum type="arabicPeriod"/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При сравнении сравниваются значения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символов в строках.</a:t>
            </a:r>
          </a:p>
          <a:p>
            <a:pPr algn="just">
              <a:lnSpc>
                <a:spcPct val="120000"/>
              </a:lnSpc>
            </a:pP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Тип данных 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String (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Строки)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1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374956"/>
            <a:ext cx="12192000" cy="6001643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Со строками можно работать как с массивом символов, </a:t>
            </a:r>
            <a:r>
              <a:rPr lang="ru-RU" sz="2400" dirty="0" err="1" smtClean="0">
                <a:latin typeface="Bookman Old Style" panose="02050604050505020204" pitchFamily="18" charset="0"/>
              </a:rPr>
              <a:t>т.е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en-US" sz="2400" dirty="0" smtClean="0">
                <a:latin typeface="Consolas" panose="020B0609020204030204" pitchFamily="49" charset="0"/>
              </a:rPr>
              <a:t> </a:t>
            </a:r>
            <a:r>
              <a:rPr lang="en-US" sz="2400" dirty="0" err="1" smtClean="0">
                <a:latin typeface="Consolas" panose="020B0609020204030204" pitchFamily="49" charset="0"/>
              </a:rPr>
              <a:t>str</a:t>
            </a:r>
            <a:r>
              <a:rPr lang="en-US" sz="2400" dirty="0" smtClean="0">
                <a:latin typeface="Consolas" panose="020B0609020204030204" pitchFamily="49" charset="0"/>
              </a:rPr>
              <a:t> = </a:t>
            </a:r>
            <a:r>
              <a:rPr lang="en-US" sz="2400" b="1" dirty="0" smtClean="0">
                <a:latin typeface="Consolas" panose="020B0609020204030204" pitchFamily="49" charset="0"/>
              </a:rPr>
              <a:t>“</a:t>
            </a:r>
            <a:r>
              <a:rPr lang="ru-RU" sz="2400" b="1" dirty="0" smtClean="0">
                <a:latin typeface="Consolas" panose="020B0609020204030204" pitchFamily="49" charset="0"/>
              </a:rPr>
              <a:t>Это строка</a:t>
            </a:r>
            <a:r>
              <a:rPr lang="en-US" sz="2400" b="1" dirty="0" smtClean="0">
                <a:latin typeface="Consolas" panose="020B0609020204030204" pitchFamily="49" charset="0"/>
              </a:rPr>
              <a:t>”</a:t>
            </a:r>
            <a:r>
              <a:rPr lang="en-US" sz="2400" dirty="0" smtClean="0">
                <a:latin typeface="Consolas" panose="020B0609020204030204" pitchFamily="49" charset="0"/>
              </a:rPr>
              <a:t>;</a:t>
            </a: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ru-RU" sz="2400" dirty="0">
                <a:latin typeface="Bookman Old Style" panose="02050604050505020204" pitchFamily="18" charset="0"/>
              </a:rPr>
              <a:t>Можно обратиться к символу строки как к элементу массива:</a:t>
            </a:r>
          </a:p>
          <a:p>
            <a:r>
              <a:rPr lang="en-US" sz="2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 smtClean="0">
                <a:latin typeface="Consolas" panose="020B0609020204030204" pitchFamily="49" charset="0"/>
              </a:rPr>
              <a:t>.WriteLine</a:t>
            </a:r>
            <a:r>
              <a:rPr lang="en-US" sz="2400" dirty="0" smtClean="0">
                <a:latin typeface="Consolas" panose="020B0609020204030204" pitchFamily="49" charset="0"/>
              </a:rPr>
              <a:t>(</a:t>
            </a:r>
            <a:r>
              <a:rPr lang="en-US" sz="2400" dirty="0" err="1" smtClean="0">
                <a:latin typeface="Consolas" panose="020B0609020204030204" pitchFamily="49" charset="0"/>
              </a:rPr>
              <a:t>str</a:t>
            </a:r>
            <a:r>
              <a:rPr lang="en-US" sz="2400" dirty="0" smtClean="0">
                <a:latin typeface="Consolas" panose="020B0609020204030204" pitchFamily="49" charset="0"/>
              </a:rPr>
              <a:t>[0]); </a:t>
            </a:r>
            <a:r>
              <a:rPr lang="ru-RU" sz="2400" b="1" dirty="0" smtClean="0">
                <a:latin typeface="Consolas" panose="020B0609020204030204" pitchFamily="49" charset="0"/>
              </a:rPr>
              <a:t>Ответ: </a:t>
            </a:r>
            <a:r>
              <a:rPr lang="en-US" sz="2400" b="1" dirty="0" smtClean="0">
                <a:latin typeface="Consolas" panose="020B0609020204030204" pitchFamily="49" charset="0"/>
              </a:rPr>
              <a:t>‘</a:t>
            </a:r>
            <a:r>
              <a:rPr lang="ru-RU" sz="2400" b="1" dirty="0" smtClean="0">
                <a:latin typeface="Consolas" panose="020B0609020204030204" pitchFamily="49" charset="0"/>
              </a:rPr>
              <a:t>Э</a:t>
            </a:r>
            <a:r>
              <a:rPr lang="en-US" sz="2400" b="1" dirty="0" smtClean="0">
                <a:latin typeface="Consolas" panose="020B0609020204030204" pitchFamily="49" charset="0"/>
              </a:rPr>
              <a:t>’</a:t>
            </a:r>
          </a:p>
          <a:p>
            <a:r>
              <a:rPr lang="en-US" sz="2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 smtClean="0">
                <a:latin typeface="Consolas" panose="020B0609020204030204" pitchFamily="49" charset="0"/>
              </a:rPr>
              <a:t>.WriteLine</a:t>
            </a:r>
            <a:r>
              <a:rPr lang="en-US" sz="2400" dirty="0" smtClean="0">
                <a:latin typeface="Consolas" panose="020B0609020204030204" pitchFamily="49" charset="0"/>
              </a:rPr>
              <a:t>(</a:t>
            </a:r>
            <a:r>
              <a:rPr lang="en-US" sz="2400" dirty="0" err="1" smtClean="0">
                <a:latin typeface="Consolas" panose="020B0609020204030204" pitchFamily="49" charset="0"/>
              </a:rPr>
              <a:t>str</a:t>
            </a:r>
            <a:r>
              <a:rPr lang="en-US" sz="2400" dirty="0" smtClean="0">
                <a:latin typeface="Consolas" panose="020B0609020204030204" pitchFamily="49" charset="0"/>
              </a:rPr>
              <a:t>[</a:t>
            </a:r>
            <a:r>
              <a:rPr lang="ru-RU" sz="2400" dirty="0" smtClean="0">
                <a:latin typeface="Consolas" panose="020B0609020204030204" pitchFamily="49" charset="0"/>
              </a:rPr>
              <a:t>3</a:t>
            </a:r>
            <a:r>
              <a:rPr lang="en-US" sz="2400" dirty="0" smtClean="0">
                <a:latin typeface="Consolas" panose="020B0609020204030204" pitchFamily="49" charset="0"/>
              </a:rPr>
              <a:t>]); </a:t>
            </a:r>
            <a:r>
              <a:rPr lang="ru-RU" sz="2400" b="1" dirty="0">
                <a:latin typeface="Consolas" panose="020B0609020204030204" pitchFamily="49" charset="0"/>
              </a:rPr>
              <a:t>Ответ: </a:t>
            </a:r>
            <a:r>
              <a:rPr lang="en-US" sz="2400" b="1" dirty="0" smtClean="0">
                <a:latin typeface="Consolas" panose="020B0609020204030204" pitchFamily="49" charset="0"/>
              </a:rPr>
              <a:t>‘</a:t>
            </a:r>
            <a:r>
              <a:rPr lang="ru-RU" sz="2400" b="1" dirty="0" smtClean="0">
                <a:latin typeface="Consolas" panose="020B0609020204030204" pitchFamily="49" charset="0"/>
              </a:rPr>
              <a:t> </a:t>
            </a:r>
            <a:r>
              <a:rPr lang="en-US" sz="2400" b="1" dirty="0" smtClean="0">
                <a:latin typeface="Consolas" panose="020B0609020204030204" pitchFamily="49" charset="0"/>
              </a:rPr>
              <a:t>’</a:t>
            </a:r>
            <a:endParaRPr lang="en-US" sz="2400" b="1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r>
              <a:rPr lang="ru-RU" sz="2400" dirty="0">
                <a:latin typeface="Bookman Old Style" panose="02050604050505020204" pitchFamily="18" charset="0"/>
              </a:rPr>
              <a:t>Можно узнать длину строки с помощью свойства </a:t>
            </a:r>
            <a:r>
              <a:rPr lang="en-US" sz="2400" dirty="0">
                <a:latin typeface="Bookman Old Style" panose="02050604050505020204" pitchFamily="18" charset="0"/>
              </a:rPr>
              <a:t>Length:</a:t>
            </a:r>
          </a:p>
          <a:p>
            <a:r>
              <a:rPr lang="en-US" sz="2400" dirty="0" err="1" smtClean="0">
                <a:solidFill>
                  <a:srgbClr val="00B0F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 smtClean="0">
                <a:latin typeface="Consolas" panose="020B0609020204030204" pitchFamily="49" charset="0"/>
              </a:rPr>
              <a:t>.WriteLine</a:t>
            </a:r>
            <a:r>
              <a:rPr lang="en-US" sz="2400" dirty="0" smtClean="0">
                <a:latin typeface="Consolas" panose="020B0609020204030204" pitchFamily="49" charset="0"/>
              </a:rPr>
              <a:t>(</a:t>
            </a:r>
            <a:r>
              <a:rPr lang="en-US" sz="2400" dirty="0" err="1" smtClean="0">
                <a:latin typeface="Consolas" panose="020B0609020204030204" pitchFamily="49" charset="0"/>
              </a:rPr>
              <a:t>str.Length</a:t>
            </a:r>
            <a:r>
              <a:rPr lang="en-US" sz="2400" dirty="0" smtClean="0">
                <a:latin typeface="Consolas" panose="020B0609020204030204" pitchFamily="49" charset="0"/>
              </a:rPr>
              <a:t>); </a:t>
            </a:r>
            <a:r>
              <a:rPr lang="ru-RU" sz="2400" b="1" dirty="0">
                <a:latin typeface="Consolas" panose="020B0609020204030204" pitchFamily="49" charset="0"/>
              </a:rPr>
              <a:t>Ответ: </a:t>
            </a:r>
            <a:r>
              <a:rPr lang="ru-RU" sz="2400" b="1" dirty="0" smtClean="0">
                <a:latin typeface="Consolas" panose="020B0609020204030204" pitchFamily="49" charset="0"/>
              </a:rPr>
              <a:t>10</a:t>
            </a:r>
            <a:endParaRPr lang="en-US" sz="2400" b="1" dirty="0">
              <a:latin typeface="Consolas" panose="020B0609020204030204" pitchFamily="49" charset="0"/>
            </a:endParaRPr>
          </a:p>
          <a:p>
            <a:endParaRPr lang="en-US" sz="2400" dirty="0" smtClean="0">
              <a:latin typeface="Consolas" panose="020B0609020204030204" pitchFamily="49" charset="0"/>
            </a:endParaRPr>
          </a:p>
          <a:p>
            <a:r>
              <a:rPr lang="ru-RU" sz="2400" dirty="0">
                <a:latin typeface="Bookman Old Style" panose="02050604050505020204" pitchFamily="18" charset="0"/>
              </a:rPr>
              <a:t>Однако, строки – неизменяемый тип данных, заменить отдельный символ на другой нельзя!</a:t>
            </a:r>
          </a:p>
          <a:p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ru-RU" sz="2400" dirty="0">
                <a:latin typeface="Bookman Old Style" panose="02050604050505020204" pitchFamily="18" charset="0"/>
              </a:rPr>
              <a:t>Существуют методы «замены» символа на другой, но они создают новую строку</a:t>
            </a:r>
            <a:r>
              <a:rPr lang="en-US" sz="2400" dirty="0">
                <a:latin typeface="Bookman Old Style" panose="02050604050505020204" pitchFamily="18" charset="0"/>
              </a:rPr>
              <a:t>:</a:t>
            </a:r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en-US" sz="2400" dirty="0" err="1" smtClean="0">
                <a:latin typeface="Consolas" panose="020B0609020204030204" pitchFamily="49" charset="0"/>
              </a:rPr>
              <a:t>str</a:t>
            </a:r>
            <a:r>
              <a:rPr lang="en-US" sz="2400" dirty="0" smtClean="0">
                <a:latin typeface="Consolas" panose="020B0609020204030204" pitchFamily="49" charset="0"/>
              </a:rPr>
              <a:t> = </a:t>
            </a:r>
            <a:r>
              <a:rPr lang="en-US" sz="2400" dirty="0" err="1" smtClean="0">
                <a:latin typeface="Consolas" panose="020B0609020204030204" pitchFamily="49" charset="0"/>
              </a:rPr>
              <a:t>str.Replace</a:t>
            </a:r>
            <a:r>
              <a:rPr lang="en-US" sz="2400" dirty="0" smtClean="0">
                <a:latin typeface="Consolas" panose="020B0609020204030204" pitchFamily="49" charset="0"/>
              </a:rPr>
              <a:t>(‘</a:t>
            </a:r>
            <a:r>
              <a:rPr lang="ru-RU" sz="2400" dirty="0" smtClean="0">
                <a:latin typeface="Consolas" panose="020B0609020204030204" pitchFamily="49" charset="0"/>
              </a:rPr>
              <a:t>о</a:t>
            </a:r>
            <a:r>
              <a:rPr lang="en-US" sz="2400" dirty="0" smtClean="0">
                <a:latin typeface="Consolas" panose="020B0609020204030204" pitchFamily="49" charset="0"/>
              </a:rPr>
              <a:t>’</a:t>
            </a:r>
            <a:r>
              <a:rPr lang="ru-RU" sz="2400" dirty="0" smtClean="0">
                <a:latin typeface="Consolas" panose="020B0609020204030204" pitchFamily="49" charset="0"/>
              </a:rPr>
              <a:t>, </a:t>
            </a:r>
            <a:r>
              <a:rPr lang="en-US" sz="2400" dirty="0" smtClean="0">
                <a:latin typeface="Consolas" panose="020B0609020204030204" pitchFamily="49" charset="0"/>
              </a:rPr>
              <a:t>‘</a:t>
            </a:r>
            <a:r>
              <a:rPr lang="ru-RU" sz="2400" dirty="0" smtClean="0">
                <a:latin typeface="Consolas" panose="020B0609020204030204" pitchFamily="49" charset="0"/>
              </a:rPr>
              <a:t>а</a:t>
            </a:r>
            <a:r>
              <a:rPr lang="en-US" sz="2400" dirty="0" smtClean="0">
                <a:latin typeface="Consolas" panose="020B0609020204030204" pitchFamily="49" charset="0"/>
              </a:rPr>
              <a:t>’); </a:t>
            </a:r>
            <a:r>
              <a:rPr lang="ru-RU" sz="2400" dirty="0">
                <a:latin typeface="Consolas" panose="020B0609020204030204" pitchFamily="49" charset="0"/>
              </a:rPr>
              <a:t>Ответ: </a:t>
            </a:r>
            <a:r>
              <a:rPr lang="en-US" sz="2400" b="1" dirty="0" smtClean="0">
                <a:latin typeface="Consolas" panose="020B0609020204030204" pitchFamily="49" charset="0"/>
              </a:rPr>
              <a:t>“</a:t>
            </a:r>
            <a:r>
              <a:rPr lang="ru-RU" sz="2400" b="1" dirty="0" smtClean="0">
                <a:latin typeface="Consolas" panose="020B0609020204030204" pitchFamily="49" charset="0"/>
              </a:rPr>
              <a:t>Эта </a:t>
            </a:r>
            <a:r>
              <a:rPr lang="ru-RU" sz="2400" b="1" dirty="0" err="1" smtClean="0">
                <a:latin typeface="Consolas" panose="020B0609020204030204" pitchFamily="49" charset="0"/>
              </a:rPr>
              <a:t>страка</a:t>
            </a:r>
            <a:r>
              <a:rPr lang="en-US" sz="2400" b="1" dirty="0" smtClean="0">
                <a:latin typeface="Consolas" panose="020B0609020204030204" pitchFamily="49" charset="0"/>
              </a:rPr>
              <a:t>”</a:t>
            </a:r>
            <a:endParaRPr lang="en-US" sz="24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200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762000"/>
            <a:ext cx="12192000" cy="3046988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/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Смена регистра</a:t>
            </a:r>
          </a:p>
          <a:p>
            <a:pPr algn="just"/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приведения строки к верхнему и нижнему регистру используются соответственно функции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ToUpper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() и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ToLower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():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/>
            <a:endParaRPr lang="en-US" sz="240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hello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 world!"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hello.ToLower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hello world!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hello.ToUpper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HELLO WORLD!</a:t>
            </a:r>
            <a:endParaRPr lang="ru-RU" sz="240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</p:txBody>
      </p:sp>
      <p:sp>
        <p:nvSpPr>
          <p:cNvPr id="4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Основные методы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61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latin typeface="Bookman Old Style" panose="02050604050505020204" pitchFamily="18" charset="0"/>
              </a:rPr>
              <a:t>Еще </a:t>
            </a:r>
            <a:r>
              <a:rPr lang="ru-RU" sz="2400" dirty="0">
                <a:latin typeface="Bookman Old Style" panose="02050604050505020204" pitchFamily="18" charset="0"/>
              </a:rPr>
              <a:t>одна группа методов позволяет узнать начинается или заканчивается ли строка на определенную подстроку. Для этого предназначены методы </a:t>
            </a:r>
            <a:r>
              <a:rPr lang="ru-RU" sz="2400" b="1" dirty="0" err="1">
                <a:latin typeface="Bookman Old Style" panose="02050604050505020204" pitchFamily="18" charset="0"/>
              </a:rPr>
              <a:t>StartsWith</a:t>
            </a:r>
            <a:r>
              <a:rPr lang="ru-RU" sz="2400" dirty="0">
                <a:latin typeface="Bookman Old Style" panose="02050604050505020204" pitchFamily="18" charset="0"/>
              </a:rPr>
              <a:t> и </a:t>
            </a:r>
            <a:r>
              <a:rPr lang="ru-RU" sz="2400" b="1" dirty="0" err="1">
                <a:latin typeface="Bookman Old Style" panose="02050604050505020204" pitchFamily="18" charset="0"/>
              </a:rPr>
              <a:t>EndsWith</a:t>
            </a:r>
            <a:r>
              <a:rPr lang="ru-RU" sz="2400" dirty="0">
                <a:latin typeface="Bookman Old Style" panose="02050604050505020204" pitchFamily="18" charset="0"/>
              </a:rPr>
              <a:t>. </a:t>
            </a:r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Например</a:t>
            </a:r>
            <a:r>
              <a:rPr lang="ru-RU" sz="2400" dirty="0">
                <a:latin typeface="Bookman Old Style" panose="02050604050505020204" pitchFamily="18" charset="0"/>
              </a:rPr>
              <a:t>, в массиве строк хранится список файлов, и нам надо вывести все файлы с расширением </a:t>
            </a:r>
            <a:r>
              <a:rPr lang="ru-RU" sz="2400" dirty="0" err="1">
                <a:latin typeface="Bookman Old Style" panose="02050604050505020204" pitchFamily="18" charset="0"/>
              </a:rPr>
              <a:t>exe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files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[]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"myapp.exe"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"forest.jpg"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"main.exe"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"book.pdf"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"river.png"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files.Length; i</a:t>
            </a:r>
            <a:r>
              <a:rPr lang="nn-NO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++)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(files[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].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EndsWith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".exe"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(files[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]);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170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555641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Поиск в </a:t>
            </a:r>
            <a:r>
              <a:rPr lang="ru-RU" sz="2400" b="1" dirty="0" smtClean="0">
                <a:latin typeface="Bookman Old Style" panose="02050604050505020204" pitchFamily="18" charset="0"/>
              </a:rPr>
              <a:t>строке</a:t>
            </a:r>
            <a:r>
              <a:rPr lang="en-US" sz="2400" b="1" dirty="0" smtClean="0">
                <a:latin typeface="Bookman Old Style" panose="02050604050505020204" pitchFamily="18" charset="0"/>
              </a:rPr>
              <a:t> </a:t>
            </a:r>
            <a:r>
              <a:rPr lang="ru-RU" sz="2400" b="1" dirty="0" smtClean="0">
                <a:latin typeface="Bookman Old Style" panose="02050604050505020204" pitchFamily="18" charset="0"/>
              </a:rPr>
              <a:t>и в массиве</a:t>
            </a: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С помощью метода </a:t>
            </a:r>
            <a:r>
              <a:rPr lang="ru-RU" sz="2400" dirty="0" err="1">
                <a:latin typeface="Bookman Old Style" panose="02050604050505020204" pitchFamily="18" charset="0"/>
              </a:rPr>
              <a:t>IndexOf</a:t>
            </a:r>
            <a:r>
              <a:rPr lang="ru-RU" sz="2400" dirty="0">
                <a:latin typeface="Bookman Old Style" panose="02050604050505020204" pitchFamily="18" charset="0"/>
              </a:rPr>
              <a:t> мы можем определить индекс первого вхождения отдельного символа или подстроки в строке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</a:p>
          <a:p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s1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 world"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'o'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indexOfChar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s1.IndexOf(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равно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4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indexOfChar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substring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wor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indexOfSubstring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s1.IndexOf(substring);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равно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6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indexOfSubstring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Подобным образом действует 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LastIndexOf</a:t>
            </a:r>
            <a:r>
              <a:rPr lang="ru-RU" sz="2400" dirty="0">
                <a:latin typeface="Bookman Old Style" panose="02050604050505020204" pitchFamily="18" charset="0"/>
              </a:rPr>
              <a:t>, только находит индекс последнего вхождения символа или подстроки в строку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Разделение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строк</a:t>
            </a:r>
          </a:p>
          <a:p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С помощью функции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Split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мы можем разделить строку на массив подстрок. В качестве параметра функция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Split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принимает массив символов или строк, которые и будут служить разделителями. Например, подсчитаем количество слов в сроке, разделив ее по пробельным символам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"И поэтому все так произошло"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[] words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text.Split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[] {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 '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});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words)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i="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Это не лучший способ разделения по пробелам, так как во входной строке у нас могло бы быть несколько подряд идущих пробелов и в итоговый массив также бы попадали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пробелы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51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5262979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поэтому лучше использовать другую версию метода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"И поэтому все так произошло"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[] words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text.Split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[] {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 '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}, 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StringSplitOptions.RemoveEmptyEntries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foreach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words)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(s);</a:t>
            </a: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Второй параметр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StringSplitOptions.RemoveEmptyEntries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говорит, что надо удалить все пустые подстроки.</a:t>
            </a:r>
          </a:p>
        </p:txBody>
      </p:sp>
    </p:spTree>
    <p:extLst>
      <p:ext uri="{BB962C8B-B14F-4D97-AF65-F5344CB8AC3E}">
        <p14:creationId xmlns:p14="http://schemas.microsoft.com/office/powerpoint/2010/main" val="3343103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3785652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latin typeface="Bookman Old Style" panose="02050604050505020204" pitchFamily="18" charset="0"/>
              </a:rPr>
              <a:t>Для объединения строк также может использоваться 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Join</a:t>
            </a:r>
            <a:r>
              <a:rPr lang="ru-RU" sz="2400" dirty="0" smtClean="0">
                <a:latin typeface="Bookman Old Style" panose="02050604050505020204" pitchFamily="18" charset="0"/>
              </a:rPr>
              <a:t>: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endParaRPr lang="en-US" sz="2400" b="1" dirty="0" smtClean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s1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Добрый"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s2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день,"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s3 =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"дамы и господа"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s4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"!"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[] values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[] { s1, s2, s3, s4 };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 =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.Join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 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values);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(s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 Добрый день, дамы и господа!</a:t>
            </a:r>
            <a:endParaRPr lang="en-US" sz="2400" b="1" dirty="0">
              <a:latin typeface="Bookman Old Style" panose="020506040505050202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7416" y="4024662"/>
            <a:ext cx="7297168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8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37097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Обрезка 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строки</a:t>
            </a:r>
            <a:endParaRPr lang="en-US" sz="2400" b="1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обрезки начальных или концевых символов используется функция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Trim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text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 hello world 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text.Trim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результат "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hello world"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text.Trim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[] {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'd'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'h'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});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результат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ello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 smtClean="0">
                <a:solidFill>
                  <a:srgbClr val="008000"/>
                </a:solidFill>
                <a:latin typeface="Cascadia Mono" panose="020B0609020000020004" pitchFamily="49" charset="0"/>
              </a:rPr>
              <a:t>worl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“</a:t>
            </a:r>
          </a:p>
          <a:p>
            <a:pPr algn="just"/>
            <a:endParaRPr lang="ru-RU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Функция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Trim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без параметров обрезает начальные и конечные пробелы и возвращает обрезанную строку. Чтобы явным образом указать, какие начальные и конечные символы следует обрезать, мы можем передать в функцию массив этих символов.</a:t>
            </a:r>
          </a:p>
          <a:p>
            <a:pPr algn="just"/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/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Эта функция имеет частичные аналоги: функция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TrimStart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обрезает начальные символы, а функция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TrimEnd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обрезает конечные символы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886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Обрезать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определенную часть строки позволяет функция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Substring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text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Хороший день"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обрезаем начиная с третьего символа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text.Substring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(2);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результат "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роший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день"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(text);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обрезаем сначала до последних двух символов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text.Substring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(0,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text.Length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- 2);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результат "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роший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де"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(text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Функция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Substring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также возвращает обрезанную строку. В качестве параметра первая использованная версия применяет индекс, начиная с которого надо обрезать строку. Вторая версия применяет два параметра - индекс начала обрезки и длину вырезаемой части строки.</a:t>
            </a:r>
          </a:p>
        </p:txBody>
      </p:sp>
    </p:spTree>
    <p:extLst>
      <p:ext uri="{BB962C8B-B14F-4D97-AF65-F5344CB8AC3E}">
        <p14:creationId xmlns:p14="http://schemas.microsoft.com/office/powerpoint/2010/main" val="243229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Вставка</a:t>
            </a:r>
          </a:p>
          <a:p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Для вставки одной строки в другую применяется функция 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Insert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en-US" sz="2400" b="0" i="0" dirty="0">
              <a:solidFill>
                <a:srgbClr val="000000"/>
              </a:solidFill>
              <a:effectLst/>
              <a:latin typeface="-apple-system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text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Хороший день"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substring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замечательный 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text.Insert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(8, substring);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(text);  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Хороший замечательный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день</a:t>
            </a:r>
            <a:endParaRPr lang="en-US" sz="2400" dirty="0" smtClean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endParaRPr lang="en-US" sz="2400" b="0" i="0" dirty="0">
              <a:solidFill>
                <a:srgbClr val="008000"/>
              </a:solidFill>
              <a:effectLst/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Первым параметром в функции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Insert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является индекс, по которому надо вставлять подстроку, а второй параметр - собственно подстрока.</a:t>
            </a:r>
            <a:endParaRPr lang="ru-RU" sz="2400" b="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601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370975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Удаление строк</a:t>
            </a:r>
          </a:p>
          <a:p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Удалить часть строки помогает метод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Remove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endParaRPr lang="en-US" sz="240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text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Хороший день"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индекс последнего символа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text.Length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- 1;</a:t>
            </a: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вырезаем последний символ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text.Remove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ind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(text);  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Хороший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ден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вырезаем первые два символа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text.Remove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(0, 2);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(text);  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роший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err="1" smtClean="0">
                <a:solidFill>
                  <a:srgbClr val="008000"/>
                </a:solidFill>
                <a:latin typeface="Cascadia Mono" panose="020B0609020000020004" pitchFamily="49" charset="0"/>
              </a:rPr>
              <a:t>ден</a:t>
            </a:r>
            <a:endParaRPr lang="en-US" sz="2400" dirty="0" smtClean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endParaRPr lang="en-US" sz="2400" i="0" dirty="0">
              <a:solidFill>
                <a:srgbClr val="008000"/>
              </a:solidFill>
              <a:effectLst/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Первая версия метода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Remove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принимает индекс в строке, начиная с которого надо удалить все символы. Вторая версия принимает еще один параметр - сколько символов надо удалить.</a:t>
            </a:r>
            <a:endParaRPr lang="ru-RU" sz="240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38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pPr algn="just"/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Замена</a:t>
            </a:r>
          </a:p>
          <a:p>
            <a:pPr algn="just"/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Чтобы заменить один символ или подстроку на другую, применяется метод </a:t>
            </a:r>
            <a:r>
              <a:rPr lang="ru-RU" sz="2400" b="1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Replace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/>
            <a:endParaRPr lang="en-US" sz="240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text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хороший день"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text.Replace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хороший"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"плохой"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(text);  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плохой день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text =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text.Replace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о"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(text);    </a:t>
            </a:r>
            <a:r>
              <a:rPr lang="en-US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плхй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день</a:t>
            </a:r>
            <a:endParaRPr lang="en-US" sz="2400" dirty="0" smtClean="0">
              <a:solidFill>
                <a:srgbClr val="008000"/>
              </a:solidFill>
              <a:latin typeface="Cascadia Mono" panose="020B0609020000020004" pitchFamily="49" charset="0"/>
            </a:endParaRPr>
          </a:p>
          <a:p>
            <a:endParaRPr lang="en-US" sz="2400" i="0" dirty="0">
              <a:solidFill>
                <a:srgbClr val="008000"/>
              </a:solidFill>
              <a:effectLst/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Во втором случае применения функции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Replace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строка из одного символа "о" заменяется на пустую строку, то есть фактически удаляется из текста. Подобным способом легко удалять какой-то определенный текст в строках.</a:t>
            </a:r>
            <a:endParaRPr lang="ru-RU" sz="2400" i="0" dirty="0">
              <a:solidFill>
                <a:srgbClr val="000000"/>
              </a:solidFill>
              <a:effectLst/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1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6"/>
          <p:cNvSpPr>
            <a:spLocks noChangeArrowheads="1"/>
          </p:cNvSpPr>
          <p:nvPr/>
        </p:nvSpPr>
        <p:spPr bwMode="auto">
          <a:xfrm>
            <a:off x="6147240" y="1887472"/>
            <a:ext cx="13856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35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DF0FE0-DB9D-4180-8370-CD26FB46DF57}"/>
              </a:ext>
            </a:extLst>
          </p:cNvPr>
          <p:cNvSpPr txBox="1"/>
          <p:nvPr/>
        </p:nvSpPr>
        <p:spPr>
          <a:xfrm>
            <a:off x="0" y="0"/>
            <a:ext cx="12192000" cy="6740307"/>
          </a:xfrm>
          <a:prstGeom prst="rect">
            <a:avLst/>
          </a:prstGeom>
          <a:noFill/>
        </p:spPr>
        <p:txBody>
          <a:bodyPr wrap="square" lIns="360000" rIns="360000">
            <a:spAutoFit/>
          </a:bodyPr>
          <a:lstStyle/>
          <a:p>
            <a:r>
              <a:rPr lang="ru-RU" sz="2400" b="1" dirty="0" smtClean="0">
                <a:latin typeface="Bookman Old Style" panose="02050604050505020204" pitchFamily="18" charset="0"/>
              </a:rPr>
              <a:t>Сравнение</a:t>
            </a:r>
          </a:p>
          <a:p>
            <a:pPr algn="just"/>
            <a:r>
              <a:rPr lang="ru-RU" sz="2400" dirty="0" smtClean="0">
                <a:latin typeface="Bookman Old Style" panose="02050604050505020204" pitchFamily="18" charset="0"/>
              </a:rPr>
              <a:t>Для </a:t>
            </a:r>
            <a:r>
              <a:rPr lang="ru-RU" sz="2400" dirty="0">
                <a:latin typeface="Bookman Old Style" panose="02050604050505020204" pitchFamily="18" charset="0"/>
              </a:rPr>
              <a:t>сравнения </a:t>
            </a:r>
            <a:r>
              <a:rPr lang="ru-RU" sz="2400" dirty="0" smtClean="0">
                <a:latin typeface="Bookman Old Style" panose="02050604050505020204" pitchFamily="18" charset="0"/>
              </a:rPr>
              <a:t>объектов</a:t>
            </a:r>
            <a:r>
              <a:rPr lang="en-US" sz="2400" dirty="0" smtClean="0">
                <a:latin typeface="Bookman Old Style" panose="02050604050505020204" pitchFamily="18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можно применять статический </a:t>
            </a:r>
            <a:r>
              <a:rPr lang="ru-RU" sz="2400" dirty="0">
                <a:latin typeface="Bookman Old Style" panose="02050604050505020204" pitchFamily="18" charset="0"/>
              </a:rPr>
              <a:t>метод </a:t>
            </a:r>
            <a:r>
              <a:rPr lang="ru-RU" sz="2400" b="1" dirty="0" err="1">
                <a:latin typeface="Bookman Old Style" panose="02050604050505020204" pitchFamily="18" charset="0"/>
              </a:rPr>
              <a:t>Compare</a:t>
            </a:r>
            <a:r>
              <a:rPr lang="ru-RU" sz="2400" b="1" dirty="0" smtClean="0">
                <a:latin typeface="Bookman Old Style" panose="02050604050505020204" pitchFamily="18" charset="0"/>
              </a:rPr>
              <a:t>:</a:t>
            </a:r>
            <a:endParaRPr lang="ru-RU" sz="2400" b="1" dirty="0"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s1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"hello"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s2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"world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result = </a:t>
            </a:r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.Compare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(s1, s2);</a:t>
            </a: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(result &lt; 0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($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Строка </a:t>
            </a:r>
            <a:r>
              <a:rPr lang="en-US" sz="2400" dirty="0" smtClean="0">
                <a:latin typeface="Cascadia Mono" panose="020B0609020000020004" pitchFamily="49" charset="0"/>
              </a:rPr>
              <a:t>{s1}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стоит перед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строкой </a:t>
            </a:r>
            <a:r>
              <a:rPr lang="en-US" sz="2400" dirty="0" smtClean="0">
                <a:latin typeface="Cascadia Mono" panose="020B0609020000020004" pitchFamily="49" charset="0"/>
              </a:rPr>
              <a:t>{s2}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(result &gt; 0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$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Строка </a:t>
            </a:r>
            <a:r>
              <a:rPr lang="en-US" sz="2400" dirty="0">
                <a:latin typeface="Cascadia Mono" panose="020B0609020000020004" pitchFamily="49" charset="0"/>
              </a:rPr>
              <a:t>{</a:t>
            </a:r>
            <a:r>
              <a:rPr lang="ru-RU" sz="2400" dirty="0" smtClean="0">
                <a:latin typeface="Cascadia Mono" panose="020B0609020000020004" pitchFamily="49" charset="0"/>
              </a:rPr>
              <a:t>s1</a:t>
            </a:r>
            <a:r>
              <a:rPr lang="en-US" sz="2400" dirty="0" smtClean="0">
                <a:latin typeface="Cascadia Mono" panose="020B0609020000020004" pitchFamily="49" charset="0"/>
              </a:rPr>
              <a:t>}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стоит после строки </a:t>
            </a:r>
            <a:r>
              <a:rPr lang="en-US" sz="2400" dirty="0" smtClean="0">
                <a:latin typeface="Cascadia Mono" panose="020B0609020000020004" pitchFamily="49" charset="0"/>
              </a:rPr>
              <a:t>{</a:t>
            </a:r>
            <a:r>
              <a:rPr lang="ru-RU" sz="2400" dirty="0" smtClean="0">
                <a:latin typeface="Cascadia Mono" panose="020B0609020000020004" pitchFamily="49" charset="0"/>
              </a:rPr>
              <a:t>s2</a:t>
            </a:r>
            <a:r>
              <a:rPr lang="en-US" sz="2400" dirty="0" smtClean="0">
                <a:latin typeface="Cascadia Mono" panose="020B0609020000020004" pitchFamily="49" charset="0"/>
              </a:rPr>
              <a:t>}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smtClean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($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Строки </a:t>
            </a:r>
            <a:r>
              <a:rPr lang="en-US" sz="2400" dirty="0" smtClean="0">
                <a:latin typeface="Cascadia Mono" panose="020B0609020000020004" pitchFamily="49" charset="0"/>
              </a:rPr>
              <a:t>{s1}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и </a:t>
            </a:r>
            <a:r>
              <a:rPr lang="en-US" sz="2400" dirty="0" smtClean="0">
                <a:latin typeface="Cascadia Mono" panose="020B0609020000020004" pitchFamily="49" charset="0"/>
              </a:rPr>
              <a:t>{s2}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идентичны"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результатом будет "Строка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hello 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стоит перед </a:t>
            </a:r>
            <a:r>
              <a:rPr lang="ru-RU" sz="2400" dirty="0">
                <a:solidFill>
                  <a:srgbClr val="008000"/>
                </a:solidFill>
                <a:latin typeface="Cascadia Mono" panose="020B0609020000020004" pitchFamily="49" charset="0"/>
              </a:rPr>
              <a:t>строкой </a:t>
            </a:r>
            <a:r>
              <a:rPr lang="en-US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world</a:t>
            </a:r>
            <a:r>
              <a:rPr lang="ru-RU" sz="2400" dirty="0" smtClean="0">
                <a:solidFill>
                  <a:srgbClr val="008000"/>
                </a:solidFill>
                <a:latin typeface="Cascadia Mono" panose="020B0609020000020004" pitchFamily="49" charset="0"/>
              </a:rPr>
              <a:t>"</a:t>
            </a:r>
          </a:p>
          <a:p>
            <a:pPr algn="just"/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Данная версия метода </a:t>
            </a:r>
            <a:r>
              <a:rPr lang="ru-RU" sz="2400" b="1" dirty="0" err="1" smtClean="0">
                <a:solidFill>
                  <a:srgbClr val="000000"/>
                </a:solidFill>
                <a:latin typeface="Bookman Old Style" panose="02050604050505020204" pitchFamily="18" charset="0"/>
              </a:rPr>
              <a:t>Compare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 принимает две строки и возвращает число. Если первая строка по алфавиту стоит выше второй, то возвращается 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-1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 В противном случае возвращается </a:t>
            </a:r>
            <a:r>
              <a:rPr lang="en-US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1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 И третий случай - если строки равны, то возвращается число 0.</a:t>
            </a:r>
          </a:p>
          <a:p>
            <a:pPr algn="just"/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В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данном случае так как символ h по алфавиту стоит выше символа w, то и первая строка будет стоять выше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en-US" sz="24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7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0" y="0"/>
            <a:ext cx="12192000" cy="680179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 algn="just">
              <a:lnSpc>
                <a:spcPct val="114000"/>
              </a:lnSpc>
            </a:pP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Интернирование строк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— это механизм, при котором одинаковые литералы представляют собой один объект в памяти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 algn="just">
              <a:lnSpc>
                <a:spcPct val="114000"/>
              </a:lnSpc>
            </a:pP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В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рамках процесса 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существует 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одна внутренняя хеш-таблица, ключами которой являются строки, а значениями – ссылки на них. Во время JIT-компиляции литеральные строки последовательно заносятся в таблицу (каждая строка в таблице встречается только один раз). На этапе выполнения ссылки на литеральные строки присваиваются из этой таблицы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14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s1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>
                <a:solidFill>
                  <a:srgbClr val="A31515"/>
                </a:solidFill>
                <a:latin typeface="Consolas" panose="020B0609020204030204" pitchFamily="49" charset="0"/>
              </a:rPr>
              <a:t>habrahabr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4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s2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habrahabr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4000"/>
              </a:lnSpc>
            </a:pP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s3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habra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err="1" smtClean="0">
                <a:solidFill>
                  <a:srgbClr val="A31515"/>
                </a:solidFill>
                <a:latin typeface="Consolas" panose="020B0609020204030204" pitchFamily="49" charset="0"/>
              </a:rPr>
              <a:t>habr</a:t>
            </a:r>
            <a:r>
              <a:rPr lang="en-US" sz="2400" dirty="0" smtClean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;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4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4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ReferenceEquals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s1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s2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));</a:t>
            </a:r>
            <a:r>
              <a:rPr lang="en-US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//true</a:t>
            </a:r>
            <a:endParaRPr lang="en-US" sz="24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4000"/>
              </a:lnSpc>
            </a:pPr>
            <a:r>
              <a:rPr lang="en-US" sz="2400" dirty="0" err="1" smtClean="0">
                <a:solidFill>
                  <a:srgbClr val="001080"/>
                </a:solidFill>
                <a:latin typeface="Consolas" panose="020B0609020204030204" pitchFamily="49" charset="0"/>
              </a:rPr>
              <a:t>Console</a:t>
            </a:r>
            <a:r>
              <a:rPr lang="en-US" sz="24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WriteLine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 smtClean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2400" dirty="0" err="1" smtClean="0">
                <a:solidFill>
                  <a:srgbClr val="222222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 smtClean="0">
                <a:solidFill>
                  <a:srgbClr val="795E26"/>
                </a:solidFill>
                <a:latin typeface="Consolas" panose="020B0609020204030204" pitchFamily="49" charset="0"/>
              </a:rPr>
              <a:t>ReferenceEquals</a:t>
            </a:r>
            <a:r>
              <a:rPr lang="en-US" sz="2400" dirty="0" smtClean="0">
                <a:solidFill>
                  <a:srgbClr val="222222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smtClean="0">
                <a:solidFill>
                  <a:srgbClr val="001080"/>
                </a:solidFill>
                <a:latin typeface="Consolas" panose="020B0609020204030204" pitchFamily="49" charset="0"/>
              </a:rPr>
              <a:t>s1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s3</a:t>
            </a:r>
            <a:r>
              <a:rPr lang="en-US" sz="2400" dirty="0">
                <a:solidFill>
                  <a:srgbClr val="222222"/>
                </a:solidFill>
                <a:latin typeface="Consolas" panose="020B0609020204030204" pitchFamily="49" charset="0"/>
              </a:rPr>
              <a:t>));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en-US" sz="2400" dirty="0" smtClean="0">
                <a:solidFill>
                  <a:srgbClr val="008000"/>
                </a:solidFill>
                <a:latin typeface="Consolas" panose="020B0609020204030204" pitchFamily="49" charset="0"/>
              </a:rPr>
              <a:t>true</a:t>
            </a:r>
          </a:p>
          <a:p>
            <a:pPr algn="just">
              <a:lnSpc>
                <a:spcPct val="114000"/>
              </a:lnSpc>
            </a:pP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Во время компиляции в IL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(intermediate language)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код, компилятор конкатенирует все литеральные строки, так как нет в необходимости содержать их по частям, поэтому 2</a:t>
            </a:r>
            <a:r>
              <a:rPr lang="en-US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-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ое</a:t>
            </a:r>
            <a:r>
              <a:rPr lang="ru-RU" sz="2400" dirty="0">
                <a:solidFill>
                  <a:srgbClr val="000000"/>
                </a:solidFill>
                <a:latin typeface="Bookman Old Style" panose="02050604050505020204" pitchFamily="18" charset="0"/>
              </a:rPr>
              <a:t> равенство возвращает </a:t>
            </a:r>
            <a:r>
              <a:rPr lang="ru-RU" sz="2400" dirty="0" err="1">
                <a:solidFill>
                  <a:srgbClr val="000000"/>
                </a:solidFill>
                <a:latin typeface="Bookman Old Style" panose="02050604050505020204" pitchFamily="18" charset="0"/>
              </a:rPr>
              <a:t>true</a:t>
            </a:r>
            <a:r>
              <a:rPr lang="ru-RU" sz="2400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.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38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Проблема сложения 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строк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654356"/>
            <a:ext cx="12192000" cy="600164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b="1" dirty="0" smtClean="0">
                <a:latin typeface="Bookman Old Style" panose="02050604050505020204" pitchFamily="18" charset="0"/>
              </a:rPr>
              <a:t>Формулировка</a:t>
            </a:r>
            <a:r>
              <a:rPr lang="ru-RU" sz="2400" dirty="0" smtClean="0">
                <a:latin typeface="Bookman Old Style" panose="02050604050505020204" pitchFamily="18" charset="0"/>
              </a:rPr>
              <a:t> проблемы:</a:t>
            </a: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необходимо многократно изменить строку. Например, дописывать символы в цикле.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Рассмотрим как работает конкатенация строк:</a:t>
            </a:r>
          </a:p>
          <a:p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"a"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"b"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+ 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"c"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ru-RU" sz="2400" dirty="0" smtClean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2400" dirty="0" smtClean="0"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Для выполнения данной инструкции будут выполнены действия:</a:t>
            </a:r>
          </a:p>
          <a:p>
            <a:r>
              <a:rPr lang="ru-RU" sz="2400" dirty="0" smtClean="0">
                <a:latin typeface="Bookman Old Style" panose="02050604050505020204" pitchFamily="18" charset="0"/>
              </a:rPr>
              <a:t>1) Сначала выполняется сложение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"a"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b"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,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latin typeface="Bookman Old Style" panose="02050604050505020204" pitchFamily="18" charset="0"/>
              </a:rPr>
              <a:t>для этого </a:t>
            </a:r>
            <a:r>
              <a:rPr lang="ru-RU" sz="2400" dirty="0" smtClean="0">
                <a:latin typeface="Bookman Old Style" panose="02050604050505020204" pitchFamily="18" charset="0"/>
              </a:rPr>
              <a:t>происходит</a:t>
            </a:r>
            <a:endParaRPr lang="en-US" sz="2400" dirty="0"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поиск в памяти непрерывной области для записи строки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“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ab”</a:t>
            </a:r>
            <a:endParaRPr lang="ru-RU" sz="2400" dirty="0" smtClean="0">
              <a:solidFill>
                <a:srgbClr val="A31515"/>
              </a:solidFill>
              <a:latin typeface="Cascadia Mono" panose="020B0609020000020004" pitchFamily="49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2) Создается новая переменная для хранения 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“ab”</a:t>
            </a:r>
            <a:r>
              <a:rPr lang="ru-RU" sz="2400" dirty="0" smtClean="0">
                <a:latin typeface="Bookman Old Style" panose="02050604050505020204" pitchFamily="18" charset="0"/>
              </a:rPr>
              <a:t> в которую посимвольно переписываются левая (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“a”</a:t>
            </a:r>
            <a:r>
              <a:rPr lang="ru-RU" sz="2400" dirty="0">
                <a:latin typeface="Bookman Old Style" panose="02050604050505020204" pitchFamily="18" charset="0"/>
              </a:rPr>
              <a:t>)</a:t>
            </a:r>
            <a:r>
              <a:rPr lang="ru-RU" sz="2400" dirty="0" smtClean="0">
                <a:latin typeface="Bookman Old Style" panose="02050604050505020204" pitchFamily="18" charset="0"/>
              </a:rPr>
              <a:t> и правая </a:t>
            </a:r>
            <a:r>
              <a:rPr lang="ru-RU" sz="2400" dirty="0">
                <a:latin typeface="Bookman Old Style" panose="02050604050505020204" pitchFamily="18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“a”</a:t>
            </a:r>
            <a:r>
              <a:rPr lang="ru-RU" sz="2400" dirty="0">
                <a:latin typeface="Bookman Old Style" panose="02050604050505020204" pitchFamily="18" charset="0"/>
              </a:rPr>
              <a:t>)</a:t>
            </a:r>
            <a:r>
              <a:rPr lang="ru-RU" sz="2400" dirty="0" smtClean="0">
                <a:latin typeface="Bookman Old Style" panose="02050604050505020204" pitchFamily="18" charset="0"/>
              </a:rPr>
              <a:t> строки</a:t>
            </a:r>
          </a:p>
          <a:p>
            <a:r>
              <a:rPr lang="ru-RU" sz="2400" dirty="0" smtClean="0">
                <a:latin typeface="Bookman Old Style" panose="02050604050505020204" pitchFamily="18" charset="0"/>
              </a:rPr>
              <a:t>3) Для следующего сложения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“ab”</a:t>
            </a:r>
            <a:r>
              <a:rPr lang="ru-RU" sz="2400" dirty="0" smtClean="0">
                <a:latin typeface="Bookman Old Style" panose="02050604050505020204" pitchFamily="18" charset="0"/>
              </a:rPr>
              <a:t> и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c"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latin typeface="Bookman Old Style" panose="02050604050505020204" pitchFamily="18" charset="0"/>
              </a:rPr>
              <a:t>предыдущие шаги повторяются.</a:t>
            </a:r>
          </a:p>
          <a:p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ru-RU" sz="2400" dirty="0" smtClean="0">
                <a:latin typeface="Bookman Old Style" panose="02050604050505020204" pitchFamily="18" charset="0"/>
              </a:rPr>
              <a:t>Данные особенности приводят к крайне низкой скорости программы при частой перезаписи строк.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7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18630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>
                <a:solidFill>
                  <a:srgbClr val="1C1C1D"/>
                </a:solidFill>
                <a:latin typeface="Bookman Old Style" panose="02050604050505020204" pitchFamily="18" charset="0"/>
              </a:rPr>
              <a:t>Как мы уже знаем, </a:t>
            </a:r>
            <a:r>
              <a:rPr lang="ru-RU" sz="2400" dirty="0" err="1">
                <a:solidFill>
                  <a:srgbClr val="1C1C1D"/>
                </a:solidFill>
                <a:latin typeface="Bookman Old Style" panose="02050604050505020204" pitchFamily="18" charset="0"/>
              </a:rPr>
              <a:t>string</a:t>
            </a:r>
            <a:r>
              <a:rPr lang="ru-RU" sz="2400" dirty="0">
                <a:solidFill>
                  <a:srgbClr val="1C1C1D"/>
                </a:solidFill>
                <a:latin typeface="Bookman Old Style" panose="02050604050505020204" pitchFamily="18" charset="0"/>
              </a:rPr>
              <a:t> — </a:t>
            </a:r>
            <a:r>
              <a:rPr lang="ru-RU" sz="2400" b="1" dirty="0">
                <a:solidFill>
                  <a:srgbClr val="1C1C1D"/>
                </a:solidFill>
                <a:latin typeface="Bookman Old Style" panose="02050604050505020204" pitchFamily="18" charset="0"/>
              </a:rPr>
              <a:t>неизменяем</a:t>
            </a:r>
            <a:r>
              <a:rPr lang="ru-RU" sz="2400" dirty="0">
                <a:solidFill>
                  <a:srgbClr val="1C1C1D"/>
                </a:solidFill>
                <a:latin typeface="Bookman Old Style" panose="02050604050505020204" pitchFamily="18" charset="0"/>
              </a:rPr>
              <a:t>. Каждое «склеивание» строк через + создает в памяти совершенно новую копию</a:t>
            </a:r>
            <a:r>
              <a:rPr lang="ru-RU" sz="2400" dirty="0" smtClean="0">
                <a:solidFill>
                  <a:srgbClr val="1C1C1D"/>
                </a:solidFill>
                <a:latin typeface="Bookman Old Style" panose="02050604050505020204" pitchFamily="18" charset="0"/>
              </a:rPr>
              <a:t>.</a:t>
            </a:r>
            <a:endParaRPr lang="en-US" sz="2400" dirty="0" smtClean="0">
              <a:solidFill>
                <a:srgbClr val="1C1C1D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 smtClean="0">
              <a:solidFill>
                <a:srgbClr val="1C1C1D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000000"/>
                </a:solidFill>
                <a:latin typeface="Bookman Old Style" panose="02050604050505020204" pitchFamily="18" charset="0"/>
              </a:rPr>
              <a:t>Пример «убийства» памяти</a:t>
            </a:r>
            <a:r>
              <a:rPr lang="ru-RU" sz="2400" b="1" dirty="0" smtClean="0">
                <a:solidFill>
                  <a:srgbClr val="000000"/>
                </a:solidFill>
                <a:latin typeface="Bookman Old Style" panose="02050604050505020204" pitchFamily="18" charset="0"/>
              </a:rPr>
              <a:t>:</a:t>
            </a:r>
            <a:endParaRPr lang="en-US" sz="2400" b="1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400" b="1" dirty="0" smtClean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nn-NO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n-NO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nn-NO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10000; </a:t>
            </a:r>
            <a:r>
              <a:rPr lang="nn-NO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result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+= </a:t>
            </a:r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//Создается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10,000 временных строк!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24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algn="just">
              <a:lnSpc>
                <a:spcPct val="150000"/>
              </a:lnSpc>
            </a:pPr>
            <a:r>
              <a:rPr lang="ru-RU" sz="2400" b="1" dirty="0">
                <a:solidFill>
                  <a:srgbClr val="1C1C1D"/>
                </a:solidFill>
                <a:latin typeface="Bookman Old Style" panose="02050604050505020204" pitchFamily="18" charset="0"/>
              </a:rPr>
              <a:t>Результат:</a:t>
            </a:r>
            <a:r>
              <a:rPr lang="ru-RU" sz="2400" dirty="0">
                <a:solidFill>
                  <a:srgbClr val="1C1C1D"/>
                </a:solidFill>
                <a:latin typeface="Bookman Old Style" panose="02050604050505020204" pitchFamily="18" charset="0"/>
              </a:rPr>
              <a:t> Программа тормозит, оперативная память забивается мусором, процессор занят бесконечным копированием текста</a:t>
            </a:r>
            <a:r>
              <a:rPr lang="ru-RU" sz="2400" dirty="0" smtClean="0">
                <a:solidFill>
                  <a:srgbClr val="1C1C1D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1C1C1D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786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654356"/>
            <a:ext cx="12192000" cy="5078313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 err="1">
                <a:latin typeface="Bookman Old Style" panose="02050604050505020204" pitchFamily="18" charset="0"/>
              </a:rPr>
              <a:t>StringBuilder</a:t>
            </a:r>
            <a:r>
              <a:rPr lang="ru-RU" sz="2400" dirty="0">
                <a:latin typeface="Bookman Old Style" panose="02050604050505020204" pitchFamily="18" charset="0"/>
              </a:rPr>
              <a:t> — это специальный класс, который работает как динамический буфер (черновик). Он позволяет изменять текст напрямую, не создавая новые объекты в памяти</a:t>
            </a:r>
            <a:r>
              <a:rPr lang="ru-RU" sz="2400" dirty="0" smtClean="0">
                <a:latin typeface="Bookman Old Style" panose="02050604050505020204" pitchFamily="18" charset="0"/>
              </a:rPr>
              <a:t>.</a:t>
            </a:r>
            <a:endParaRPr lang="en-US" sz="2400" dirty="0" smtClean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solidFill>
                <a:srgbClr val="000000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b="1" dirty="0">
                <a:solidFill>
                  <a:srgbClr val="1C1C1D"/>
                </a:solidFill>
                <a:latin typeface="Bookman Old Style" panose="02050604050505020204" pitchFamily="18" charset="0"/>
              </a:rPr>
              <a:t>Как это работает:</a:t>
            </a:r>
            <a:endParaRPr lang="ru-RU" sz="2400" dirty="0">
              <a:solidFill>
                <a:srgbClr val="1C1C1D"/>
              </a:solidFill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1C1C1D"/>
                </a:solidFill>
                <a:latin typeface="Bookman Old Style" panose="02050604050505020204" pitchFamily="18" charset="0"/>
              </a:rPr>
              <a:t>Вы создаете объект </a:t>
            </a:r>
            <a:r>
              <a:rPr lang="ru-RU" sz="2400" b="1" dirty="0" err="1">
                <a:solidFill>
                  <a:srgbClr val="1C1C1D"/>
                </a:solidFill>
                <a:latin typeface="Bookman Old Style" panose="02050604050505020204" pitchFamily="18" charset="0"/>
              </a:rPr>
              <a:t>StringBuilder</a:t>
            </a:r>
            <a:r>
              <a:rPr lang="ru-RU" sz="2400" dirty="0">
                <a:solidFill>
                  <a:srgbClr val="1C1C1D"/>
                </a:solidFill>
                <a:latin typeface="Bookman Old Style" panose="02050604050505020204" pitchFamily="18" charset="0"/>
              </a:rPr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1C1C1D"/>
                </a:solidFill>
                <a:latin typeface="Bookman Old Style" panose="02050604050505020204" pitchFamily="18" charset="0"/>
              </a:rPr>
              <a:t>Добавляете в него части текста (он просто дописывает их в конец памяти).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ru-RU" sz="2400" dirty="0">
                <a:solidFill>
                  <a:srgbClr val="1C1C1D"/>
                </a:solidFill>
                <a:latin typeface="Bookman Old Style" panose="02050604050505020204" pitchFamily="18" charset="0"/>
              </a:rPr>
              <a:t>В самом конце превращаете всё это в одну готовую строку</a:t>
            </a:r>
            <a:r>
              <a:rPr lang="ru-RU" sz="2400" dirty="0" smtClean="0">
                <a:solidFill>
                  <a:srgbClr val="1C1C1D"/>
                </a:solidFill>
                <a:latin typeface="Bookman Old Style" panose="02050604050505020204" pitchFamily="18" charset="0"/>
              </a:rPr>
              <a:t>.</a:t>
            </a:r>
            <a:endParaRPr lang="ru-RU" sz="2400" dirty="0">
              <a:solidFill>
                <a:srgbClr val="1C1C1D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800" b="1" dirty="0" err="1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StringBuilder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— «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Строитель» строк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216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154984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ru-RU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System.Text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Нужно подключить это пространство имен!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sb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StringBuilder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nn-NO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nn-NO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&lt; 10000; </a:t>
            </a:r>
            <a:r>
              <a:rPr lang="nn-NO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nn-NO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++)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sb</a:t>
            </a:r>
            <a:r>
              <a:rPr lang="ru-RU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ru-RU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Append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ru-RU" sz="24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</a:t>
            </a:r>
            <a:r>
              <a:rPr lang="ru-RU" sz="24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 </a:t>
            </a:r>
            <a:r>
              <a:rPr lang="ru-RU" sz="2400" dirty="0" smtClean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Текст дописывается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 существующий буфер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finalResult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24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sb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4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ToString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Финальная сборка одной строки</a:t>
            </a:r>
            <a:endParaRPr lang="ru-RU" sz="2400" dirty="0">
              <a:solidFill>
                <a:srgbClr val="1C1C1D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8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364935"/>
              </p:ext>
            </p:extLst>
          </p:nvPr>
        </p:nvGraphicFramePr>
        <p:xfrm>
          <a:off x="1003300" y="433864"/>
          <a:ext cx="10515600" cy="5849242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1889713298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305217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1" dirty="0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Метод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1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Что делает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7502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dirty="0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Append(value)</a:t>
                      </a:r>
                      <a:endParaRPr lang="en-US" sz="2400" b="0" dirty="0">
                        <a:solidFill>
                          <a:srgbClr val="1C1C1D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Добавляет текст в конец.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426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AppendLine(value)</a:t>
                      </a:r>
                      <a:endParaRPr lang="en-US" sz="2400" b="0">
                        <a:solidFill>
                          <a:srgbClr val="1C1C1D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Добавляет текст и переходит на новую строку.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998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Insert(index, value)</a:t>
                      </a:r>
                      <a:endParaRPr lang="en-US" sz="2400" b="0">
                        <a:solidFill>
                          <a:srgbClr val="1C1C1D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Вставляет текст в указанную позицию.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82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Replace(old, new)</a:t>
                      </a:r>
                      <a:endParaRPr lang="en-US" sz="2400" b="0">
                        <a:solidFill>
                          <a:srgbClr val="1C1C1D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Заменяет все вхождения символа или строки.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9518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Clear()</a:t>
                      </a:r>
                      <a:endParaRPr lang="en-US" sz="2400" b="0">
                        <a:solidFill>
                          <a:srgbClr val="1C1C1D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Полностью очищает «черновик».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105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ToString()</a:t>
                      </a:r>
                      <a:endParaRPr lang="en-US" sz="2400" b="0">
                        <a:solidFill>
                          <a:srgbClr val="1C1C1D"/>
                        </a:solidFill>
                        <a:effectLst/>
                        <a:latin typeface="Bookman Old Style" panose="02050604050505020204" pitchFamily="18" charset="0"/>
                      </a:endParaRP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2400" b="0" dirty="0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Главный метод: превращает всё накопленное в обычный </a:t>
                      </a:r>
                      <a:r>
                        <a:rPr lang="ru-RU" sz="2400" b="0" dirty="0" err="1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string</a:t>
                      </a:r>
                      <a:r>
                        <a:rPr lang="ru-RU" sz="2400" b="0" dirty="0">
                          <a:solidFill>
                            <a:srgbClr val="1C1C1D"/>
                          </a:solidFill>
                          <a:effectLst/>
                          <a:latin typeface="Bookman Old Style" panose="02050604050505020204" pitchFamily="18" charset="0"/>
                        </a:rPr>
                        <a:t>.</a:t>
                      </a:r>
                    </a:p>
                  </a:txBody>
                  <a:tcPr marL="114300" marR="114300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542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8319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97031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>
                <a:latin typeface="Bookman Old Style" panose="02050604050505020204" pitchFamily="18" charset="0"/>
              </a:rPr>
              <a:t>Когда использовать?</a:t>
            </a:r>
            <a:r>
              <a:rPr lang="ru-RU" sz="2400" dirty="0">
                <a:latin typeface="Bookman Old Style" panose="02050604050505020204" pitchFamily="18" charset="0"/>
              </a:rPr>
              <a:t/>
            </a:r>
            <a:br>
              <a:rPr lang="ru-RU" sz="2400" dirty="0">
                <a:latin typeface="Bookman Old Style" panose="02050604050505020204" pitchFamily="18" charset="0"/>
              </a:rPr>
            </a:br>
            <a:r>
              <a:rPr lang="ru-RU" sz="2400" dirty="0">
                <a:latin typeface="Bookman Old Style" panose="02050604050505020204" pitchFamily="18" charset="0"/>
              </a:rPr>
              <a:t>"Правило большого пальца:</a:t>
            </a: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Если вы просто склеиваете 2–4 строки (например, имя и фамилию) — используйте $ (интерполяцию</a:t>
            </a:r>
            <a:r>
              <a:rPr lang="ru-RU" sz="2400" dirty="0" smtClean="0">
                <a:latin typeface="Bookman Old Style" panose="02050604050505020204" pitchFamily="18" charset="0"/>
              </a:rPr>
              <a:t>).</a:t>
            </a:r>
            <a:endParaRPr lang="ru-RU" sz="2400" dirty="0">
              <a:latin typeface="Bookman Old Style" panose="02050604050505020204" pitchFamily="18" charset="0"/>
            </a:endParaRPr>
          </a:p>
          <a:p>
            <a:pPr>
              <a:lnSpc>
                <a:spcPct val="150000"/>
              </a:lnSpc>
            </a:pPr>
            <a:r>
              <a:rPr lang="ru-RU" sz="2400" dirty="0">
                <a:latin typeface="Bookman Old Style" panose="02050604050505020204" pitchFamily="18" charset="0"/>
              </a:rPr>
              <a:t>Если у вас </a:t>
            </a:r>
            <a:r>
              <a:rPr lang="ru-RU" sz="2400" b="1" dirty="0">
                <a:latin typeface="Bookman Old Style" panose="02050604050505020204" pitchFamily="18" charset="0"/>
              </a:rPr>
              <a:t>цикл</a:t>
            </a:r>
            <a:r>
              <a:rPr lang="ru-RU" sz="2400" dirty="0">
                <a:latin typeface="Bookman Old Style" panose="02050604050505020204" pitchFamily="18" charset="0"/>
              </a:rPr>
              <a:t>, который многократно что-то дописывает в строку — </a:t>
            </a:r>
            <a:r>
              <a:rPr lang="ru-RU" sz="2400" b="1" dirty="0">
                <a:latin typeface="Bookman Old Style" panose="02050604050505020204" pitchFamily="18" charset="0"/>
              </a:rPr>
              <a:t>всегда</a:t>
            </a:r>
            <a:r>
              <a:rPr lang="ru-RU" sz="2400" dirty="0">
                <a:latin typeface="Bookman Old Style" panose="02050604050505020204" pitchFamily="18" charset="0"/>
              </a:rPr>
              <a:t> берите </a:t>
            </a:r>
            <a:r>
              <a:rPr lang="ru-RU" sz="2400" dirty="0" err="1">
                <a:latin typeface="Bookman Old Style" panose="02050604050505020204" pitchFamily="18" charset="0"/>
              </a:rPr>
              <a:t>StringBuilder</a:t>
            </a:r>
            <a:r>
              <a:rPr lang="ru-RU" sz="2400" dirty="0">
                <a:latin typeface="Bookman Old Style" panose="02050604050505020204" pitchFamily="18" charset="0"/>
              </a:rPr>
              <a:t>. Иначе ваша программа будет «поедать» мегабайты памяти на ровном месте."</a:t>
            </a:r>
          </a:p>
        </p:txBody>
      </p:sp>
    </p:spTree>
    <p:extLst>
      <p:ext uri="{BB962C8B-B14F-4D97-AF65-F5344CB8AC3E}">
        <p14:creationId xmlns:p14="http://schemas.microsoft.com/office/powerpoint/2010/main" val="53205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901700"/>
            <a:ext cx="12192000" cy="5262979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symbolsCount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1e4;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sb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StringBuilder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Stopwatch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// Измерение времени</a:t>
            </a:r>
            <a:endParaRPr lang="en-US" sz="24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sw.Start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 //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Начало измерения</a:t>
            </a:r>
            <a:endParaRPr lang="en-US" sz="24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symbolsCount; i++)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sb.Append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"a"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sw.Stop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  <a:r>
              <a:rPr lang="ru-RU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// </a:t>
            </a:r>
            <a:r>
              <a:rPr lang="ru-RU" sz="2400" dirty="0" smtClean="0">
                <a:solidFill>
                  <a:srgbClr val="00B050"/>
                </a:solidFill>
                <a:latin typeface="Cascadia Mono" panose="020B0609020000020004" pitchFamily="49" charset="0"/>
              </a:rPr>
              <a:t>Конец </a:t>
            </a:r>
            <a:r>
              <a:rPr lang="ru-RU" sz="2400" dirty="0">
                <a:solidFill>
                  <a:srgbClr val="00B050"/>
                </a:solidFill>
                <a:latin typeface="Cascadia Mono" panose="020B0609020000020004" pitchFamily="49" charset="0"/>
              </a:rPr>
              <a:t>измерения</a:t>
            </a:r>
            <a:endParaRPr lang="en-US" sz="2400" dirty="0">
              <a:solidFill>
                <a:srgbClr val="00B050"/>
              </a:solidFill>
              <a:latin typeface="Cascadia Mono" panose="020B06090200000200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$"1)\t</a:t>
            </a:r>
            <a:r>
              <a:rPr lang="ru-RU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Затрачено 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тиков: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sw.ElapsedTicks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</p:txBody>
      </p:sp>
      <p:sp>
        <p:nvSpPr>
          <p:cNvPr id="3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Сравнение скорости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35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78565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endParaRPr lang="en-US" sz="2400" dirty="0" smtClean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 smtClean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sw.Restart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symbolsCount; i++)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str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 += 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"a"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sw.Stop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2400" dirty="0" err="1" smtClean="0">
                <a:solidFill>
                  <a:srgbClr val="000000"/>
                </a:solidFill>
                <a:latin typeface="Cascadia Mono" panose="020B0609020000020004" pitchFamily="49" charset="0"/>
              </a:rPr>
              <a:t>Console.WriteLine</a:t>
            </a:r>
            <a:r>
              <a:rPr lang="en-US" sz="2400" dirty="0" smtClean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2400" dirty="0" smtClean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2)\t</a:t>
            </a:r>
            <a:r>
              <a:rPr lang="ru-RU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Затрачено тиков: </a:t>
            </a:r>
            <a:r>
              <a:rPr lang="ru-RU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sw.ElapsedTicks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r>
              <a:rPr lang="en-US" sz="24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ru-RU" sz="2400" dirty="0" smtClean="0">
              <a:latin typeface="Bookman Old Style" panose="020506040505050202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55431"/>
          <a:stretch/>
        </p:blipFill>
        <p:spPr>
          <a:xfrm>
            <a:off x="2662192" y="4052352"/>
            <a:ext cx="6867616" cy="117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8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6166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  <a:hlinkClick r:id="rId3"/>
              </a:rPr>
              <a:t>https://habr.com/ru/articles/172627/</a:t>
            </a:r>
            <a:r>
              <a:rPr lang="ru-RU" sz="24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endParaRPr lang="ru-RU" sz="24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44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12220</TotalTime>
  <Words>1579</Words>
  <Application>Microsoft Office PowerPoint</Application>
  <PresentationFormat>Широкоэкранный</PresentationFormat>
  <Paragraphs>292</Paragraphs>
  <Slides>25</Slides>
  <Notes>25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4" baseType="lpstr">
      <vt:lpstr>-apple-system</vt:lpstr>
      <vt:lpstr>Arial</vt:lpstr>
      <vt:lpstr>Bookman Old Style</vt:lpstr>
      <vt:lpstr>Calibri</vt:lpstr>
      <vt:lpstr>Calibri Light</vt:lpstr>
      <vt:lpstr>Cascadia Mono</vt:lpstr>
      <vt:lpstr>Consolas</vt:lpstr>
      <vt:lpstr>Times New Roman</vt:lpstr>
      <vt:lpstr>Тема Office</vt:lpstr>
      <vt:lpstr>Лекция 5. Основы языка C#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612</cp:revision>
  <dcterms:modified xsi:type="dcterms:W3CDTF">2026-02-07T15:14:36Z</dcterms:modified>
</cp:coreProperties>
</file>