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44"/>
  </p:notesMasterIdLst>
  <p:sldIdLst>
    <p:sldId id="273" r:id="rId2"/>
    <p:sldId id="990" r:id="rId3"/>
    <p:sldId id="971" r:id="rId4"/>
    <p:sldId id="1018" r:id="rId5"/>
    <p:sldId id="992" r:id="rId6"/>
    <p:sldId id="993" r:id="rId7"/>
    <p:sldId id="1051" r:id="rId8"/>
    <p:sldId id="1089" r:id="rId9"/>
    <p:sldId id="1090" r:id="rId10"/>
    <p:sldId id="1091" r:id="rId11"/>
    <p:sldId id="1092" r:id="rId12"/>
    <p:sldId id="1067" r:id="rId13"/>
    <p:sldId id="1006" r:id="rId14"/>
    <p:sldId id="1007" r:id="rId15"/>
    <p:sldId id="972" r:id="rId16"/>
    <p:sldId id="988" r:id="rId17"/>
    <p:sldId id="1013" r:id="rId18"/>
    <p:sldId id="1014" r:id="rId19"/>
    <p:sldId id="1079" r:id="rId20"/>
    <p:sldId id="1083" r:id="rId21"/>
    <p:sldId id="1084" r:id="rId22"/>
    <p:sldId id="1085" r:id="rId23"/>
    <p:sldId id="1086" r:id="rId24"/>
    <p:sldId id="1087" r:id="rId25"/>
    <p:sldId id="1088" r:id="rId26"/>
    <p:sldId id="1082" r:id="rId27"/>
    <p:sldId id="1080" r:id="rId28"/>
    <p:sldId id="1075" r:id="rId29"/>
    <p:sldId id="1081" r:id="rId30"/>
    <p:sldId id="1072" r:id="rId31"/>
    <p:sldId id="1073" r:id="rId32"/>
    <p:sldId id="1074" r:id="rId33"/>
    <p:sldId id="1076" r:id="rId34"/>
    <p:sldId id="996" r:id="rId35"/>
    <p:sldId id="1055" r:id="rId36"/>
    <p:sldId id="1068" r:id="rId37"/>
    <p:sldId id="1069" r:id="rId38"/>
    <p:sldId id="997" r:id="rId39"/>
    <p:sldId id="1015" r:id="rId40"/>
    <p:sldId id="1016" r:id="rId41"/>
    <p:sldId id="998" r:id="rId42"/>
    <p:sldId id="999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EFC9"/>
    <a:srgbClr val="292929"/>
    <a:srgbClr val="5A5A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9" autoAdjust="0"/>
    <p:restoredTop sz="77741" autoAdjust="0"/>
  </p:normalViewPr>
  <p:slideViewPr>
    <p:cSldViewPr snapToGrid="0">
      <p:cViewPr varScale="1">
        <p:scale>
          <a:sx n="80" d="100"/>
          <a:sy n="80" d="100"/>
        </p:scale>
        <p:origin x="96" y="258"/>
      </p:cViewPr>
      <p:guideLst>
        <p:guide orient="horz" pos="2160"/>
        <p:guide pos="384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F9473-F066-431E-A6E8-1D478C995A6B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4E2F1-1521-4C3A-A563-2F7D19AB6E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975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481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354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0255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9859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9683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1842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9838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6794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3437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5357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6445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На будущее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https://learn.microsoft.com/ru-ru/dotnet/csharp/language-reference/operators/switch-expression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6402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7746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6715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9470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2801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8907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5816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625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3267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4991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2169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8663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1273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7546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5549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8290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3262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0135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05341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57890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62885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51364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37850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30000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43597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3394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95930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06812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54264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65239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419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47736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65112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23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3460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23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4405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23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215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389695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09624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23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920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23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768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23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617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23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1394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5897"/>
            <a:ext cx="12192000" cy="949324"/>
          </a:xfrm>
        </p:spPr>
        <p:txBody>
          <a:bodyPr/>
          <a:lstStyle>
            <a:lvl1pPr algn="ctr">
              <a:defRPr sz="27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562214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20892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0" y="-14400"/>
            <a:ext cx="12192000" cy="1569658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indent="254000" algn="ctr">
              <a:spcBef>
                <a:spcPct val="20000"/>
              </a:spcBef>
            </a:pPr>
            <a:r>
              <a:rPr lang="ru-RU" sz="4800" b="1" dirty="0">
                <a:solidFill>
                  <a:schemeClr val="accent1">
                    <a:lumMod val="50000"/>
                  </a:schemeClr>
                </a:solidFill>
                <a:latin typeface="Bookman Old Style" pitchFamily="18" charset="0"/>
              </a:rPr>
              <a:t>Информационные технологии</a:t>
            </a:r>
            <a:br>
              <a:rPr lang="ru-RU" sz="4800" b="1" dirty="0">
                <a:solidFill>
                  <a:schemeClr val="accent1">
                    <a:lumMod val="50000"/>
                  </a:schemeClr>
                </a:solidFill>
                <a:latin typeface="Bookman Old Style" pitchFamily="18" charset="0"/>
              </a:rPr>
            </a:br>
            <a:r>
              <a:rPr lang="ru-RU" sz="4800" b="1" dirty="0">
                <a:solidFill>
                  <a:schemeClr val="accent1">
                    <a:lumMod val="50000"/>
                  </a:schemeClr>
                </a:solidFill>
                <a:latin typeface="Bookman Old Style" pitchFamily="18" charset="0"/>
              </a:rPr>
              <a:t>и программирование</a:t>
            </a:r>
            <a:endParaRPr lang="ru-RU" altLang="ru-RU" sz="4800" b="1" dirty="0">
              <a:solidFill>
                <a:schemeClr val="accent1">
                  <a:lumMod val="50000"/>
                </a:schemeClr>
              </a:solidFill>
              <a:latin typeface="Bookman Old Style" pitchFamily="18" charset="0"/>
            </a:endParaRPr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D630362D-1F09-46B4-9DE4-AEA483AC82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5468" y="1555258"/>
            <a:ext cx="8978016" cy="1384995"/>
          </a:xfrm>
        </p:spPr>
        <p:txBody>
          <a:bodyPr>
            <a:noAutofit/>
          </a:bodyPr>
          <a:lstStyle/>
          <a:p>
            <a:pPr algn="l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Лекция </a:t>
            </a: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3. 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Основы языка </a:t>
            </a: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C#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/>
            </a:r>
            <a:b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/>
            </a:r>
            <a:b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Содержание лекции:</a:t>
            </a:r>
            <a:endParaRPr lang="ru-RU" sz="2800" dirty="0">
              <a:latin typeface="Bookman Old Style" panose="02050604050505020204" pitchFamily="18" charset="0"/>
            </a:endParaRPr>
          </a:p>
        </p:txBody>
      </p:sp>
      <p:sp>
        <p:nvSpPr>
          <p:cNvPr id="10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6336807"/>
            <a:ext cx="12192000" cy="521193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9050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indent="723900" algn="just"/>
            <a:r>
              <a:rPr lang="ru-RU" b="1" dirty="0">
                <a:solidFill>
                  <a:srgbClr val="292929"/>
                </a:solidFill>
                <a:latin typeface="Bookman Old Style" pitchFamily="18" charset="0"/>
              </a:rPr>
              <a:t>Преподаватель курса: Клюкин Даниил Анатольевич, ст. преподаватель каф. </a:t>
            </a:r>
            <a:r>
              <a:rPr lang="ru-RU" b="1">
                <a:solidFill>
                  <a:srgbClr val="292929"/>
                </a:solidFill>
                <a:latin typeface="Bookman Old Style" pitchFamily="18" charset="0"/>
              </a:rPr>
              <a:t>ПМиИТ</a:t>
            </a:r>
            <a:endParaRPr lang="ru-RU" b="1" dirty="0">
              <a:solidFill>
                <a:srgbClr val="292929"/>
              </a:solidFill>
              <a:latin typeface="Bookman Old Style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B00361-5492-4290-B470-295172C16526}"/>
              </a:ext>
            </a:extLst>
          </p:cNvPr>
          <p:cNvSpPr txBox="1"/>
          <p:nvPr/>
        </p:nvSpPr>
        <p:spPr>
          <a:xfrm>
            <a:off x="835468" y="2940253"/>
            <a:ext cx="897801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Типы 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вычислительных процессов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Операторы </a:t>
            </a: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выбора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Массивы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Циклы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Стек и куча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Особенности 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работы </a:t>
            </a:r>
            <a:r>
              <a:rPr lang="ru-RU" sz="2800" b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 </a:t>
            </a:r>
            <a:r>
              <a:rPr lang="ru-RU" sz="2800" b="1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массивами</a:t>
            </a:r>
            <a:endParaRPr lang="ru-RU" sz="2800" b="1" dirty="0" smtClean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Типы вычислительных процессов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0" y="648651"/>
            <a:ext cx="12192000" cy="421038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10000"/>
              </a:lnSpc>
              <a:spcAft>
                <a:spcPts val="600"/>
              </a:spcAft>
            </a:pPr>
            <a:r>
              <a:rPr lang="ru-RU" sz="2400" b="1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Вычислительные </a:t>
            </a:r>
            <a:r>
              <a:rPr lang="ru-RU" sz="2400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процессы бывают 3 основных типов:</a:t>
            </a:r>
          </a:p>
          <a:p>
            <a:pPr marL="457200" indent="-457200" algn="just">
              <a:lnSpc>
                <a:spcPct val="11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2400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Линейный,</a:t>
            </a:r>
          </a:p>
          <a:p>
            <a:pPr marL="457200" indent="-457200" algn="just">
              <a:lnSpc>
                <a:spcPct val="11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2400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Разветвленные,</a:t>
            </a:r>
          </a:p>
          <a:p>
            <a:pPr marL="457200" indent="-457200" algn="just">
              <a:lnSpc>
                <a:spcPct val="11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2400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Цикличные</a:t>
            </a:r>
            <a:r>
              <a:rPr lang="ru-RU" sz="2400" dirty="0" smtClean="0">
                <a:latin typeface="Bookman Old Style" panose="02050604050505020204" pitchFamily="18" charset="0"/>
                <a:ea typeface="Times New Roman" panose="02020603050405020304" pitchFamily="18" charset="0"/>
              </a:rPr>
              <a:t>.</a:t>
            </a:r>
          </a:p>
          <a:p>
            <a:pPr algn="just">
              <a:lnSpc>
                <a:spcPct val="110000"/>
              </a:lnSpc>
              <a:spcAft>
                <a:spcPts val="600"/>
              </a:spcAft>
            </a:pPr>
            <a:r>
              <a:rPr lang="ru-RU" sz="2400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В</a:t>
            </a:r>
            <a:r>
              <a:rPr lang="ru-RU" sz="2400" b="1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smtClean="0">
                <a:latin typeface="Bookman Old Style" panose="02050604050505020204" pitchFamily="18" charset="0"/>
                <a:ea typeface="Times New Roman" panose="02020603050405020304" pitchFamily="18" charset="0"/>
              </a:rPr>
              <a:t>линейном </a:t>
            </a:r>
            <a:r>
              <a:rPr lang="ru-RU" sz="2400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процессе инструкции выполняются только последовательно.</a:t>
            </a:r>
          </a:p>
          <a:p>
            <a:pPr algn="just">
              <a:lnSpc>
                <a:spcPct val="110000"/>
              </a:lnSpc>
              <a:spcAft>
                <a:spcPts val="600"/>
              </a:spcAft>
            </a:pPr>
            <a:endParaRPr lang="ru-RU" sz="2400" dirty="0">
              <a:latin typeface="Bookman Old Style" panose="020506040505050202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Aft>
                <a:spcPts val="600"/>
              </a:spcAft>
            </a:pPr>
            <a:r>
              <a:rPr lang="ru-RU" sz="2400" dirty="0" smtClean="0">
                <a:latin typeface="Bookman Old Style" panose="02050604050505020204" pitchFamily="18" charset="0"/>
                <a:ea typeface="Times New Roman" panose="02020603050405020304" pitchFamily="18" charset="0"/>
              </a:rPr>
              <a:t>В </a:t>
            </a:r>
            <a:r>
              <a:rPr lang="ru-RU" sz="2400" b="1" dirty="0" smtClean="0">
                <a:latin typeface="Bookman Old Style" panose="02050604050505020204" pitchFamily="18" charset="0"/>
                <a:ea typeface="Times New Roman" panose="02020603050405020304" pitchFamily="18" charset="0"/>
              </a:rPr>
              <a:t>разветвленных</a:t>
            </a:r>
            <a:r>
              <a:rPr lang="en-US" sz="2400" dirty="0" smtClean="0"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  <a:ea typeface="Times New Roman" panose="02020603050405020304" pitchFamily="18" charset="0"/>
              </a:rPr>
              <a:t>программах предусматривается несколько вариантов инструкций в зависимости от выполненных условий. 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186234" y="3430279"/>
            <a:ext cx="2576946" cy="508631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latin typeface="Bookman Old Style" panose="02050604050505020204" pitchFamily="18" charset="0"/>
              </a:rPr>
              <a:t>Инструкция 1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4268698" y="3433974"/>
            <a:ext cx="2690293" cy="508631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latin typeface="Bookman Old Style" panose="02050604050505020204" pitchFamily="18" charset="0"/>
              </a:rPr>
              <a:t>Инструкция </a:t>
            </a:r>
            <a:r>
              <a:rPr lang="en-US" sz="2400" b="1" dirty="0">
                <a:latin typeface="Bookman Old Style" panose="02050604050505020204" pitchFamily="18" charset="0"/>
              </a:rPr>
              <a:t>2</a:t>
            </a:r>
            <a:endParaRPr lang="ru-RU" sz="2400" b="1" dirty="0">
              <a:latin typeface="Bookman Old Style" panose="02050604050505020204" pitchFamily="18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7464509" y="3430278"/>
            <a:ext cx="2765886" cy="508631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latin typeface="Bookman Old Style" panose="02050604050505020204" pitchFamily="18" charset="0"/>
              </a:rPr>
              <a:t>Инструкция </a:t>
            </a:r>
            <a:r>
              <a:rPr lang="en-US" sz="2400" b="1" dirty="0">
                <a:latin typeface="Bookman Old Style" panose="02050604050505020204" pitchFamily="18" charset="0"/>
              </a:rPr>
              <a:t>3</a:t>
            </a:r>
            <a:endParaRPr lang="ru-RU" sz="2400" b="1" dirty="0">
              <a:latin typeface="Bookman Old Style" panose="02050604050505020204" pitchFamily="18" charset="0"/>
            </a:endParaRPr>
          </a:p>
        </p:txBody>
      </p:sp>
      <p:cxnSp>
        <p:nvCxnSpPr>
          <p:cNvPr id="6" name="Прямая со стрелкой 5"/>
          <p:cNvCxnSpPr>
            <a:stCxn id="4" idx="3"/>
            <a:endCxn id="14" idx="1"/>
          </p:cNvCxnSpPr>
          <p:nvPr/>
        </p:nvCxnSpPr>
        <p:spPr>
          <a:xfrm>
            <a:off x="3763180" y="3684595"/>
            <a:ext cx="505518" cy="3695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>
            <a:stCxn id="14" idx="3"/>
            <a:endCxn id="15" idx="1"/>
          </p:cNvCxnSpPr>
          <p:nvPr/>
        </p:nvCxnSpPr>
        <p:spPr>
          <a:xfrm flipV="1">
            <a:off x="6958991" y="3684594"/>
            <a:ext cx="505518" cy="3696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372819" y="5030489"/>
            <a:ext cx="2635655" cy="508631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latin typeface="Bookman Old Style" panose="02050604050505020204" pitchFamily="18" charset="0"/>
              </a:rPr>
              <a:t>Инструкция 1</a:t>
            </a:r>
          </a:p>
        </p:txBody>
      </p:sp>
      <p:cxnSp>
        <p:nvCxnSpPr>
          <p:cNvPr id="20" name="Прямая со стрелкой 19"/>
          <p:cNvCxnSpPr>
            <a:stCxn id="19" idx="3"/>
            <a:endCxn id="26" idx="1"/>
          </p:cNvCxnSpPr>
          <p:nvPr/>
        </p:nvCxnSpPr>
        <p:spPr>
          <a:xfrm>
            <a:off x="3008474" y="5284805"/>
            <a:ext cx="507894" cy="5017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Прямоугольник 21"/>
          <p:cNvSpPr/>
          <p:nvPr/>
        </p:nvSpPr>
        <p:spPr>
          <a:xfrm>
            <a:off x="3775080" y="6100512"/>
            <a:ext cx="2689126" cy="508631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latin typeface="Bookman Old Style" panose="02050604050505020204" pitchFamily="18" charset="0"/>
              </a:rPr>
              <a:t>Инструкция </a:t>
            </a:r>
            <a:r>
              <a:rPr lang="en-US" sz="2400" b="1" dirty="0">
                <a:latin typeface="Bookman Old Style" panose="02050604050505020204" pitchFamily="18" charset="0"/>
              </a:rPr>
              <a:t>2</a:t>
            </a:r>
            <a:endParaRPr lang="ru-RU" sz="2400" b="1" dirty="0">
              <a:latin typeface="Bookman Old Style" panose="02050604050505020204" pitchFamily="18" charset="0"/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8206101" y="5035506"/>
            <a:ext cx="2682887" cy="508631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latin typeface="Bookman Old Style" panose="02050604050505020204" pitchFamily="18" charset="0"/>
              </a:rPr>
              <a:t>Инструкция </a:t>
            </a:r>
            <a:r>
              <a:rPr lang="en-US" sz="2400" b="1" dirty="0">
                <a:latin typeface="Bookman Old Style" panose="02050604050505020204" pitchFamily="18" charset="0"/>
              </a:rPr>
              <a:t>3</a:t>
            </a:r>
            <a:endParaRPr lang="ru-RU" sz="2400" b="1" dirty="0">
              <a:latin typeface="Bookman Old Style" panose="02050604050505020204" pitchFamily="18" charset="0"/>
            </a:endParaRPr>
          </a:p>
        </p:txBody>
      </p:sp>
      <p:cxnSp>
        <p:nvCxnSpPr>
          <p:cNvPr id="24" name="Прямая со стрелкой 23"/>
          <p:cNvCxnSpPr>
            <a:stCxn id="26" idx="3"/>
            <a:endCxn id="23" idx="1"/>
          </p:cNvCxnSpPr>
          <p:nvPr/>
        </p:nvCxnSpPr>
        <p:spPr>
          <a:xfrm>
            <a:off x="6722918" y="5289822"/>
            <a:ext cx="1483183" cy="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Блок-схема: решение 25"/>
          <p:cNvSpPr/>
          <p:nvPr/>
        </p:nvSpPr>
        <p:spPr>
          <a:xfrm>
            <a:off x="3516368" y="4891135"/>
            <a:ext cx="3206550" cy="797374"/>
          </a:xfrm>
          <a:prstGeom prst="flowChartDecision">
            <a:avLst/>
          </a:prstGeom>
          <a:solidFill>
            <a:schemeClr val="bg1"/>
          </a:solidFill>
          <a:ln w="3810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dk1"/>
                </a:solidFill>
                <a:latin typeface="Bookman Old Style" panose="02050604050505020204" pitchFamily="18" charset="0"/>
              </a:rPr>
              <a:t>Условие</a:t>
            </a:r>
          </a:p>
        </p:txBody>
      </p:sp>
      <p:cxnSp>
        <p:nvCxnSpPr>
          <p:cNvPr id="34" name="Прямая со стрелкой 33"/>
          <p:cNvCxnSpPr>
            <a:stCxn id="26" idx="2"/>
            <a:endCxn id="22" idx="0"/>
          </p:cNvCxnSpPr>
          <p:nvPr/>
        </p:nvCxnSpPr>
        <p:spPr>
          <a:xfrm>
            <a:off x="5119643" y="5688509"/>
            <a:ext cx="0" cy="412003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Прямоугольник 37"/>
          <p:cNvSpPr/>
          <p:nvPr/>
        </p:nvSpPr>
        <p:spPr>
          <a:xfrm>
            <a:off x="6477316" y="5289821"/>
            <a:ext cx="1468868" cy="49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  <a:spcAft>
                <a:spcPts val="600"/>
              </a:spcAft>
            </a:pPr>
            <a:r>
              <a:rPr lang="ru-RU" sz="2400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Истина</a:t>
            </a:r>
          </a:p>
        </p:txBody>
      </p:sp>
      <p:sp>
        <p:nvSpPr>
          <p:cNvPr id="39" name="Прямоугольник 38"/>
          <p:cNvSpPr/>
          <p:nvPr/>
        </p:nvSpPr>
        <p:spPr>
          <a:xfrm>
            <a:off x="4036196" y="5601914"/>
            <a:ext cx="1157153" cy="49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  <a:spcAft>
                <a:spcPts val="600"/>
              </a:spcAft>
            </a:pPr>
            <a:r>
              <a:rPr lang="ru-RU" sz="2400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Ложь</a:t>
            </a:r>
          </a:p>
        </p:txBody>
      </p:sp>
    </p:spTree>
    <p:extLst>
      <p:ext uri="{BB962C8B-B14F-4D97-AF65-F5344CB8AC3E}">
        <p14:creationId xmlns:p14="http://schemas.microsoft.com/office/powerpoint/2010/main" val="2101037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2" name="Rectangle 28" descr="Светлый диагональный 2">
            <a:extLst>
              <a:ext uri="{FF2B5EF4-FFF2-40B4-BE49-F238E27FC236}">
                <a16:creationId xmlns:a16="http://schemas.microsoft.com/office/drawing/2014/main" id="{2A0E99F7-A4CC-4E8F-8C74-D6A032765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Операторы выбора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0" y="654356"/>
            <a:ext cx="6556664" cy="2308324"/>
          </a:xfrm>
          <a:prstGeom prst="rect">
            <a:avLst/>
          </a:prstGeom>
          <a:noFill/>
        </p:spPr>
        <p:txBody>
          <a:bodyPr wrap="square" lIns="360000">
            <a:spAutoFit/>
          </a:bodyPr>
          <a:lstStyle/>
          <a:p>
            <a:pPr marL="457200" indent="-457200">
              <a:buAutoNum type="arabicPeriod"/>
            </a:pPr>
            <a:r>
              <a:rPr lang="ru-RU" sz="2400" i="0" dirty="0" smtClean="0">
                <a:effectLst/>
                <a:latin typeface="Bookman Old Style" panose="02050604050505020204" pitchFamily="18" charset="0"/>
              </a:rPr>
              <a:t>Оператор </a:t>
            </a:r>
            <a:r>
              <a:rPr lang="en-US" sz="2400" b="1" i="0" dirty="0" smtClean="0">
                <a:effectLst/>
                <a:latin typeface="Bookman Old Style" panose="02050604050505020204" pitchFamily="18" charset="0"/>
              </a:rPr>
              <a:t>if</a:t>
            </a:r>
            <a:endParaRPr lang="ru-RU" sz="2400" b="1" i="0" dirty="0" smtClean="0">
              <a:effectLst/>
              <a:latin typeface="Bookman Old Style" panose="02050604050505020204" pitchFamily="18" charset="0"/>
            </a:endParaRPr>
          </a:p>
          <a:p>
            <a:endParaRPr lang="ru-RU" sz="2400" dirty="0" smtClean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([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логическая конструкция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])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Тело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</a:p>
          <a:p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ru-RU" sz="24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6668380" y="654356"/>
            <a:ext cx="551580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([</a:t>
            </a:r>
            <a:r>
              <a:rPr lang="ru-RU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логич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. конструкция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])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Тело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1]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else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B050"/>
                </a:solidFill>
                <a:latin typeface="Cascadia Mono" panose="020B0609020000020004" pitchFamily="49" charset="0"/>
              </a:rPr>
              <a:t>//</a:t>
            </a:r>
            <a:r>
              <a:rPr lang="ru-RU" sz="2400" dirty="0">
                <a:solidFill>
                  <a:srgbClr val="00B050"/>
                </a:solidFill>
                <a:latin typeface="Cascadia Mono" panose="020B0609020000020004" pitchFamily="49" charset="0"/>
              </a:rPr>
              <a:t>Иначе</a:t>
            </a:r>
            <a:endParaRPr lang="en-US" sz="2400" dirty="0">
              <a:solidFill>
                <a:srgbClr val="00B05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[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Тело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2]</a:t>
            </a: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-1" y="3415421"/>
            <a:ext cx="7218381" cy="3416320"/>
          </a:xfrm>
          <a:prstGeom prst="rect">
            <a:avLst/>
          </a:prstGeom>
        </p:spPr>
        <p:txBody>
          <a:bodyPr wrap="square" lIns="360000">
            <a:spAutoFit/>
          </a:bodyPr>
          <a:lstStyle/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value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= </a:t>
            </a:r>
            <a:r>
              <a:rPr lang="en-US" sz="2400" dirty="0" smtClean="0">
                <a:latin typeface="Cascadia Mono" panose="020B0609020000020004" pitchFamily="49" charset="0"/>
              </a:rPr>
              <a:t>5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(value 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&gt; 0)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Положительное"</a:t>
            </a:r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ru-RU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value</a:t>
            </a:r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2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= </a:t>
            </a:r>
            <a:r>
              <a:rPr lang="ru-RU" sz="2400" dirty="0" smtClean="0">
                <a:latin typeface="Cascadia Mono" panose="020B0609020000020004" pitchFamily="49" charset="0"/>
              </a:rPr>
              <a:t>0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(value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2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% 2 == 0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Четное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else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ru-RU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"Нечётное"</a:t>
            </a:r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400688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8" name="Прямоугольник 7"/>
          <p:cNvSpPr/>
          <p:nvPr/>
        </p:nvSpPr>
        <p:spPr>
          <a:xfrm>
            <a:off x="0" y="0"/>
            <a:ext cx="7026914" cy="6370975"/>
          </a:xfrm>
          <a:prstGeom prst="rect">
            <a:avLst/>
          </a:prstGeom>
        </p:spPr>
        <p:txBody>
          <a:bodyPr wrap="square" lIns="36000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([</a:t>
            </a:r>
            <a:r>
              <a:rPr lang="ru-RU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логич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. Конструкция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1])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Тело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1]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else if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([</a:t>
            </a:r>
            <a:r>
              <a:rPr lang="ru-RU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логич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. Конструкция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2])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Тело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2]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...</a:t>
            </a: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else if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([</a:t>
            </a:r>
            <a:r>
              <a:rPr lang="ru-RU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логич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. Конструкция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N])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Тело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N]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else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B050"/>
                </a:solidFill>
                <a:latin typeface="Cascadia Mono" panose="020B0609020000020004" pitchFamily="49" charset="0"/>
              </a:rPr>
              <a:t>//</a:t>
            </a:r>
            <a:r>
              <a:rPr lang="ru-RU" sz="2400" dirty="0">
                <a:solidFill>
                  <a:srgbClr val="00B050"/>
                </a:solidFill>
                <a:latin typeface="Cascadia Mono" panose="020B0609020000020004" pitchFamily="49" charset="0"/>
              </a:rPr>
              <a:t>Иначе</a:t>
            </a:r>
            <a:endParaRPr lang="en-US" sz="2400" dirty="0">
              <a:solidFill>
                <a:srgbClr val="00B05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[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Тело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N+1]</a:t>
            </a: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011473" y="3811012"/>
            <a:ext cx="818052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value = </a:t>
            </a:r>
            <a:r>
              <a:rPr lang="en-US" sz="2400" dirty="0">
                <a:latin typeface="Cascadia Mono" panose="020B0609020000020004" pitchFamily="49" charset="0"/>
              </a:rPr>
              <a:t>5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(value &gt; 0)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"Положительное"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else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(value &lt;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0)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ru-RU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"Отрицательное"</a:t>
            </a:r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else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ru-RU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"Равно 0"</a:t>
            </a:r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114713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0" y="29389"/>
            <a:ext cx="12192000" cy="6370975"/>
          </a:xfrm>
          <a:prstGeom prst="rect">
            <a:avLst/>
          </a:prstGeom>
          <a:noFill/>
        </p:spPr>
        <p:txBody>
          <a:bodyPr wrap="square" lIns="360000">
            <a:spAutoFit/>
          </a:bodyPr>
          <a:lstStyle/>
          <a:p>
            <a:r>
              <a:rPr lang="ru-RU" sz="2400" i="0" dirty="0">
                <a:effectLst/>
                <a:latin typeface="Bookman Old Style" panose="02050604050505020204" pitchFamily="18" charset="0"/>
              </a:rPr>
              <a:t>2. Оператор </a:t>
            </a:r>
            <a:r>
              <a:rPr lang="en-US" sz="2400" b="1" dirty="0">
                <a:latin typeface="Bookman Old Style" panose="02050604050505020204" pitchFamily="18" charset="0"/>
              </a:rPr>
              <a:t>:? </a:t>
            </a:r>
            <a:r>
              <a:rPr lang="en-US" sz="2400" dirty="0">
                <a:latin typeface="Bookman Old Style" panose="02050604050505020204" pitchFamily="18" charset="0"/>
              </a:rPr>
              <a:t>(</a:t>
            </a:r>
            <a:r>
              <a:rPr lang="ru-RU" sz="2400" dirty="0">
                <a:latin typeface="Bookman Old Style" panose="02050604050505020204" pitchFamily="18" charset="0"/>
              </a:rPr>
              <a:t>тернарный оператор</a:t>
            </a:r>
            <a:r>
              <a:rPr lang="en-US" sz="2400" dirty="0" smtClean="0">
                <a:latin typeface="Bookman Old Style" panose="02050604050505020204" pitchFamily="18" charset="0"/>
              </a:rPr>
              <a:t>)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latin typeface="Cascadia Mono" panose="020B0609020000020004" pitchFamily="49" charset="0"/>
              </a:rPr>
              <a:t>a=0;</a:t>
            </a: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latin typeface="Cascadia Mono" panose="020B0609020000020004" pitchFamily="49" charset="0"/>
              </a:rPr>
              <a:t>b=10;</a:t>
            </a:r>
            <a:endParaRPr lang="ru-RU" sz="2400" dirty="0"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(b &lt; 0)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2400" dirty="0">
                <a:latin typeface="Cascadia Mono" panose="020B0609020000020004" pitchFamily="49" charset="0"/>
              </a:rPr>
              <a:t>a = -1;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else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a = 1;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pPr algn="ctr"/>
            <a:r>
              <a:rPr lang="ru-RU" sz="2400" dirty="0">
                <a:latin typeface="Bookman Old Style" panose="02050604050505020204" pitchFamily="18" charset="0"/>
              </a:rPr>
              <a:t>эквивалентно </a:t>
            </a:r>
          </a:p>
          <a:p>
            <a:r>
              <a:rPr lang="en-US" sz="2400" dirty="0">
                <a:latin typeface="Cascadia Mono" panose="020B0609020000020004" pitchFamily="49" charset="0"/>
              </a:rPr>
              <a:t>[</a:t>
            </a:r>
            <a:r>
              <a:rPr lang="ru-RU" sz="2400" dirty="0">
                <a:latin typeface="Cascadia Mono" panose="020B0609020000020004" pitchFamily="49" charset="0"/>
              </a:rPr>
              <a:t>тип данных</a:t>
            </a:r>
            <a:r>
              <a:rPr lang="en-US" sz="2400" dirty="0">
                <a:latin typeface="Cascadia Mono" panose="020B0609020000020004" pitchFamily="49" charset="0"/>
              </a:rPr>
              <a:t>] [</a:t>
            </a:r>
            <a:r>
              <a:rPr lang="ru-RU" sz="2400" dirty="0">
                <a:latin typeface="Cascadia Mono" panose="020B0609020000020004" pitchFamily="49" charset="0"/>
              </a:rPr>
              <a:t>имя переменной</a:t>
            </a:r>
            <a:r>
              <a:rPr lang="en-US" sz="2400" dirty="0">
                <a:latin typeface="Cascadia Mono" panose="020B0609020000020004" pitchFamily="49" charset="0"/>
              </a:rPr>
              <a:t>]</a:t>
            </a:r>
            <a:r>
              <a:rPr lang="ru-RU" sz="2400" dirty="0">
                <a:latin typeface="Cascadia Mono" panose="020B0609020000020004" pitchFamily="49" charset="0"/>
              </a:rPr>
              <a:t> </a:t>
            </a:r>
            <a:r>
              <a:rPr lang="en-US" sz="2400" dirty="0">
                <a:latin typeface="Cascadia Mono" panose="020B0609020000020004" pitchFamily="49" charset="0"/>
              </a:rPr>
              <a:t>= [</a:t>
            </a:r>
            <a:r>
              <a:rPr lang="ru-RU" sz="2400" dirty="0">
                <a:latin typeface="Cascadia Mono" panose="020B0609020000020004" pitchFamily="49" charset="0"/>
              </a:rPr>
              <a:t>логическая конструкция</a:t>
            </a:r>
            <a:r>
              <a:rPr lang="en-US" sz="2400" dirty="0">
                <a:latin typeface="Cascadia Mono" panose="020B0609020000020004" pitchFamily="49" charset="0"/>
              </a:rPr>
              <a:t>]</a:t>
            </a:r>
            <a:r>
              <a:rPr lang="ru-RU" sz="2400" dirty="0">
                <a:latin typeface="Cascadia Mono" panose="020B0609020000020004" pitchFamily="49" charset="0"/>
              </a:rPr>
              <a:t> </a:t>
            </a:r>
            <a:endParaRPr lang="en-US" sz="2400" dirty="0">
              <a:latin typeface="Cascadia Mono" panose="020B0609020000020004" pitchFamily="49" charset="0"/>
            </a:endParaRPr>
          </a:p>
          <a:p>
            <a:r>
              <a:rPr lang="en-US" sz="2400" dirty="0">
                <a:latin typeface="Cascadia Mono" panose="020B0609020000020004" pitchFamily="49" charset="0"/>
              </a:rPr>
              <a:t>									? [</a:t>
            </a:r>
            <a:r>
              <a:rPr lang="ru-RU" sz="2400" dirty="0">
                <a:latin typeface="Cascadia Mono" panose="020B0609020000020004" pitchFamily="49" charset="0"/>
              </a:rPr>
              <a:t>значение если истина</a:t>
            </a:r>
            <a:r>
              <a:rPr lang="en-US" sz="2400" dirty="0">
                <a:latin typeface="Cascadia Mono" panose="020B0609020000020004" pitchFamily="49" charset="0"/>
              </a:rPr>
              <a:t>]</a:t>
            </a:r>
            <a:endParaRPr lang="ru-RU" sz="2400" dirty="0">
              <a:latin typeface="Cascadia Mono" panose="020B0609020000020004" pitchFamily="49" charset="0"/>
            </a:endParaRPr>
          </a:p>
          <a:p>
            <a:r>
              <a:rPr lang="ru-RU" sz="2400" dirty="0">
                <a:latin typeface="Cascadia Mono" panose="020B0609020000020004" pitchFamily="49" charset="0"/>
              </a:rPr>
              <a:t>									</a:t>
            </a:r>
            <a:r>
              <a:rPr lang="en-US" sz="2400" dirty="0">
                <a:latin typeface="Cascadia Mono" panose="020B0609020000020004" pitchFamily="49" charset="0"/>
              </a:rPr>
              <a:t>: [</a:t>
            </a:r>
            <a:r>
              <a:rPr lang="ru-RU" sz="2400" dirty="0">
                <a:latin typeface="Cascadia Mono" panose="020B0609020000020004" pitchFamily="49" charset="0"/>
              </a:rPr>
              <a:t>значение если ложь</a:t>
            </a:r>
            <a:r>
              <a:rPr lang="en-US" sz="2400" dirty="0">
                <a:latin typeface="Cascadia Mono" panose="020B0609020000020004" pitchFamily="49" charset="0"/>
              </a:rPr>
              <a:t>];</a:t>
            </a:r>
          </a:p>
          <a:p>
            <a:r>
              <a:rPr lang="it-IT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it-IT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b = 10;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it-IT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it-IT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a = </a:t>
            </a:r>
            <a:r>
              <a:rPr lang="it-IT" sz="2400" dirty="0">
                <a:latin typeface="Cascadia Mono" panose="020B0609020000020004" pitchFamily="49" charset="0"/>
              </a:rPr>
              <a:t>b</a:t>
            </a:r>
            <a:r>
              <a:rPr lang="it-IT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 </a:t>
            </a:r>
            <a:r>
              <a:rPr lang="it-IT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&lt; 0 ? -1 : 1</a:t>
            </a:r>
            <a:r>
              <a:rPr lang="it-IT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09950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0" y="0"/>
            <a:ext cx="6095999" cy="3416320"/>
          </a:xfrm>
          <a:prstGeom prst="rect">
            <a:avLst/>
          </a:prstGeom>
          <a:noFill/>
        </p:spPr>
        <p:txBody>
          <a:bodyPr wrap="square" l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i="0" dirty="0">
                <a:effectLst/>
                <a:latin typeface="Bookman Old Style" panose="02050604050505020204" pitchFamily="18" charset="0"/>
              </a:rPr>
              <a:t>3</a:t>
            </a:r>
            <a:r>
              <a:rPr lang="ru-RU" sz="2400" i="0" dirty="0">
                <a:effectLst/>
                <a:latin typeface="Bookman Old Style" panose="02050604050505020204" pitchFamily="18" charset="0"/>
              </a:rPr>
              <a:t>. Оператор </a:t>
            </a:r>
            <a:r>
              <a:rPr lang="en-US" sz="2400" b="1" dirty="0" smtClean="0">
                <a:latin typeface="Bookman Old Style" panose="02050604050505020204" pitchFamily="18" charset="0"/>
              </a:rPr>
              <a:t>switch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Конструкция </a:t>
            </a:r>
            <a:r>
              <a:rPr lang="ru-RU" sz="2400" dirty="0" err="1">
                <a:latin typeface="Bookman Old Style" panose="02050604050505020204" pitchFamily="18" charset="0"/>
              </a:rPr>
              <a:t>switch</a:t>
            </a:r>
            <a:r>
              <a:rPr lang="ru-RU" sz="2400" dirty="0">
                <a:latin typeface="Bookman Old Style" panose="02050604050505020204" pitchFamily="18" charset="0"/>
              </a:rPr>
              <a:t>/</a:t>
            </a:r>
            <a:r>
              <a:rPr lang="ru-RU" sz="2400" dirty="0" err="1">
                <a:latin typeface="Bookman Old Style" panose="02050604050505020204" pitchFamily="18" charset="0"/>
              </a:rPr>
              <a:t>case</a:t>
            </a:r>
            <a:r>
              <a:rPr lang="ru-RU" sz="2400" dirty="0">
                <a:latin typeface="Bookman Old Style" panose="02050604050505020204" pitchFamily="18" charset="0"/>
              </a:rPr>
              <a:t> оценивает некоторое выражение и сравнивает его значение с набором значений. И при совпадении значений выполняет определенный код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en-US" sz="2400" dirty="0" smtClean="0">
              <a:latin typeface="Bookman Old Style" panose="020506040505050202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6096000" y="0"/>
            <a:ext cx="6096000" cy="600164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switch </a:t>
            </a:r>
            <a:r>
              <a:rPr lang="en-US" sz="2400" dirty="0">
                <a:latin typeface="Cascadia Mono" panose="020B0609020000020004" pitchFamily="49" charset="0"/>
              </a:rPr>
              <a:t>([</a:t>
            </a:r>
            <a:r>
              <a:rPr lang="ru-RU" sz="2400" dirty="0">
                <a:latin typeface="Cascadia Mono" panose="020B0609020000020004" pitchFamily="49" charset="0"/>
              </a:rPr>
              <a:t>значение переменной</a:t>
            </a:r>
            <a:r>
              <a:rPr lang="en-US" sz="2400" dirty="0">
                <a:latin typeface="Cascadia Mono" panose="020B0609020000020004" pitchFamily="49" charset="0"/>
              </a:rPr>
              <a:t>])</a:t>
            </a:r>
          </a:p>
          <a:p>
            <a:r>
              <a:rPr lang="en-US" sz="2400" dirty="0"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latin typeface="Cascadia Mono" panose="020B0609020000020004" pitchFamily="49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case</a:t>
            </a:r>
            <a:r>
              <a:rPr lang="en-US" sz="2400" dirty="0">
                <a:latin typeface="Cascadia Mono" panose="020B0609020000020004" pitchFamily="49" charset="0"/>
              </a:rPr>
              <a:t> [</a:t>
            </a:r>
            <a:r>
              <a:rPr lang="ru-RU" sz="2400" dirty="0">
                <a:latin typeface="Cascadia Mono" panose="020B0609020000020004" pitchFamily="49" charset="0"/>
              </a:rPr>
              <a:t>шаблон</a:t>
            </a:r>
            <a:r>
              <a:rPr lang="en-US" sz="2400" dirty="0">
                <a:latin typeface="Cascadia Mono" panose="020B0609020000020004" pitchFamily="49" charset="0"/>
              </a:rPr>
              <a:t> 1]:</a:t>
            </a:r>
            <a:endParaRPr lang="ru-RU" sz="2400" dirty="0">
              <a:latin typeface="Cascadia Mono" panose="020B0609020000020004" pitchFamily="49" charset="0"/>
            </a:endParaRPr>
          </a:p>
          <a:p>
            <a:r>
              <a:rPr lang="ru-RU" sz="2400" dirty="0">
                <a:latin typeface="Cascadia Mono" panose="020B0609020000020004" pitchFamily="49" charset="0"/>
              </a:rPr>
              <a:t>	</a:t>
            </a:r>
            <a:r>
              <a:rPr lang="en-US" sz="2400" dirty="0"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latin typeface="Cascadia Mono" panose="020B0609020000020004" pitchFamily="49" charset="0"/>
              </a:rPr>
              <a:t>		[</a:t>
            </a:r>
            <a:r>
              <a:rPr lang="ru-RU" sz="2400" dirty="0">
                <a:latin typeface="Cascadia Mono" panose="020B0609020000020004" pitchFamily="49" charset="0"/>
              </a:rPr>
              <a:t>Тело</a:t>
            </a:r>
            <a:r>
              <a:rPr lang="en-US" sz="2400" dirty="0">
                <a:latin typeface="Cascadia Mono" panose="020B0609020000020004" pitchFamily="49" charset="0"/>
              </a:rPr>
              <a:t> 1]</a:t>
            </a:r>
          </a:p>
          <a:p>
            <a:r>
              <a:rPr lang="en-US" sz="2400" dirty="0">
                <a:latin typeface="Cascadia Mono" panose="020B0609020000020004" pitchFamily="49" charset="0"/>
              </a:rPr>
              <a:t>	}</a:t>
            </a:r>
            <a:r>
              <a:rPr lang="ru-RU" sz="2400" dirty="0"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en-US" sz="2400" dirty="0">
                <a:latin typeface="Cascadia Mono" panose="020B0609020000020004" pitchFamily="49" charset="0"/>
              </a:rPr>
              <a:t>;</a:t>
            </a:r>
            <a:endParaRPr lang="ru-RU" sz="2400" dirty="0">
              <a:latin typeface="Cascadia Mono" panose="020B0609020000020004" pitchFamily="49" charset="0"/>
            </a:endParaRPr>
          </a:p>
          <a:p>
            <a:r>
              <a:rPr lang="ru-RU" sz="2400" dirty="0">
                <a:latin typeface="Cascadia Mono" panose="020B0609020000020004" pitchFamily="49" charset="0"/>
              </a:rPr>
              <a:t>	...</a:t>
            </a:r>
          </a:p>
          <a:p>
            <a:r>
              <a:rPr lang="en-US" sz="2400" dirty="0">
                <a:latin typeface="Cascadia Mono" panose="020B0609020000020004" pitchFamily="49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case</a:t>
            </a:r>
            <a:r>
              <a:rPr lang="en-US" sz="2400" dirty="0">
                <a:latin typeface="Cascadia Mono" panose="020B0609020000020004" pitchFamily="49" charset="0"/>
              </a:rPr>
              <a:t> [</a:t>
            </a:r>
            <a:r>
              <a:rPr lang="ru-RU" sz="2400" dirty="0">
                <a:latin typeface="Cascadia Mono" panose="020B0609020000020004" pitchFamily="49" charset="0"/>
              </a:rPr>
              <a:t>шаблон</a:t>
            </a:r>
            <a:r>
              <a:rPr lang="en-US" sz="2400" dirty="0">
                <a:latin typeface="Cascadia Mono" panose="020B0609020000020004" pitchFamily="49" charset="0"/>
              </a:rPr>
              <a:t> N]:</a:t>
            </a:r>
            <a:endParaRPr lang="ru-RU" sz="2400" dirty="0">
              <a:latin typeface="Cascadia Mono" panose="020B0609020000020004" pitchFamily="49" charset="0"/>
            </a:endParaRPr>
          </a:p>
          <a:p>
            <a:r>
              <a:rPr lang="ru-RU" sz="2400" dirty="0">
                <a:latin typeface="Cascadia Mono" panose="020B0609020000020004" pitchFamily="49" charset="0"/>
              </a:rPr>
              <a:t>	</a:t>
            </a:r>
            <a:r>
              <a:rPr lang="en-US" sz="2400" dirty="0"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latin typeface="Cascadia Mono" panose="020B0609020000020004" pitchFamily="49" charset="0"/>
              </a:rPr>
              <a:t>		[</a:t>
            </a:r>
            <a:r>
              <a:rPr lang="ru-RU" sz="2400" dirty="0">
                <a:latin typeface="Cascadia Mono" panose="020B0609020000020004" pitchFamily="49" charset="0"/>
              </a:rPr>
              <a:t>Тело</a:t>
            </a:r>
            <a:r>
              <a:rPr lang="en-US" sz="2400" dirty="0">
                <a:latin typeface="Cascadia Mono" panose="020B0609020000020004" pitchFamily="49" charset="0"/>
              </a:rPr>
              <a:t> N]</a:t>
            </a:r>
          </a:p>
          <a:p>
            <a:r>
              <a:rPr lang="en-US" sz="2400" dirty="0">
                <a:latin typeface="Cascadia Mono" panose="020B0609020000020004" pitchFamily="49" charset="0"/>
              </a:rPr>
              <a:t>	}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en-US" sz="2400" dirty="0"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>
                <a:latin typeface="Cascadia Mono" panose="020B0609020000020004" pitchFamily="49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default</a:t>
            </a:r>
            <a:endParaRPr lang="ru-RU" sz="2400" dirty="0">
              <a:latin typeface="Cascadia Mono" panose="020B0609020000020004" pitchFamily="49" charset="0"/>
            </a:endParaRPr>
          </a:p>
          <a:p>
            <a:r>
              <a:rPr lang="ru-RU" sz="2400" dirty="0">
                <a:latin typeface="Cascadia Mono" panose="020B0609020000020004" pitchFamily="49" charset="0"/>
              </a:rPr>
              <a:t>	</a:t>
            </a:r>
            <a:r>
              <a:rPr lang="en-US" sz="2400" dirty="0"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latin typeface="Cascadia Mono" panose="020B0609020000020004" pitchFamily="49" charset="0"/>
              </a:rPr>
              <a:t>		[</a:t>
            </a:r>
            <a:r>
              <a:rPr lang="ru-RU" sz="2400" dirty="0">
                <a:latin typeface="Cascadia Mono" panose="020B0609020000020004" pitchFamily="49" charset="0"/>
              </a:rPr>
              <a:t>Тело</a:t>
            </a:r>
            <a:r>
              <a:rPr lang="en-US" sz="2400" dirty="0">
                <a:latin typeface="Cascadia Mono" panose="020B0609020000020004" pitchFamily="49" charset="0"/>
              </a:rPr>
              <a:t> N+1]</a:t>
            </a:r>
          </a:p>
          <a:p>
            <a:r>
              <a:rPr lang="en-US" sz="2400" dirty="0">
                <a:latin typeface="Cascadia Mono" panose="020B0609020000020004" pitchFamily="49" charset="0"/>
              </a:rPr>
              <a:t>	}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en-US" sz="2400" dirty="0"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60961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12192000" cy="4893647"/>
          </a:xfrm>
          <a:prstGeom prst="rect">
            <a:avLst/>
          </a:prstGeom>
        </p:spPr>
        <p:txBody>
          <a:bodyPr wrap="square" lIns="36000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switch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Console.ReadLine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	case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"0"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“</a:t>
            </a:r>
            <a:r>
              <a:rPr lang="ru-RU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Привет</a:t>
            </a:r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	case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"1"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“</a:t>
            </a:r>
            <a:r>
              <a:rPr lang="ru-RU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Пока</a:t>
            </a:r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	default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"..."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switch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.Parse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Console.ReadLine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()))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	case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&gt; 0: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+</a:t>
            </a:r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	case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&lt; 0: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-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	default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0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ru-RU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3555619" y="4472795"/>
            <a:ext cx="8636381" cy="2308324"/>
          </a:xfrm>
          <a:prstGeom prst="rect">
            <a:avLst/>
          </a:prstGeom>
          <a:noFill/>
        </p:spPr>
        <p:txBody>
          <a:bodyPr wrap="square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Блок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default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ru-RU" sz="2400" dirty="0">
                <a:latin typeface="Bookman Old Style" panose="02050604050505020204" pitchFamily="18" charset="0"/>
              </a:rPr>
              <a:t>не обязателен.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Специальное слово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ru-RU" sz="2400" dirty="0">
                <a:latin typeface="Bookman Old Style" panose="02050604050505020204" pitchFamily="18" charset="0"/>
              </a:rPr>
              <a:t>также не обязательно, оно говорит о выходе из текущего блока, если его нет, то будут проверяться остальные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case</a:t>
            </a:r>
            <a:r>
              <a:rPr lang="en-US" sz="2400" dirty="0">
                <a:latin typeface="Bookman Old Style" panose="02050604050505020204" pitchFamily="18" charset="0"/>
              </a:rPr>
              <a:t>.</a:t>
            </a:r>
            <a:endParaRPr lang="en-US" sz="2400" i="0" dirty="0">
              <a:effectLst/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1138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-1" y="654356"/>
            <a:ext cx="12192001" cy="3939540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ru-RU" sz="2400" b="1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Перечислимые константы (перечисления)</a:t>
            </a:r>
            <a:r>
              <a:rPr lang="ru-RU" sz="2400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 –</a:t>
            </a:r>
            <a:r>
              <a:rPr lang="en-US" sz="2400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это тип значения, определенный набором именованных констант применяемого целочисленного типа. </a:t>
            </a:r>
            <a:endParaRPr lang="ru-RU" sz="2400" dirty="0" smtClean="0">
              <a:latin typeface="Bookman Old Style" panose="020506040505050202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endParaRPr lang="ru-RU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algn="just"/>
            <a:r>
              <a:rPr lang="ru-RU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Плохо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: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if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(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day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== 1) ... (Что такое 1? Понедельник? Вторник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?)</a:t>
            </a:r>
          </a:p>
          <a:p>
            <a:pPr algn="just"/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algn="just"/>
            <a:r>
              <a:rPr lang="ru-RU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Хорошо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: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if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(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day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==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DayOfWeek.Monday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) ... (Читается как английский текст).</a:t>
            </a:r>
            <a:endParaRPr lang="en-US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Перечисления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23936" y="2492373"/>
            <a:ext cx="1062808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631720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-1" y="654356"/>
            <a:ext cx="12192001" cy="4829014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ru-RU" sz="2400" dirty="0" smtClean="0">
                <a:latin typeface="Bookman Old Style" panose="02050604050505020204" pitchFamily="18" charset="0"/>
                <a:ea typeface="Times New Roman" panose="02020603050405020304" pitchFamily="18" charset="0"/>
              </a:rPr>
              <a:t>Чтобы </a:t>
            </a:r>
            <a:r>
              <a:rPr lang="ru-RU" sz="2400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определить тип перечисления, используйте ключевое слово </a:t>
            </a:r>
            <a:r>
              <a:rPr lang="ru-RU" sz="2400" b="1" dirty="0" err="1">
                <a:latin typeface="Bookman Old Style" panose="02050604050505020204" pitchFamily="18" charset="0"/>
                <a:ea typeface="Times New Roman" panose="02020603050405020304" pitchFamily="18" charset="0"/>
              </a:rPr>
              <a:t>enum</a:t>
            </a:r>
            <a:r>
              <a:rPr lang="ru-RU" sz="2400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 и укажите имена</a:t>
            </a:r>
            <a:r>
              <a:rPr lang="ru-RU" sz="2400" dirty="0" smtClean="0">
                <a:latin typeface="Bookman Old Style" panose="02050604050505020204" pitchFamily="18" charset="0"/>
                <a:ea typeface="Times New Roman" panose="02020603050405020304" pitchFamily="18" charset="0"/>
              </a:rPr>
              <a:t>:</a:t>
            </a:r>
          </a:p>
          <a:p>
            <a:endParaRPr lang="en-US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2B91AF"/>
                </a:solidFill>
                <a:latin typeface="Cascadia Mono" panose="020B0609020000020004" pitchFamily="49" charset="0"/>
              </a:rPr>
              <a:t>Transport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myTransport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400" dirty="0" err="1" smtClean="0">
                <a:solidFill>
                  <a:srgbClr val="2B91AF"/>
                </a:solidFill>
                <a:latin typeface="Cascadia Mono" panose="020B0609020000020004" pitchFamily="49" charset="0"/>
              </a:rPr>
              <a:t>Transport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.Car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endParaRPr lang="ru-RU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US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 smtClean="0">
                <a:solidFill>
                  <a:srgbClr val="2B91AF"/>
                </a:solidFill>
                <a:latin typeface="Cascadia Mono" panose="020B0609020000020004" pitchFamily="49" charset="0"/>
              </a:rPr>
              <a:t>DayTime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dayTime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400" dirty="0" err="1" smtClean="0">
                <a:solidFill>
                  <a:srgbClr val="2B91AF"/>
                </a:solidFill>
                <a:latin typeface="Cascadia Mono" panose="020B0609020000020004" pitchFamily="49" charset="0"/>
              </a:rPr>
              <a:t>DayTime</a:t>
            </a:r>
            <a:r>
              <a:rPr lang="en-US" sz="2400" dirty="0" err="1" smtClean="0">
                <a:latin typeface="Cascadia Mono" panose="020B0609020000020004" pitchFamily="49" charset="0"/>
              </a:rPr>
              <a:t>.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Evening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pPr algn="just">
              <a:lnSpc>
                <a:spcPct val="110000"/>
              </a:lnSpc>
              <a:spcAft>
                <a:spcPts val="600"/>
              </a:spcAft>
            </a:pPr>
            <a:endParaRPr lang="ru-RU" sz="2400" dirty="0" smtClean="0">
              <a:solidFill>
                <a:srgbClr val="00B050"/>
              </a:solidFill>
              <a:latin typeface="Cascadia Mono" panose="020B0609020000020004" pitchFamily="49" charset="0"/>
            </a:endParaRPr>
          </a:p>
          <a:p>
            <a:pPr algn="just">
              <a:lnSpc>
                <a:spcPct val="110000"/>
              </a:lnSpc>
              <a:spcAft>
                <a:spcPts val="600"/>
              </a:spcAft>
            </a:pPr>
            <a:r>
              <a:rPr lang="ru-RU" sz="2400" dirty="0" smtClean="0">
                <a:solidFill>
                  <a:srgbClr val="00B050"/>
                </a:solidFill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B050"/>
                </a:solidFill>
                <a:latin typeface="Cascadia Mono" panose="020B0609020000020004" pitchFamily="49" charset="0"/>
              </a:rPr>
              <a:t>Создаем возможные транспортные средства</a:t>
            </a:r>
            <a:endParaRPr lang="en-US" sz="2400" dirty="0">
              <a:solidFill>
                <a:srgbClr val="00B05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enum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Transport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Car, Airplane, Bicycle, Boat, Spaceship 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B050"/>
                </a:solidFill>
                <a:latin typeface="Cascadia Mono" panose="020B0609020000020004" pitchFamily="49" charset="0"/>
              </a:rPr>
              <a:t>// Создаем возможные времена дня</a:t>
            </a: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enum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DayTime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Morning, Afternoon, Evening, Night</a:t>
            </a:r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23936" y="2492373"/>
            <a:ext cx="1062808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804200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0" y="0"/>
            <a:ext cx="12192000" cy="5232202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4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enum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DayTime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Morning, Afternoon, Evening, Night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endParaRPr lang="en-US" sz="2400" dirty="0" smtClean="0">
              <a:latin typeface="Bookman Old Style" panose="020506040505050202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ru-RU" sz="2400" dirty="0" smtClean="0">
                <a:latin typeface="Bookman Old Style" panose="02050604050505020204" pitchFamily="18" charset="0"/>
                <a:ea typeface="Times New Roman" panose="02020603050405020304" pitchFamily="18" charset="0"/>
              </a:rPr>
              <a:t>Перечисление возможно перевести в целое число, первое значение – 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Morning</a:t>
            </a:r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будет переведено в 0, 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Afternoon</a:t>
            </a:r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– в 1 и т.д.</a:t>
            </a:r>
            <a:endParaRPr lang="en-US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endParaRPr lang="en-US" sz="2400" dirty="0" smtClean="0">
              <a:solidFill>
                <a:srgbClr val="267F99"/>
              </a:solidFill>
              <a:latin typeface="Consolas" panose="020B0609020204030204" pitchFamily="49" charset="0"/>
            </a:endParaRPr>
          </a:p>
          <a:p>
            <a:r>
              <a:rPr lang="en-US" sz="2400" dirty="0" err="1" smtClean="0">
                <a:solidFill>
                  <a:srgbClr val="267F99"/>
                </a:solidFill>
                <a:latin typeface="Consolas" panose="020B0609020204030204" pitchFamily="49" charset="0"/>
              </a:rPr>
              <a:t>DayTime</a:t>
            </a:r>
            <a:r>
              <a:rPr lang="en-US" sz="2400" dirty="0" smtClean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dayTime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DayTime</a:t>
            </a:r>
            <a:r>
              <a:rPr lang="en-US" sz="24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Evening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intDayTime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dayTime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;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24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2</a:t>
            </a:r>
          </a:p>
          <a:p>
            <a:endParaRPr lang="en-US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Можно задать свои значения</a:t>
            </a:r>
            <a:r>
              <a:rPr lang="en-US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для каждой именованной константы:</a:t>
            </a:r>
          </a:p>
          <a:p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enum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DayTime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{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Morning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Afternoon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Evening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Night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smtClean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  <a:endParaRPr lang="ru-RU" sz="2400" dirty="0" smtClean="0">
              <a:solidFill>
                <a:srgbClr val="3B3B3B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23936" y="2492373"/>
            <a:ext cx="1062808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662541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8638" y="5008547"/>
            <a:ext cx="5791614" cy="1747803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288" y="5008547"/>
            <a:ext cx="5831350" cy="1748100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0" y="-36831"/>
            <a:ext cx="12192000" cy="4601260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ru-RU" sz="2400" dirty="0" smtClean="0">
                <a:latin typeface="Bookman Old Style" panose="02050604050505020204" pitchFamily="18" charset="0"/>
                <a:ea typeface="Times New Roman" panose="02020603050405020304" pitchFamily="18" charset="0"/>
              </a:rPr>
              <a:t>Перечисления используются для понятного обозначения возможных значений, например, изменим цвет нашей консоли:</a:t>
            </a: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Console</a:t>
            </a:r>
            <a:r>
              <a:rPr lang="en-US" sz="24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BackgroundColor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ConsoleColor</a:t>
            </a:r>
            <a:r>
              <a:rPr lang="en-US" sz="24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White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Console</a:t>
            </a:r>
            <a:r>
              <a:rPr lang="en-US" sz="24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ForegroundColor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ConsoleColor</a:t>
            </a:r>
            <a:r>
              <a:rPr lang="en-US" sz="24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Black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Console</a:t>
            </a:r>
            <a:r>
              <a:rPr lang="en-US" sz="24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WriteLine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"┌─────────────────┐"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Console</a:t>
            </a:r>
            <a:r>
              <a:rPr lang="en-US" sz="24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WriteLine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"│</a:t>
            </a:r>
            <a:r>
              <a:rPr lang="ru-RU" sz="2400" dirty="0">
                <a:solidFill>
                  <a:srgbClr val="A31515"/>
                </a:solidFill>
                <a:latin typeface="Consolas" panose="020B0609020204030204" pitchFamily="49" charset="0"/>
              </a:rPr>
              <a:t>Необычная консоль│"</a:t>
            </a:r>
            <a:r>
              <a:rPr lang="ru-RU" sz="24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Console</a:t>
            </a:r>
            <a:r>
              <a:rPr lang="en-US" sz="24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WriteLine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"└─────────────────┘</a:t>
            </a:r>
            <a:r>
              <a:rPr lang="en-US" sz="24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smtClean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  <a:endParaRPr lang="ru-RU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Гораздо удобнее читать </a:t>
            </a:r>
            <a:r>
              <a:rPr lang="en-US" sz="2400" dirty="0" err="1" smtClean="0">
                <a:solidFill>
                  <a:srgbClr val="001080"/>
                </a:solidFill>
                <a:latin typeface="Consolas" panose="020B0609020204030204" pitchFamily="49" charset="0"/>
              </a:rPr>
              <a:t>ConsoleColor</a:t>
            </a:r>
            <a:r>
              <a:rPr lang="en-US" sz="2400" dirty="0" err="1" smtClean="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 smtClean="0">
                <a:solidFill>
                  <a:srgbClr val="001080"/>
                </a:solidFill>
                <a:latin typeface="Consolas" panose="020B0609020204030204" pitchFamily="49" charset="0"/>
              </a:rPr>
              <a:t>White</a:t>
            </a:r>
            <a:r>
              <a:rPr lang="en-US" sz="2400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,</a:t>
            </a:r>
            <a:r>
              <a:rPr lang="ru-RU" sz="2400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 чем какое-нибудь «магическое число» 15</a:t>
            </a:r>
            <a:r>
              <a:rPr lang="en-US" sz="2400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.</a:t>
            </a:r>
            <a:endParaRPr lang="ru-RU" sz="2400" dirty="0">
              <a:latin typeface="Bookman Old Style" panose="020506040505050202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881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3" name="Прямоугольник 2"/>
          <p:cNvSpPr/>
          <p:nvPr/>
        </p:nvSpPr>
        <p:spPr>
          <a:xfrm>
            <a:off x="1411112" y="925688"/>
            <a:ext cx="1078088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current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DayTime</a:t>
            </a:r>
            <a:r>
              <a:rPr lang="en-US" sz="24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Afternoon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message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current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AF00DB"/>
                </a:solidFill>
                <a:latin typeface="Consolas" panose="020B0609020204030204" pitchFamily="49" charset="0"/>
              </a:rPr>
              <a:t>switch</a:t>
            </a:r>
            <a:endParaRPr lang="en-US" sz="2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DayTime</a:t>
            </a:r>
            <a:r>
              <a:rPr lang="en-US" sz="24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Morning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=&gt;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latin typeface="Consolas" panose="020B0609020204030204" pitchFamily="49" charset="0"/>
              </a:rPr>
              <a:t>Доброе утро"</a:t>
            </a:r>
            <a:r>
              <a:rPr lang="ru-RU" sz="2400" dirty="0">
                <a:solidFill>
                  <a:srgbClr val="3B3B3B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ru-RU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DayTime</a:t>
            </a:r>
            <a:r>
              <a:rPr lang="en-US" sz="24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Afternoon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=&gt;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latin typeface="Consolas" panose="020B0609020204030204" pitchFamily="49" charset="0"/>
              </a:rPr>
              <a:t>Добрый день"</a:t>
            </a:r>
            <a:r>
              <a:rPr lang="ru-RU" sz="2400" dirty="0">
                <a:solidFill>
                  <a:srgbClr val="3B3B3B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ru-RU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DayTime</a:t>
            </a:r>
            <a:r>
              <a:rPr lang="en-US" sz="24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Evening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=&gt;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latin typeface="Consolas" panose="020B0609020204030204" pitchFamily="49" charset="0"/>
              </a:rPr>
              <a:t>Добрый вечер"</a:t>
            </a:r>
            <a:r>
              <a:rPr lang="ru-RU" sz="2400" dirty="0">
                <a:solidFill>
                  <a:srgbClr val="3B3B3B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ru-RU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DayTime</a:t>
            </a:r>
            <a:r>
              <a:rPr lang="en-US" sz="24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Night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=&gt;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latin typeface="Consolas" panose="020B0609020204030204" pitchFamily="49" charset="0"/>
              </a:rPr>
              <a:t>Доброй ночи"</a:t>
            </a:r>
            <a:r>
              <a:rPr lang="ru-RU" sz="2400" dirty="0">
                <a:solidFill>
                  <a:srgbClr val="3B3B3B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ru-RU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_ 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=&gt;</a:t>
            </a:r>
            <a:r>
              <a:rPr lang="ru-RU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sz="2400" dirty="0">
                <a:solidFill>
                  <a:srgbClr val="A31515"/>
                </a:solidFill>
                <a:latin typeface="Consolas" panose="020B0609020204030204" pitchFamily="49" charset="0"/>
              </a:rPr>
              <a:t>"Неизвестное время суток"</a:t>
            </a:r>
            <a:endParaRPr lang="ru-RU" sz="2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ru-RU" sz="2400" dirty="0">
                <a:solidFill>
                  <a:srgbClr val="3B3B3B"/>
                </a:solidFill>
                <a:latin typeface="Consolas" panose="020B0609020204030204" pitchFamily="49" charset="0"/>
              </a:rPr>
              <a:t/>
            </a:r>
            <a:br>
              <a:rPr lang="ru-RU" sz="24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Console</a:t>
            </a:r>
            <a:r>
              <a:rPr lang="en-US" sz="24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WriteLine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message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enum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DayTime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{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Morning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Afternoon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Evening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Night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}</a:t>
            </a:r>
            <a:endParaRPr lang="en-US" sz="2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0" y="311125"/>
            <a:ext cx="12192000" cy="461665"/>
          </a:xfrm>
          <a:prstGeom prst="rect">
            <a:avLst/>
          </a:prstGeom>
          <a:noFill/>
        </p:spPr>
        <p:txBody>
          <a:bodyPr wrap="square" lIns="360000">
            <a:spAutoFit/>
          </a:bodyPr>
          <a:lstStyle/>
          <a:p>
            <a:r>
              <a:rPr lang="ru-RU" sz="2400" b="1" dirty="0" smtClean="0">
                <a:latin typeface="Bookman Old Style" panose="02050604050505020204" pitchFamily="18" charset="0"/>
              </a:rPr>
              <a:t>Пример</a:t>
            </a:r>
            <a:r>
              <a:rPr lang="ru-RU" sz="2400" dirty="0" smtClean="0">
                <a:latin typeface="Bookman Old Style" panose="02050604050505020204" pitchFamily="18" charset="0"/>
              </a:rPr>
              <a:t> </a:t>
            </a:r>
            <a:r>
              <a:rPr lang="en-US" sz="2400" dirty="0" smtClean="0">
                <a:latin typeface="Bookman Old Style" panose="02050604050505020204" pitchFamily="18" charset="0"/>
              </a:rPr>
              <a:t>switch-expression</a:t>
            </a:r>
            <a:r>
              <a:rPr lang="ru-RU" sz="2400" dirty="0" smtClean="0">
                <a:latin typeface="Bookman Old Style" panose="02050604050505020204" pitchFamily="18" charset="0"/>
              </a:rPr>
              <a:t>: </a:t>
            </a:r>
            <a:endParaRPr lang="en-US" sz="2400" i="0" dirty="0">
              <a:effectLst/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869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B76C38-5C63-40EA-9C87-3E38ECF3DF17}"/>
              </a:ext>
            </a:extLst>
          </p:cNvPr>
          <p:cNvSpPr txBox="1"/>
          <p:nvPr/>
        </p:nvSpPr>
        <p:spPr>
          <a:xfrm>
            <a:off x="1" y="654356"/>
            <a:ext cx="6516060" cy="6186309"/>
          </a:xfrm>
          <a:prstGeom prst="rect">
            <a:avLst/>
          </a:prstGeom>
          <a:noFill/>
        </p:spPr>
        <p:txBody>
          <a:bodyPr wrap="square" lIns="360000">
            <a:spAutoFit/>
          </a:bodyPr>
          <a:lstStyle/>
          <a:p>
            <a:pPr>
              <a:lnSpc>
                <a:spcPct val="11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Что получится в результате операций:</a:t>
            </a:r>
          </a:p>
          <a:p>
            <a:pPr>
              <a:lnSpc>
                <a:spcPct val="110000"/>
              </a:lnSpc>
            </a:pPr>
            <a:r>
              <a:rPr lang="en-US" sz="24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= 0;</a:t>
            </a:r>
          </a:p>
          <a:p>
            <a:pPr>
              <a:lnSpc>
                <a:spcPct val="110000"/>
              </a:lnSpc>
            </a:pP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&lt; 10)</a:t>
            </a:r>
          </a:p>
          <a:p>
            <a:pPr>
              <a:lnSpc>
                <a:spcPct val="110000"/>
              </a:lnSpc>
            </a:pP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= 100;</a:t>
            </a:r>
          </a:p>
          <a:p>
            <a:pPr>
              <a:lnSpc>
                <a:spcPct val="110000"/>
              </a:lnSpc>
            </a:pP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&gt; 50)</a:t>
            </a:r>
          </a:p>
          <a:p>
            <a:pPr>
              <a:lnSpc>
                <a:spcPct val="110000"/>
              </a:lnSpc>
            </a:pP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*= 3;</a:t>
            </a:r>
          </a:p>
          <a:p>
            <a:pPr>
              <a:lnSpc>
                <a:spcPct val="110000"/>
              </a:lnSpc>
            </a:pP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else</a:t>
            </a:r>
          </a:p>
          <a:p>
            <a:pPr>
              <a:lnSpc>
                <a:spcPct val="110000"/>
              </a:lnSpc>
            </a:pP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*= 2;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9" name="Rectangle 28" descr="Светлый диагональный 2">
            <a:extLst>
              <a:ext uri="{FF2B5EF4-FFF2-40B4-BE49-F238E27FC236}">
                <a16:creationId xmlns:a16="http://schemas.microsoft.com/office/drawing/2014/main" id="{2A0E99F7-A4CC-4E8F-8C74-D6A032765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Вопросы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B76C38-5C63-40EA-9C87-3E38ECF3DF17}"/>
              </a:ext>
            </a:extLst>
          </p:cNvPr>
          <p:cNvSpPr txBox="1"/>
          <p:nvPr/>
        </p:nvSpPr>
        <p:spPr>
          <a:xfrm>
            <a:off x="6516061" y="1077956"/>
            <a:ext cx="5675939" cy="578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4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= 0;</a:t>
            </a:r>
          </a:p>
          <a:p>
            <a:pPr>
              <a:lnSpc>
                <a:spcPct val="110000"/>
              </a:lnSpc>
            </a:pP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10)</a:t>
            </a:r>
          </a:p>
          <a:p>
            <a:pPr>
              <a:lnSpc>
                <a:spcPct val="110000"/>
              </a:lnSpc>
            </a:pP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= 100;</a:t>
            </a:r>
          </a:p>
          <a:p>
            <a:pPr>
              <a:lnSpc>
                <a:spcPct val="110000"/>
              </a:lnSpc>
            </a:pP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else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&gt; 5</a:t>
            </a:r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0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*= 3;</a:t>
            </a:r>
          </a:p>
          <a:p>
            <a:pPr>
              <a:lnSpc>
                <a:spcPct val="110000"/>
              </a:lnSpc>
            </a:pP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else</a:t>
            </a:r>
          </a:p>
          <a:p>
            <a:pPr>
              <a:lnSpc>
                <a:spcPct val="110000"/>
              </a:lnSpc>
            </a:pP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+= 2;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34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B76C38-5C63-40EA-9C87-3E38ECF3DF17}"/>
              </a:ext>
            </a:extLst>
          </p:cNvPr>
          <p:cNvSpPr txBox="1"/>
          <p:nvPr/>
        </p:nvSpPr>
        <p:spPr>
          <a:xfrm>
            <a:off x="10821" y="0"/>
            <a:ext cx="6205701" cy="5780044"/>
          </a:xfrm>
          <a:prstGeom prst="rect">
            <a:avLst/>
          </a:prstGeom>
          <a:noFill/>
        </p:spPr>
        <p:txBody>
          <a:bodyPr wrap="square" lIns="360000">
            <a:spAutoFit/>
          </a:bodyPr>
          <a:lstStyle/>
          <a:p>
            <a:pPr>
              <a:lnSpc>
                <a:spcPct val="110000"/>
              </a:lnSpc>
            </a:pPr>
            <a:endParaRPr lang="ru-RU" sz="2400" dirty="0" smtClean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pPr>
              <a:lnSpc>
                <a:spcPct val="110000"/>
              </a:lnSpc>
            </a:pPr>
            <a:r>
              <a:rPr lang="en-US" sz="24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= 5;</a:t>
            </a:r>
          </a:p>
          <a:p>
            <a:pPr>
              <a:lnSpc>
                <a:spcPct val="110000"/>
              </a:lnSpc>
            </a:pP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j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= 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10;</a:t>
            </a:r>
          </a:p>
          <a:p>
            <a:pPr>
              <a:lnSpc>
                <a:spcPct val="110000"/>
              </a:lnSpc>
            </a:pP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k =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&lt; j ? 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+ j : 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- j;</a:t>
            </a:r>
            <a:endParaRPr lang="ru-RU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>
              <a:lnSpc>
                <a:spcPct val="110000"/>
              </a:lnSpc>
            </a:pPr>
            <a:endParaRPr lang="ru-RU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>
              <a:lnSpc>
                <a:spcPct val="110000"/>
              </a:lnSpc>
            </a:pP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>
              <a:lnSpc>
                <a:spcPct val="110000"/>
              </a:lnSpc>
            </a:pP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a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= 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13;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>
              <a:lnSpc>
                <a:spcPct val="110000"/>
              </a:lnSpc>
            </a:pP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b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= 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5;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>
              <a:lnSpc>
                <a:spcPct val="110000"/>
              </a:lnSpc>
            </a:pP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c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= 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a == b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? 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a : b;</a:t>
            </a:r>
          </a:p>
          <a:p>
            <a:pPr>
              <a:lnSpc>
                <a:spcPct val="110000"/>
              </a:lnSpc>
            </a:pPr>
            <a:endParaRPr lang="en-US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>
              <a:lnSpc>
                <a:spcPct val="110000"/>
              </a:lnSpc>
            </a:pP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>
              <a:lnSpc>
                <a:spcPct val="110000"/>
              </a:lnSpc>
            </a:pP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q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= 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5;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>
              <a:lnSpc>
                <a:spcPct val="110000"/>
              </a:lnSpc>
            </a:pP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w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= 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1;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>
              <a:lnSpc>
                <a:spcPct val="110000"/>
              </a:lnSpc>
            </a:pP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e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= 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q % 2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== 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w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? 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w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q;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6461051" y="-41"/>
            <a:ext cx="5730949" cy="685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a = “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Вася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”;</a:t>
            </a:r>
          </a:p>
          <a:p>
            <a:pPr>
              <a:lnSpc>
                <a:spcPct val="110000"/>
              </a:lnSpc>
            </a:pP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b = “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Петя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”;</a:t>
            </a:r>
          </a:p>
          <a:p>
            <a:pPr>
              <a:lnSpc>
                <a:spcPct val="110000"/>
              </a:lnSpc>
            </a:pP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switch </a:t>
            </a:r>
            <a:r>
              <a:rPr lang="en-US" sz="2400" dirty="0">
                <a:latin typeface="Cascadia Mono" panose="020B0609020000020004" pitchFamily="49" charset="0"/>
              </a:rPr>
              <a:t>(a)</a:t>
            </a:r>
          </a:p>
          <a:p>
            <a:r>
              <a:rPr lang="en-US" sz="2400" dirty="0"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latin typeface="Cascadia Mono" panose="020B0609020000020004" pitchFamily="49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case</a:t>
            </a:r>
            <a:r>
              <a:rPr lang="en-US" sz="2400" dirty="0">
                <a:latin typeface="Cascadia Mono" panose="020B0609020000020004" pitchFamily="49" charset="0"/>
              </a:rPr>
              <a:t> “</a:t>
            </a:r>
            <a:r>
              <a:rPr lang="ru-RU" sz="2400" dirty="0">
                <a:latin typeface="Cascadia Mono" panose="020B0609020000020004" pitchFamily="49" charset="0"/>
              </a:rPr>
              <a:t>Коля</a:t>
            </a:r>
            <a:r>
              <a:rPr lang="en-US" sz="2400" dirty="0" smtClean="0">
                <a:latin typeface="Cascadia Mono" panose="020B0609020000020004" pitchFamily="49" charset="0"/>
              </a:rPr>
              <a:t>”:</a:t>
            </a:r>
            <a:endParaRPr lang="ru-RU" sz="2400" dirty="0">
              <a:latin typeface="Cascadia Mono" panose="020B0609020000020004" pitchFamily="49" charset="0"/>
            </a:endParaRPr>
          </a:p>
          <a:p>
            <a:r>
              <a:rPr lang="ru-RU" sz="2400" dirty="0">
                <a:latin typeface="Cascadia Mono" panose="020B0609020000020004" pitchFamily="49" charset="0"/>
              </a:rPr>
              <a:t>	</a:t>
            </a:r>
            <a:r>
              <a:rPr lang="en-US" sz="2400" dirty="0"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latin typeface="Cascadia Mono" panose="020B0609020000020004" pitchFamily="49" charset="0"/>
              </a:rPr>
              <a:t>		</a:t>
            </a:r>
            <a:r>
              <a:rPr lang="en-US" sz="2400" dirty="0" err="1"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latin typeface="Cascadia Mono" panose="020B0609020000020004" pitchFamily="49" charset="0"/>
              </a:rPr>
              <a:t>(1);</a:t>
            </a:r>
          </a:p>
          <a:p>
            <a:r>
              <a:rPr lang="en-US" sz="2400" dirty="0">
                <a:latin typeface="Cascadia Mono" panose="020B0609020000020004" pitchFamily="49" charset="0"/>
              </a:rPr>
              <a:t>	}</a:t>
            </a:r>
            <a:r>
              <a:rPr lang="ru-RU" sz="2400" dirty="0"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en-US" sz="2400" dirty="0">
                <a:latin typeface="Cascadia Mono" panose="020B0609020000020004" pitchFamily="49" charset="0"/>
              </a:rPr>
              <a:t>;</a:t>
            </a:r>
            <a:endParaRPr lang="ru-RU" sz="2400" dirty="0">
              <a:latin typeface="Cascadia Mono" panose="020B0609020000020004" pitchFamily="49" charset="0"/>
            </a:endParaRPr>
          </a:p>
          <a:p>
            <a:r>
              <a:rPr lang="en-US" sz="2400" dirty="0">
                <a:latin typeface="Cascadia Mono" panose="020B0609020000020004" pitchFamily="49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case</a:t>
            </a:r>
            <a:r>
              <a:rPr lang="en-US" sz="2400" dirty="0"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latin typeface="Cascadia Mono" panose="020B0609020000020004" pitchFamily="49" charset="0"/>
              </a:rPr>
              <a:t>“</a:t>
            </a:r>
            <a:r>
              <a:rPr lang="ru-RU" sz="2400" dirty="0" smtClean="0">
                <a:latin typeface="Cascadia Mono" panose="020B0609020000020004" pitchFamily="49" charset="0"/>
              </a:rPr>
              <a:t>Петя</a:t>
            </a:r>
            <a:r>
              <a:rPr lang="en-US" sz="2400" dirty="0" smtClean="0">
                <a:latin typeface="Cascadia Mono" panose="020B0609020000020004" pitchFamily="49" charset="0"/>
              </a:rPr>
              <a:t>”:</a:t>
            </a:r>
            <a:endParaRPr lang="ru-RU" sz="2400" dirty="0">
              <a:latin typeface="Cascadia Mono" panose="020B0609020000020004" pitchFamily="49" charset="0"/>
            </a:endParaRPr>
          </a:p>
          <a:p>
            <a:r>
              <a:rPr lang="ru-RU" sz="2400" dirty="0">
                <a:latin typeface="Cascadia Mono" panose="020B0609020000020004" pitchFamily="49" charset="0"/>
              </a:rPr>
              <a:t>	</a:t>
            </a:r>
            <a:r>
              <a:rPr lang="en-US" sz="2400" dirty="0"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latin typeface="Cascadia Mono" panose="020B0609020000020004" pitchFamily="49" charset="0"/>
              </a:rPr>
              <a:t>		</a:t>
            </a:r>
            <a:r>
              <a:rPr lang="en-US" sz="2400" dirty="0" err="1" smtClean="0">
                <a:latin typeface="Cascadia Mono" panose="020B0609020000020004" pitchFamily="49" charset="0"/>
              </a:rPr>
              <a:t>Console.WriteLine</a:t>
            </a:r>
            <a:r>
              <a:rPr lang="en-US" sz="2400" dirty="0" smtClean="0">
                <a:latin typeface="Cascadia Mono" panose="020B0609020000020004" pitchFamily="49" charset="0"/>
              </a:rPr>
              <a:t>(</a:t>
            </a:r>
            <a:r>
              <a:rPr lang="ru-RU" sz="2400" dirty="0" smtClean="0">
                <a:latin typeface="Cascadia Mono" panose="020B0609020000020004" pitchFamily="49" charset="0"/>
              </a:rPr>
              <a:t>2</a:t>
            </a:r>
            <a:r>
              <a:rPr lang="en-US" sz="2400" dirty="0" smtClean="0">
                <a:latin typeface="Cascadia Mono" panose="020B0609020000020004" pitchFamily="49" charset="0"/>
              </a:rPr>
              <a:t>);</a:t>
            </a:r>
            <a:endParaRPr lang="en-US" sz="2400" dirty="0">
              <a:latin typeface="Cascadia Mono" panose="020B0609020000020004" pitchFamily="49" charset="0"/>
            </a:endParaRPr>
          </a:p>
          <a:p>
            <a:r>
              <a:rPr lang="en-US" sz="2400" dirty="0">
                <a:latin typeface="Cascadia Mono" panose="020B0609020000020004" pitchFamily="49" charset="0"/>
              </a:rPr>
              <a:t>	}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en-US" sz="2400" dirty="0"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>
                <a:latin typeface="Cascadia Mono" panose="020B0609020000020004" pitchFamily="49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case</a:t>
            </a:r>
            <a:r>
              <a:rPr lang="en-US" sz="2400" dirty="0"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latin typeface="Cascadia Mono" panose="020B0609020000020004" pitchFamily="49" charset="0"/>
              </a:rPr>
              <a:t>“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Вася</a:t>
            </a:r>
            <a:r>
              <a:rPr lang="en-US" sz="2400" dirty="0" smtClean="0">
                <a:latin typeface="Cascadia Mono" panose="020B0609020000020004" pitchFamily="49" charset="0"/>
              </a:rPr>
              <a:t>”:</a:t>
            </a:r>
            <a:endParaRPr lang="ru-RU" sz="2400" dirty="0">
              <a:latin typeface="Cascadia Mono" panose="020B0609020000020004" pitchFamily="49" charset="0"/>
            </a:endParaRPr>
          </a:p>
          <a:p>
            <a:r>
              <a:rPr lang="ru-RU" sz="2400" dirty="0">
                <a:latin typeface="Cascadia Mono" panose="020B0609020000020004" pitchFamily="49" charset="0"/>
              </a:rPr>
              <a:t>	</a:t>
            </a:r>
            <a:r>
              <a:rPr lang="en-US" sz="2400" dirty="0"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latin typeface="Cascadia Mono" panose="020B0609020000020004" pitchFamily="49" charset="0"/>
              </a:rPr>
              <a:t>		</a:t>
            </a:r>
            <a:r>
              <a:rPr lang="en-US" sz="2400" dirty="0" err="1" smtClean="0">
                <a:latin typeface="Cascadia Mono" panose="020B0609020000020004" pitchFamily="49" charset="0"/>
              </a:rPr>
              <a:t>Console.WriteLine</a:t>
            </a:r>
            <a:r>
              <a:rPr lang="en-US" sz="2400" dirty="0" smtClean="0">
                <a:latin typeface="Cascadia Mono" panose="020B0609020000020004" pitchFamily="49" charset="0"/>
              </a:rPr>
              <a:t>(</a:t>
            </a:r>
            <a:r>
              <a:rPr lang="ru-RU" sz="2400" dirty="0" smtClean="0">
                <a:latin typeface="Cascadia Mono" panose="020B0609020000020004" pitchFamily="49" charset="0"/>
              </a:rPr>
              <a:t>3</a:t>
            </a:r>
            <a:r>
              <a:rPr lang="en-US" sz="2400" dirty="0" smtClean="0">
                <a:latin typeface="Cascadia Mono" panose="020B0609020000020004" pitchFamily="49" charset="0"/>
              </a:rPr>
              <a:t>);</a:t>
            </a:r>
            <a:endParaRPr lang="en-US" sz="2400" dirty="0">
              <a:latin typeface="Cascadia Mono" panose="020B0609020000020004" pitchFamily="49" charset="0"/>
            </a:endParaRPr>
          </a:p>
          <a:p>
            <a:r>
              <a:rPr lang="en-US" sz="2400" dirty="0">
                <a:latin typeface="Cascadia Mono" panose="020B0609020000020004" pitchFamily="49" charset="0"/>
              </a:rPr>
              <a:t>	}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en-US" sz="2400" dirty="0"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 smtClean="0">
                <a:latin typeface="Cascadia Mono" panose="020B06090200000200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1958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165" y="-616"/>
            <a:ext cx="12191999" cy="90486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10000"/>
              </a:lnSpc>
              <a:spcAft>
                <a:spcPts val="600"/>
              </a:spcAft>
            </a:pPr>
            <a:r>
              <a:rPr lang="ru-RU" sz="2400" b="1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Цикличные</a:t>
            </a:r>
            <a:r>
              <a:rPr lang="ru-RU" sz="2400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 программы – когда действие необходимо выполнять множество раз пока выполняется какое-либо условие.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7002738" y="1110493"/>
            <a:ext cx="2643372" cy="508631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latin typeface="Bookman Old Style" panose="02050604050505020204" pitchFamily="18" charset="0"/>
              </a:rPr>
              <a:t>Инструкция 1</a:t>
            </a:r>
          </a:p>
        </p:txBody>
      </p:sp>
      <p:cxnSp>
        <p:nvCxnSpPr>
          <p:cNvPr id="16" name="Прямая со стрелкой 15"/>
          <p:cNvCxnSpPr>
            <a:stCxn id="15" idx="2"/>
            <a:endCxn id="20" idx="0"/>
          </p:cNvCxnSpPr>
          <p:nvPr/>
        </p:nvCxnSpPr>
        <p:spPr>
          <a:xfrm>
            <a:off x="8324424" y="1619124"/>
            <a:ext cx="0" cy="601721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 16"/>
          <p:cNvSpPr/>
          <p:nvPr/>
        </p:nvSpPr>
        <p:spPr>
          <a:xfrm>
            <a:off x="7002738" y="3500567"/>
            <a:ext cx="2650892" cy="508631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latin typeface="Bookman Old Style" panose="02050604050505020204" pitchFamily="18" charset="0"/>
              </a:rPr>
              <a:t>Инструкция </a:t>
            </a:r>
            <a:r>
              <a:rPr lang="en-US" sz="2400" b="1" dirty="0">
                <a:latin typeface="Bookman Old Style" panose="02050604050505020204" pitchFamily="18" charset="0"/>
              </a:rPr>
              <a:t>2</a:t>
            </a:r>
            <a:endParaRPr lang="ru-RU" sz="2400" b="1" dirty="0">
              <a:latin typeface="Bookman Old Style" panose="02050604050505020204" pitchFamily="18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10218191" y="2365217"/>
            <a:ext cx="1697183" cy="508631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 err="1" smtClean="0">
                <a:latin typeface="Bookman Old Style" panose="02050604050505020204" pitchFamily="18" charset="0"/>
              </a:rPr>
              <a:t>Инстр</a:t>
            </a:r>
            <a:r>
              <a:rPr lang="ru-RU" sz="2400" b="1" dirty="0" smtClean="0">
                <a:latin typeface="Bookman Old Style" panose="02050604050505020204" pitchFamily="18" charset="0"/>
              </a:rPr>
              <a:t>. </a:t>
            </a:r>
            <a:r>
              <a:rPr lang="en-US" sz="2400" b="1" dirty="0">
                <a:latin typeface="Bookman Old Style" panose="02050604050505020204" pitchFamily="18" charset="0"/>
              </a:rPr>
              <a:t>3</a:t>
            </a:r>
            <a:endParaRPr lang="ru-RU" sz="2400" b="1" dirty="0">
              <a:latin typeface="Bookman Old Style" panose="02050604050505020204" pitchFamily="18" charset="0"/>
            </a:endParaRPr>
          </a:p>
        </p:txBody>
      </p:sp>
      <p:cxnSp>
        <p:nvCxnSpPr>
          <p:cNvPr id="19" name="Прямая со стрелкой 18"/>
          <p:cNvCxnSpPr>
            <a:stCxn id="20" idx="3"/>
            <a:endCxn id="18" idx="1"/>
          </p:cNvCxnSpPr>
          <p:nvPr/>
        </p:nvCxnSpPr>
        <p:spPr>
          <a:xfrm>
            <a:off x="9871365" y="2619532"/>
            <a:ext cx="346826" cy="1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Блок-схема: решение 19"/>
          <p:cNvSpPr/>
          <p:nvPr/>
        </p:nvSpPr>
        <p:spPr>
          <a:xfrm>
            <a:off x="6777483" y="2220845"/>
            <a:ext cx="3093882" cy="797374"/>
          </a:xfrm>
          <a:prstGeom prst="flowChartDecision">
            <a:avLst/>
          </a:prstGeom>
          <a:solidFill>
            <a:schemeClr val="bg1"/>
          </a:solidFill>
          <a:ln w="3810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dk1"/>
                </a:solidFill>
                <a:latin typeface="Bookman Old Style" panose="02050604050505020204" pitchFamily="18" charset="0"/>
              </a:rPr>
              <a:t>Условие</a:t>
            </a:r>
          </a:p>
        </p:txBody>
      </p:sp>
      <p:cxnSp>
        <p:nvCxnSpPr>
          <p:cNvPr id="21" name="Прямая со стрелкой 20"/>
          <p:cNvCxnSpPr>
            <a:stCxn id="20" idx="2"/>
            <a:endCxn id="17" idx="0"/>
          </p:cNvCxnSpPr>
          <p:nvPr/>
        </p:nvCxnSpPr>
        <p:spPr>
          <a:xfrm>
            <a:off x="8324424" y="3018219"/>
            <a:ext cx="3760" cy="482348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Прямоугольник 21"/>
          <p:cNvSpPr/>
          <p:nvPr/>
        </p:nvSpPr>
        <p:spPr>
          <a:xfrm>
            <a:off x="9156715" y="1945401"/>
            <a:ext cx="1468868" cy="49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  <a:spcAft>
                <a:spcPts val="600"/>
              </a:spcAft>
            </a:pPr>
            <a:r>
              <a:rPr lang="ru-RU" sz="2400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Истина</a:t>
            </a:r>
          </a:p>
        </p:txBody>
      </p:sp>
      <p:sp>
        <p:nvSpPr>
          <p:cNvPr id="23" name="Прямоугольник 22"/>
          <p:cNvSpPr/>
          <p:nvPr/>
        </p:nvSpPr>
        <p:spPr>
          <a:xfrm>
            <a:off x="8541170" y="2968891"/>
            <a:ext cx="1468868" cy="49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  <a:spcAft>
                <a:spcPts val="600"/>
              </a:spcAft>
            </a:pPr>
            <a:r>
              <a:rPr lang="ru-RU" sz="2400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Ложь</a:t>
            </a:r>
          </a:p>
        </p:txBody>
      </p:sp>
      <p:cxnSp>
        <p:nvCxnSpPr>
          <p:cNvPr id="25" name="Прямая со стрелкой 24"/>
          <p:cNvCxnSpPr>
            <a:stCxn id="18" idx="0"/>
          </p:cNvCxnSpPr>
          <p:nvPr/>
        </p:nvCxnSpPr>
        <p:spPr>
          <a:xfrm flipV="1">
            <a:off x="11066783" y="1909531"/>
            <a:ext cx="0" cy="455686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 flipH="1">
            <a:off x="8303451" y="1909531"/>
            <a:ext cx="2763332" cy="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Прямоугольник 35"/>
          <p:cNvSpPr/>
          <p:nvPr/>
        </p:nvSpPr>
        <p:spPr>
          <a:xfrm>
            <a:off x="0" y="833040"/>
            <a:ext cx="6777482" cy="3979551"/>
          </a:xfrm>
          <a:prstGeom prst="rect">
            <a:avLst/>
          </a:prstGeom>
        </p:spPr>
        <p:txBody>
          <a:bodyPr wrap="square" lIns="360000">
            <a:spAutoFit/>
          </a:bodyPr>
          <a:lstStyle/>
          <a:p>
            <a:pPr algn="just">
              <a:lnSpc>
                <a:spcPct val="110000"/>
              </a:lnSpc>
              <a:spcAft>
                <a:spcPts val="600"/>
              </a:spcAft>
            </a:pPr>
            <a:r>
              <a:rPr lang="ru-RU" sz="2400" b="1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Виды циклов:</a:t>
            </a:r>
          </a:p>
          <a:p>
            <a:pPr marL="457200" indent="-457200" algn="just">
              <a:lnSpc>
                <a:spcPct val="11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2400" b="1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Безусловные</a:t>
            </a:r>
            <a:r>
              <a:rPr lang="ru-RU" sz="2400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 (бесконечные) – когда условие выхода не предусмотрено</a:t>
            </a:r>
          </a:p>
          <a:p>
            <a:pPr marL="457200" indent="-457200" algn="just">
              <a:lnSpc>
                <a:spcPct val="11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2400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С </a:t>
            </a:r>
            <a:r>
              <a:rPr lang="ru-RU" sz="2400" b="1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предусловием</a:t>
            </a:r>
            <a:r>
              <a:rPr lang="ru-RU" sz="2400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 – сначала проверяется условие, потом выполняется тело цикла.</a:t>
            </a:r>
          </a:p>
          <a:p>
            <a:pPr marL="457200" indent="-457200" algn="just">
              <a:lnSpc>
                <a:spcPct val="11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2400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С </a:t>
            </a:r>
            <a:r>
              <a:rPr lang="ru-RU" sz="2400" b="1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постусловием</a:t>
            </a:r>
            <a:r>
              <a:rPr lang="ru-RU" sz="2400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 – сначала выполняется тело цикла, потом проверяется условие.</a:t>
            </a:r>
          </a:p>
        </p:txBody>
      </p:sp>
      <p:sp>
        <p:nvSpPr>
          <p:cNvPr id="51" name="Прямоугольник 50"/>
          <p:cNvSpPr/>
          <p:nvPr/>
        </p:nvSpPr>
        <p:spPr>
          <a:xfrm>
            <a:off x="0" y="4719199"/>
            <a:ext cx="12191999" cy="2200602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marL="457200" indent="-457200" algn="just">
              <a:lnSpc>
                <a:spcPct val="110000"/>
              </a:lnSpc>
              <a:spcAft>
                <a:spcPts val="600"/>
              </a:spcAft>
              <a:buFont typeface="+mj-lt"/>
              <a:buAutoNum type="arabicPeriod" startAt="4"/>
            </a:pPr>
            <a:r>
              <a:rPr lang="ru-RU" sz="2400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С </a:t>
            </a:r>
            <a:r>
              <a:rPr lang="ru-RU" sz="2400" b="1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выходом из середины </a:t>
            </a:r>
            <a:r>
              <a:rPr lang="ru-RU" sz="2400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– наиболее общая форма цикла. Синтаксически цикл оформляется с помощью: </a:t>
            </a:r>
            <a:r>
              <a:rPr lang="ru-RU" sz="2400" b="1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начала</a:t>
            </a:r>
            <a:r>
              <a:rPr lang="ru-RU" sz="2400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 цикла, </a:t>
            </a:r>
            <a:r>
              <a:rPr lang="ru-RU" sz="2400" b="1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конца</a:t>
            </a:r>
            <a:r>
              <a:rPr lang="ru-RU" sz="2400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 и </a:t>
            </a:r>
            <a:r>
              <a:rPr lang="ru-RU" sz="2400" b="1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команды выхода</a:t>
            </a:r>
            <a:r>
              <a:rPr lang="ru-RU" sz="2400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.</a:t>
            </a:r>
          </a:p>
          <a:p>
            <a:pPr marL="457200" indent="-457200" algn="just">
              <a:lnSpc>
                <a:spcPct val="110000"/>
              </a:lnSpc>
              <a:spcAft>
                <a:spcPts val="600"/>
              </a:spcAft>
              <a:buFont typeface="+mj-lt"/>
              <a:buAutoNum type="arabicPeriod" startAt="4"/>
            </a:pPr>
            <a:r>
              <a:rPr lang="ru-RU" sz="2400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Совместный цикл (</a:t>
            </a:r>
            <a:r>
              <a:rPr lang="ru-RU" sz="2400" b="1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цикл по коллекции</a:t>
            </a:r>
            <a:r>
              <a:rPr lang="ru-RU" sz="2400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) – «Выполнить для всех элементов»</a:t>
            </a:r>
          </a:p>
        </p:txBody>
      </p:sp>
    </p:spTree>
    <p:extLst>
      <p:ext uri="{BB962C8B-B14F-4D97-AF65-F5344CB8AC3E}">
        <p14:creationId xmlns:p14="http://schemas.microsoft.com/office/powerpoint/2010/main" val="3390680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2" name="Rectangle 28" descr="Светлый диагональный 2">
            <a:extLst>
              <a:ext uri="{FF2B5EF4-FFF2-40B4-BE49-F238E27FC236}">
                <a16:creationId xmlns:a16="http://schemas.microsoft.com/office/drawing/2014/main" id="{2A0E99F7-A4CC-4E8F-8C74-D6A032765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Массивы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0" y="687143"/>
            <a:ext cx="12191999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Массив</a:t>
            </a:r>
            <a:r>
              <a:rPr lang="ru-RU" sz="2400" dirty="0">
                <a:latin typeface="Bookman Old Style" panose="02050604050505020204" pitchFamily="18" charset="0"/>
              </a:rPr>
              <a:t> представляет </a:t>
            </a:r>
            <a:r>
              <a:rPr lang="ru-RU" sz="2400" dirty="0" smtClean="0">
                <a:latin typeface="Bookman Old Style" panose="02050604050505020204" pitchFamily="18" charset="0"/>
              </a:rPr>
              <a:t>собой набор </a:t>
            </a:r>
            <a:r>
              <a:rPr lang="ru-RU" sz="2400" dirty="0">
                <a:latin typeface="Bookman Old Style" panose="02050604050505020204" pitchFamily="18" charset="0"/>
              </a:rPr>
              <a:t>однотипных данных. Объявление массива похоже на объявление переменной за тем исключением, что после указания типа ставятся квадратные скобки:</a:t>
            </a:r>
          </a:p>
          <a:p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тип_переменных</a:t>
            </a:r>
            <a:r>
              <a:rPr lang="ru-RU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ru-RU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название_массива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Инициализация массива:</a:t>
            </a:r>
          </a:p>
          <a:p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название_массива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new </a:t>
            </a:r>
            <a:r>
              <a:rPr lang="ru-RU" sz="24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тип_переменных</a:t>
            </a:r>
            <a:r>
              <a:rPr lang="ru-RU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ru-RU" sz="2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количество_элементов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sz="2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[] array 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[5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endParaRPr lang="ru-RU" sz="2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[] array2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[10];</a:t>
            </a:r>
          </a:p>
          <a:p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[] array3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[500];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4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5" name="Прямоугольник 4"/>
          <p:cNvSpPr/>
          <p:nvPr/>
        </p:nvSpPr>
        <p:spPr>
          <a:xfrm>
            <a:off x="0" y="0"/>
            <a:ext cx="12191999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Пример работы с массивом:</a:t>
            </a:r>
            <a:endParaRPr lang="en-US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К элементам массива обращаются по </a:t>
            </a:r>
            <a:r>
              <a:rPr lang="ru-RU" sz="2400" b="1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Индексу.</a:t>
            </a:r>
            <a:endParaRPr lang="ru-RU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Индексация начинается с </a:t>
            </a:r>
            <a:r>
              <a:rPr lang="ru-RU" sz="2400" b="1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нуля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!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Создадим массив </a:t>
            </a:r>
            <a:r>
              <a:rPr lang="ru-RU" sz="2400" b="1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длины 5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: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[] array 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[5];</a:t>
            </a:r>
            <a:r>
              <a:rPr lang="ru-RU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Внутри: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0 0 0 0 0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array[0] = 3; 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Внутри: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3 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0 0 0 0</a:t>
            </a:r>
            <a:endParaRPr lang="ru-RU" sz="2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array[2] = 7; 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Внутри: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3 0 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7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0 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0</a:t>
            </a:r>
            <a:endParaRPr lang="ru-RU" sz="2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В новых версиях </a:t>
            </a:r>
            <a:r>
              <a:rPr lang="en-US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C#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 возможно обращение с конца</a:t>
            </a:r>
            <a:r>
              <a:rPr lang="en-US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:</a:t>
            </a:r>
            <a:endParaRPr lang="ru-RU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[^1]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5; 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Внутри: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3 0 7 0 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5</a:t>
            </a:r>
            <a:endParaRPr lang="ru-RU" sz="2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[^</a:t>
            </a:r>
            <a:r>
              <a:rPr lang="ru-RU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2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ru-RU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Внутри: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3 0 7 </a:t>
            </a:r>
            <a:r>
              <a:rPr lang="ru-RU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5</a:t>
            </a:r>
            <a:endParaRPr lang="ru-RU" sz="2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Чтобы узнать длину массива, необходимо вызвать свойство </a:t>
            </a:r>
            <a:r>
              <a:rPr lang="en-US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Length:</a:t>
            </a:r>
          </a:p>
          <a:p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arrayL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array.Length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3803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5" name="Прямоугольник 4"/>
          <p:cNvSpPr/>
          <p:nvPr/>
        </p:nvSpPr>
        <p:spPr>
          <a:xfrm>
            <a:off x="0" y="0"/>
            <a:ext cx="12191999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Пример работы с массивом:</a:t>
            </a:r>
            <a:endParaRPr lang="ru-RU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Создадим и сразу заполним массив: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[] array 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[]</a:t>
            </a:r>
            <a:r>
              <a:rPr lang="ru-RU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{1, 3, 2, 5, 4};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Внутри:</a:t>
            </a:r>
            <a:r>
              <a:rPr lang="en-US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 1 3 2 5 4</a:t>
            </a:r>
            <a:endParaRPr lang="ru-RU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Можно написать так:</a:t>
            </a:r>
            <a:endParaRPr lang="ru-RU" sz="2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[] array 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[]</a:t>
            </a:r>
            <a:r>
              <a:rPr lang="ru-RU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  <a:r>
              <a:rPr lang="ru-RU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.0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3, 2, 5, 4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ru-RU" sz="2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Но тогда нужно явно указать, что числа вещественные написав знак после запятой хотя бы в одном числе: 1.0</a:t>
            </a:r>
            <a:endParaRPr lang="en-US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Внутри:</a:t>
            </a:r>
            <a:r>
              <a:rPr lang="en-US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1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.0</a:t>
            </a:r>
            <a:r>
              <a:rPr lang="en-US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 3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.0</a:t>
            </a:r>
            <a:r>
              <a:rPr lang="en-US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 2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.0</a:t>
            </a:r>
            <a:r>
              <a:rPr lang="en-US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 5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.0</a:t>
            </a:r>
            <a:r>
              <a:rPr lang="en-US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 4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.0</a:t>
            </a:r>
            <a:endParaRPr lang="en-US" sz="2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С применением </a:t>
            </a:r>
            <a:r>
              <a:rPr lang="en-US" sz="2400" dirty="0" err="1" smtClean="0">
                <a:solidFill>
                  <a:srgbClr val="000000"/>
                </a:solidFill>
                <a:latin typeface="Bookman Old Style" panose="02050604050505020204" pitchFamily="18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:</a:t>
            </a: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r>
              <a:rPr lang="en-US" sz="24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[]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{1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.0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3, 2, 5, 4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Внутри:</a:t>
            </a:r>
            <a:r>
              <a:rPr lang="en-US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1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.0</a:t>
            </a:r>
            <a:r>
              <a:rPr lang="en-US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3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.0</a:t>
            </a:r>
            <a:r>
              <a:rPr lang="en-US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2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.0</a:t>
            </a:r>
            <a:r>
              <a:rPr lang="en-US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5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.0</a:t>
            </a:r>
            <a:r>
              <a:rPr lang="en-US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4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.0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1013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r="33604" b="48866"/>
          <a:stretch/>
        </p:blipFill>
        <p:spPr>
          <a:xfrm>
            <a:off x="328670" y="4524315"/>
            <a:ext cx="11534658" cy="1856094"/>
          </a:xfrm>
          <a:prstGeom prst="rect">
            <a:avLst/>
          </a:prstGeom>
        </p:spPr>
      </p:pic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5" name="Прямоугольник 4"/>
          <p:cNvSpPr/>
          <p:nvPr/>
        </p:nvSpPr>
        <p:spPr>
          <a:xfrm>
            <a:off x="0" y="0"/>
            <a:ext cx="12191999" cy="452431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Пример работы с массивом:</a:t>
            </a:r>
            <a:endParaRPr lang="ru-RU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Создадим и сразу заполним массив: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[] array 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[]</a:t>
            </a:r>
            <a:r>
              <a:rPr lang="ru-RU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{1, 3, 2, 5, 4};</a:t>
            </a:r>
          </a:p>
          <a:p>
            <a:endParaRPr lang="ru-RU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Индексы: 0 1 2 3 4</a:t>
            </a:r>
            <a:endParaRPr lang="en-US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Внутри:</a:t>
            </a:r>
            <a:r>
              <a:rPr lang="en-US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   </a:t>
            </a:r>
            <a:r>
              <a:rPr lang="en-US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1 3 2 5 4</a:t>
            </a:r>
            <a:endParaRPr lang="ru-RU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Обратимся к индексу 5.</a:t>
            </a: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v = array[5];</a:t>
            </a:r>
            <a:endParaRPr lang="en-US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821252" y="3277811"/>
            <a:ext cx="604207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System.IndexOutOfRangeException</a:t>
            </a:r>
            <a:r>
              <a:rPr lang="en-US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: "Index was outside the bounds of the array."</a:t>
            </a: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4392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2" name="Rectangle 28" descr="Светлый диагональный 2">
            <a:extLst>
              <a:ext uri="{FF2B5EF4-FFF2-40B4-BE49-F238E27FC236}">
                <a16:creationId xmlns:a16="http://schemas.microsoft.com/office/drawing/2014/main" id="{2A0E99F7-A4CC-4E8F-8C74-D6A032765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Циклы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0" y="654356"/>
            <a:ext cx="13321146" cy="5262979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pPr algn="l"/>
            <a:r>
              <a:rPr lang="ru-RU" sz="2400" b="1" i="0" dirty="0">
                <a:effectLst/>
                <a:latin typeface="Bookman Old Style" panose="02050604050505020204" pitchFamily="18" charset="0"/>
              </a:rPr>
              <a:t>Итерация </a:t>
            </a:r>
            <a:r>
              <a:rPr lang="ru-RU" sz="2400" i="0" dirty="0">
                <a:effectLst/>
                <a:latin typeface="Bookman Old Style" panose="02050604050505020204" pitchFamily="18" charset="0"/>
              </a:rPr>
              <a:t>– повторение какого-либо действия.</a:t>
            </a:r>
          </a:p>
          <a:p>
            <a:pPr marL="457200" indent="-457200" algn="l">
              <a:buAutoNum type="arabicPeriod"/>
            </a:pPr>
            <a:r>
              <a:rPr lang="ru-RU" sz="2400" b="1" i="0" dirty="0">
                <a:effectLst/>
                <a:latin typeface="Bookman Old Style" panose="02050604050505020204" pitchFamily="18" charset="0"/>
              </a:rPr>
              <a:t>Цикл </a:t>
            </a:r>
            <a:r>
              <a:rPr lang="en-US" sz="2400" b="1" i="0" dirty="0">
                <a:effectLst/>
                <a:latin typeface="Bookman Old Style" panose="02050604050505020204" pitchFamily="18" charset="0"/>
              </a:rPr>
              <a:t>for</a:t>
            </a:r>
          </a:p>
          <a:p>
            <a:r>
              <a:rPr lang="ru-RU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ru-RU" sz="2400" dirty="0">
                <a:latin typeface="Bookman Old Style" panose="02050604050505020204" pitchFamily="18" charset="0"/>
              </a:rPr>
              <a:t> (</a:t>
            </a:r>
            <a:endParaRPr lang="en-US" sz="2400" dirty="0">
              <a:latin typeface="Bookman Old Style" panose="02050604050505020204" pitchFamily="18" charset="0"/>
            </a:endParaRPr>
          </a:p>
          <a:p>
            <a:r>
              <a:rPr lang="en-US" sz="2400" dirty="0">
                <a:latin typeface="Bookman Old Style" panose="02050604050505020204" pitchFamily="18" charset="0"/>
              </a:rPr>
              <a:t> 	</a:t>
            </a:r>
            <a:r>
              <a:rPr lang="ru-RU" sz="2400" dirty="0">
                <a:latin typeface="Bookman Old Style" panose="02050604050505020204" pitchFamily="18" charset="0"/>
              </a:rPr>
              <a:t>[</a:t>
            </a:r>
            <a:r>
              <a:rPr lang="ru-RU" sz="2400" dirty="0" err="1">
                <a:latin typeface="Bookman Old Style" panose="02050604050505020204" pitchFamily="18" charset="0"/>
              </a:rPr>
              <a:t>действия_до_выполнения_цикла</a:t>
            </a:r>
            <a:r>
              <a:rPr lang="ru-RU" sz="2400" dirty="0">
                <a:latin typeface="Bookman Old Style" panose="02050604050505020204" pitchFamily="18" charset="0"/>
              </a:rPr>
              <a:t>];</a:t>
            </a:r>
            <a:endParaRPr lang="en-US" sz="2400" dirty="0">
              <a:latin typeface="Bookman Old Style" panose="02050604050505020204" pitchFamily="18" charset="0"/>
            </a:endParaRPr>
          </a:p>
          <a:p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en-US" sz="2400" dirty="0">
                <a:latin typeface="Bookman Old Style" panose="02050604050505020204" pitchFamily="18" charset="0"/>
              </a:rPr>
              <a:t>	</a:t>
            </a:r>
            <a:r>
              <a:rPr lang="ru-RU" sz="2400" dirty="0">
                <a:latin typeface="Bookman Old Style" panose="02050604050505020204" pitchFamily="18" charset="0"/>
              </a:rPr>
              <a:t>[условие];</a:t>
            </a:r>
            <a:endParaRPr lang="en-US" sz="2400" dirty="0">
              <a:latin typeface="Bookman Old Style" panose="02050604050505020204" pitchFamily="18" charset="0"/>
            </a:endParaRPr>
          </a:p>
          <a:p>
            <a:r>
              <a:rPr lang="en-US" sz="2400" dirty="0">
                <a:latin typeface="Bookman Old Style" panose="02050604050505020204" pitchFamily="18" charset="0"/>
              </a:rPr>
              <a:t> 	</a:t>
            </a:r>
            <a:r>
              <a:rPr lang="ru-RU" sz="2400" dirty="0">
                <a:latin typeface="Bookman Old Style" panose="02050604050505020204" pitchFamily="18" charset="0"/>
              </a:rPr>
              <a:t>[</a:t>
            </a:r>
            <a:r>
              <a:rPr lang="ru-RU" sz="2400" dirty="0" err="1">
                <a:latin typeface="Bookman Old Style" panose="02050604050505020204" pitchFamily="18" charset="0"/>
              </a:rPr>
              <a:t>действия_после_выполнения</a:t>
            </a:r>
            <a:r>
              <a:rPr lang="en-US" sz="2400" dirty="0">
                <a:latin typeface="Bookman Old Style" panose="02050604050505020204" pitchFamily="18" charset="0"/>
              </a:rPr>
              <a:t>_</a:t>
            </a:r>
            <a:r>
              <a:rPr lang="ru-RU" sz="2400" dirty="0">
                <a:latin typeface="Bookman Old Style" panose="02050604050505020204" pitchFamily="18" charset="0"/>
              </a:rPr>
              <a:t>итерации])</a:t>
            </a:r>
          </a:p>
          <a:p>
            <a:r>
              <a:rPr lang="ru-RU" sz="2400" dirty="0">
                <a:latin typeface="Bookman Old Style" panose="02050604050505020204" pitchFamily="18" charset="0"/>
              </a:rPr>
              <a:t>{</a:t>
            </a:r>
          </a:p>
          <a:p>
            <a:r>
              <a:rPr lang="ru-RU" sz="2400" dirty="0">
                <a:latin typeface="Bookman Old Style" panose="02050604050505020204" pitchFamily="18" charset="0"/>
              </a:rPr>
              <a:t>    // действия</a:t>
            </a:r>
          </a:p>
          <a:p>
            <a:r>
              <a:rPr lang="ru-RU" sz="2400" dirty="0">
                <a:latin typeface="Bookman Old Style" panose="02050604050505020204" pitchFamily="18" charset="0"/>
              </a:rPr>
              <a:t>}</a:t>
            </a:r>
            <a:endParaRPr lang="en-US" sz="2400" dirty="0">
              <a:latin typeface="Bookman Old Style" panose="02050604050505020204" pitchFamily="18" charset="0"/>
            </a:endParaRPr>
          </a:p>
          <a:p>
            <a:endParaRPr lang="en-US" sz="2400" dirty="0">
              <a:latin typeface="Bookman Old Style" panose="02050604050505020204" pitchFamily="18" charset="0"/>
            </a:endParaRPr>
          </a:p>
          <a:p>
            <a:r>
              <a:rPr lang="nn-NO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nn-NO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nn-NO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nn-NO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i = 0; i &lt;= 10; i++)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+ (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== 10 ?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"_"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));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ru-RU" sz="2400" b="0" i="0" dirty="0">
              <a:effectLst/>
              <a:latin typeface="Bookman Old Style" panose="020506040505050202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5246" y="5718095"/>
            <a:ext cx="7297168" cy="11241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6423925" y="3341119"/>
            <a:ext cx="5374375" cy="1200329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ru-RU" sz="2400" dirty="0">
                <a:latin typeface="Bookman Old Style" panose="02050604050505020204" pitchFamily="18" charset="0"/>
              </a:rPr>
              <a:t>Сначала проверяется условие,</a:t>
            </a:r>
          </a:p>
          <a:p>
            <a:pPr algn="l"/>
            <a:r>
              <a:rPr lang="ru-RU" sz="2400" dirty="0">
                <a:latin typeface="Bookman Old Style" panose="02050604050505020204" pitchFamily="18" charset="0"/>
              </a:rPr>
              <a:t>потом выполняется тело цикла,</a:t>
            </a:r>
          </a:p>
          <a:p>
            <a:pPr algn="l"/>
            <a:r>
              <a:rPr lang="ru-RU" sz="2400" dirty="0">
                <a:latin typeface="Bookman Old Style" panose="02050604050505020204" pitchFamily="18" charset="0"/>
              </a:rPr>
              <a:t>потом выполняется инкремент</a:t>
            </a:r>
            <a:r>
              <a:rPr lang="en-US" sz="2400" dirty="0">
                <a:latin typeface="Bookman Old Style" panose="02050604050505020204" pitchFamily="18" charset="0"/>
              </a:rPr>
              <a:t>.</a:t>
            </a:r>
            <a:endParaRPr lang="ru-RU" sz="2400" b="0" i="0" dirty="0">
              <a:effectLst/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251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0" y="258951"/>
            <a:ext cx="12192000" cy="2677656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pPr marL="457200" indent="-457200" algn="l">
              <a:buFont typeface="+mj-lt"/>
              <a:buAutoNum type="arabicPeriod" startAt="2"/>
            </a:pPr>
            <a:r>
              <a:rPr lang="ru-RU" sz="2400" b="1" i="0" dirty="0">
                <a:effectLst/>
                <a:latin typeface="Bookman Old Style" panose="02050604050505020204" pitchFamily="18" charset="0"/>
              </a:rPr>
              <a:t>Цикл </a:t>
            </a:r>
            <a:r>
              <a:rPr lang="en-US" sz="2400" b="1" i="0" dirty="0">
                <a:effectLst/>
                <a:latin typeface="Bookman Old Style" panose="02050604050505020204" pitchFamily="18" charset="0"/>
              </a:rPr>
              <a:t>do while</a:t>
            </a:r>
          </a:p>
          <a:p>
            <a:endParaRPr lang="en-US" sz="2400" dirty="0">
              <a:latin typeface="Cascadia Mono" panose="020B0609020000020004" pitchFamily="49" charset="0"/>
            </a:endParaRPr>
          </a:p>
          <a:p>
            <a:r>
              <a:rPr lang="ru-RU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do</a:t>
            </a:r>
            <a:endParaRPr lang="ru-RU" sz="2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latin typeface="Consolas" panose="020B0609020204030204" pitchFamily="49" charset="0"/>
              </a:rPr>
              <a:t>{</a:t>
            </a:r>
          </a:p>
          <a:p>
            <a:r>
              <a:rPr lang="ru-RU" sz="2400" dirty="0">
                <a:latin typeface="Consolas" panose="020B0609020204030204" pitchFamily="49" charset="0"/>
              </a:rPr>
              <a:t>    действия цикла</a:t>
            </a:r>
          </a:p>
          <a:p>
            <a:r>
              <a:rPr lang="ru-RU" sz="2400" dirty="0">
                <a:latin typeface="Consolas" panose="020B0609020204030204" pitchFamily="49" charset="0"/>
              </a:rPr>
              <a:t>}</a:t>
            </a:r>
          </a:p>
          <a:p>
            <a:r>
              <a:rPr lang="ru-RU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ru-RU" sz="2400" dirty="0">
                <a:latin typeface="Consolas" panose="020B0609020204030204" pitchFamily="49" charset="0"/>
              </a:rPr>
              <a:t> (условие)</a:t>
            </a:r>
            <a:endParaRPr lang="nn-NO" sz="2400" dirty="0">
              <a:latin typeface="Consolas" panose="020B0609020204030204" pitchFamily="49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617191" y="258951"/>
            <a:ext cx="6096000" cy="2677656"/>
          </a:xfrm>
          <a:prstGeom prst="rect">
            <a:avLst/>
          </a:prstGeom>
          <a:ln w="57150"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sz="24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do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&lt; 5);</a:t>
            </a:r>
            <a:endParaRPr lang="ru-RU" sz="2400" dirty="0">
              <a:latin typeface="Consolas" panose="020B0609020204030204" pitchFamily="49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3792992"/>
            <a:ext cx="12192000" cy="2308324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ru-RU" sz="2400" b="1" dirty="0">
                <a:latin typeface="Bookman Old Style" panose="02050604050505020204" pitchFamily="18" charset="0"/>
              </a:rPr>
              <a:t>Цикл </a:t>
            </a:r>
            <a:r>
              <a:rPr lang="en-US" sz="2400" b="1" dirty="0">
                <a:latin typeface="Bookman Old Style" panose="02050604050505020204" pitchFamily="18" charset="0"/>
              </a:rPr>
              <a:t>while</a:t>
            </a:r>
          </a:p>
          <a:p>
            <a:endParaRPr lang="en-US" sz="2400" dirty="0"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2400" dirty="0">
                <a:latin typeface="Consolas" panose="020B0609020204030204" pitchFamily="49" charset="0"/>
              </a:rPr>
              <a:t> (</a:t>
            </a:r>
            <a:r>
              <a:rPr lang="ru-RU" sz="2400" dirty="0">
                <a:latin typeface="Consolas" panose="020B0609020204030204" pitchFamily="49" charset="0"/>
              </a:rPr>
              <a:t>условие)</a:t>
            </a:r>
          </a:p>
          <a:p>
            <a:r>
              <a:rPr lang="ru-RU" sz="2400" dirty="0">
                <a:latin typeface="Consolas" panose="020B0609020204030204" pitchFamily="49" charset="0"/>
              </a:rPr>
              <a:t>{</a:t>
            </a:r>
          </a:p>
          <a:p>
            <a:r>
              <a:rPr lang="ru-RU" sz="2400" dirty="0">
                <a:latin typeface="Consolas" panose="020B0609020204030204" pitchFamily="49" charset="0"/>
              </a:rPr>
              <a:t>    действия цикла</a:t>
            </a:r>
          </a:p>
          <a:p>
            <a:r>
              <a:rPr lang="ru-RU" sz="2400" dirty="0">
                <a:latin typeface="Consolas" panose="020B0609020204030204" pitchFamily="49" charset="0"/>
              </a:rPr>
              <a:t>}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3617191" y="3792992"/>
            <a:ext cx="6096000" cy="2308324"/>
          </a:xfrm>
          <a:prstGeom prst="rect">
            <a:avLst/>
          </a:prstGeom>
          <a:ln w="57150"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= 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&lt; 5)</a:t>
            </a:r>
          </a:p>
          <a:p>
            <a:r>
              <a:rPr lang="ru-RU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2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sz="2400" dirty="0"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6285804" y="4116157"/>
            <a:ext cx="5746172" cy="830997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2400" dirty="0">
                <a:latin typeface="Bookman Old Style" panose="02050604050505020204" pitchFamily="18" charset="0"/>
              </a:rPr>
              <a:t>Сначала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ru-RU" sz="2400" dirty="0">
                <a:latin typeface="Bookman Old Style" panose="02050604050505020204" pitchFamily="18" charset="0"/>
              </a:rPr>
              <a:t>проверяется условие, потом выполняется тело цикла.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6285804" y="970329"/>
            <a:ext cx="5746172" cy="830997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ru-RU" sz="2400" dirty="0">
                <a:latin typeface="Bookman Old Style" panose="02050604050505020204" pitchFamily="18" charset="0"/>
              </a:rPr>
              <a:t>Сначала выполняется тело цикла,</a:t>
            </a:r>
            <a:endParaRPr lang="en-US" sz="2400" dirty="0">
              <a:latin typeface="Bookman Old Style" panose="02050604050505020204" pitchFamily="18" charset="0"/>
            </a:endParaRPr>
          </a:p>
          <a:p>
            <a:pPr algn="l"/>
            <a:r>
              <a:rPr lang="ru-RU" sz="2400" dirty="0">
                <a:latin typeface="Bookman Old Style" panose="02050604050505020204" pitchFamily="18" charset="0"/>
              </a:rPr>
              <a:t>потом проверяется условие.</a:t>
            </a:r>
          </a:p>
        </p:txBody>
      </p:sp>
    </p:spTree>
    <p:extLst>
      <p:ext uri="{BB962C8B-B14F-4D97-AF65-F5344CB8AC3E}">
        <p14:creationId xmlns:p14="http://schemas.microsoft.com/office/powerpoint/2010/main" val="3134612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0" y="258951"/>
            <a:ext cx="12192000" cy="4893647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pPr algn="l"/>
            <a:r>
              <a:rPr lang="ru-RU" sz="2400" b="1" i="0" dirty="0" smtClean="0">
                <a:effectLst/>
                <a:latin typeface="Bookman Old Style" panose="02050604050505020204" pitchFamily="18" charset="0"/>
              </a:rPr>
              <a:t>Пример</a:t>
            </a:r>
            <a:endParaRPr lang="en-US" sz="2400" b="1" i="0" dirty="0" smtClean="0">
              <a:effectLst/>
              <a:latin typeface="Bookman Old Style" panose="02050604050505020204" pitchFamily="18" charset="0"/>
            </a:endParaRPr>
          </a:p>
          <a:p>
            <a:pPr algn="l"/>
            <a:endParaRPr lang="en-US" sz="2400" b="1" dirty="0"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		  </a:t>
            </a:r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bool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isPasswordCorrect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2400" dirty="0">
                <a:solidFill>
                  <a:srgbClr val="8F08C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WriteLine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Введите пароль:"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password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ReadLine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isPasswordCorrect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password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"1234"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 </a:t>
            </a:r>
            <a:r>
              <a:rPr lang="en-US" sz="2400" dirty="0">
                <a:solidFill>
                  <a:srgbClr val="8F08C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while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isPasswordCorrect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nn-NO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974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B76C38-5C63-40EA-9C87-3E38ECF3DF17}"/>
              </a:ext>
            </a:extLst>
          </p:cNvPr>
          <p:cNvSpPr txBox="1"/>
          <p:nvPr/>
        </p:nvSpPr>
        <p:spPr>
          <a:xfrm>
            <a:off x="1" y="654356"/>
            <a:ext cx="12192000" cy="6075509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pPr>
              <a:lnSpc>
                <a:spcPct val="11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Мы хотим повторить действие </a:t>
            </a:r>
            <a:r>
              <a:rPr lang="ru-RU" sz="2400" b="1" dirty="0" smtClean="0">
                <a:latin typeface="Bookman Old Style" panose="02050604050505020204" pitchFamily="18" charset="0"/>
              </a:rPr>
              <a:t>5 раз</a:t>
            </a:r>
            <a:r>
              <a:rPr lang="ru-RU" sz="2400" dirty="0" smtClean="0">
                <a:latin typeface="Bookman Old Style" panose="02050604050505020204" pitchFamily="18" charset="0"/>
              </a:rPr>
              <a:t>, что должно стоять вместо </a:t>
            </a:r>
            <a:r>
              <a:rPr lang="en-US" sz="2400" b="1" dirty="0" smtClean="0">
                <a:latin typeface="Bookman Old Style" panose="02050604050505020204" pitchFamily="18" charset="0"/>
              </a:rPr>
              <a:t>N</a:t>
            </a:r>
            <a:r>
              <a:rPr lang="ru-RU" sz="2400" dirty="0" smtClean="0">
                <a:latin typeface="Bookman Old Style" panose="02050604050505020204" pitchFamily="18" charset="0"/>
              </a:rPr>
              <a:t>:</a:t>
            </a:r>
          </a:p>
          <a:p>
            <a:pPr>
              <a:lnSpc>
                <a:spcPct val="11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r>
              <a:rPr lang="nn-NO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nn-NO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nn-NO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nn-NO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i = 0; i &lt;= </a:t>
            </a:r>
            <a:r>
              <a:rPr lang="nn-NO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N; </a:t>
            </a:r>
            <a:r>
              <a:rPr lang="nn-NO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i++)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n-NO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nn-NO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nn-NO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nn-NO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i = </a:t>
            </a:r>
            <a:r>
              <a:rPr lang="nn-NO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100; </a:t>
            </a:r>
            <a:r>
              <a:rPr lang="nn-NO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i &gt;</a:t>
            </a:r>
            <a:r>
              <a:rPr lang="nn-NO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n-NO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N; </a:t>
            </a:r>
            <a:r>
              <a:rPr lang="nn-NO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i--)</a:t>
            </a:r>
            <a:endParaRPr lang="nn-NO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n-NO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nn-NO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nn-NO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nn-NO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i = </a:t>
            </a:r>
            <a:r>
              <a:rPr lang="nn-NO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0; </a:t>
            </a:r>
            <a:r>
              <a:rPr lang="nn-NO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i </a:t>
            </a:r>
            <a:r>
              <a:rPr lang="nn-NO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&lt; </a:t>
            </a:r>
            <a:r>
              <a:rPr lang="nn-NO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N; </a:t>
            </a:r>
            <a:r>
              <a:rPr lang="nn-NO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i += 3)</a:t>
            </a:r>
            <a:endParaRPr lang="nn-NO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  <p:sp>
        <p:nvSpPr>
          <p:cNvPr id="9" name="Rectangle 28" descr="Светлый диагональный 2">
            <a:extLst>
              <a:ext uri="{FF2B5EF4-FFF2-40B4-BE49-F238E27FC236}">
                <a16:creationId xmlns:a16="http://schemas.microsoft.com/office/drawing/2014/main" id="{2A0E99F7-A4CC-4E8F-8C74-D6A032765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Вопросы</a:t>
            </a:r>
          </a:p>
        </p:txBody>
      </p:sp>
    </p:spTree>
    <p:extLst>
      <p:ext uri="{BB962C8B-B14F-4D97-AF65-F5344CB8AC3E}">
        <p14:creationId xmlns:p14="http://schemas.microsoft.com/office/powerpoint/2010/main" val="1982609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0" y="0"/>
            <a:ext cx="12192000" cy="6740307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i="0" dirty="0">
                <a:effectLst/>
                <a:latin typeface="Bookman Old Style" panose="02050604050505020204" pitchFamily="18" charset="0"/>
              </a:rPr>
              <a:t>Специальное слово </a:t>
            </a:r>
            <a:r>
              <a:rPr lang="en-US" sz="2400" b="1" i="0" dirty="0">
                <a:effectLst/>
                <a:latin typeface="Bookman Old Style" panose="02050604050505020204" pitchFamily="18" charset="0"/>
              </a:rPr>
              <a:t>continue </a:t>
            </a:r>
            <a:r>
              <a:rPr lang="ru-RU" sz="2400" i="0" dirty="0">
                <a:effectLst/>
                <a:latin typeface="Bookman Old Style" panose="02050604050505020204" pitchFamily="18" charset="0"/>
              </a:rPr>
              <a:t>применяется для перехода к следующей итерации цикла</a:t>
            </a:r>
            <a:endParaRPr lang="en-US" sz="2400" i="0" dirty="0">
              <a:effectLst/>
              <a:latin typeface="Bookman Old Style" panose="02050604050505020204" pitchFamily="18" charset="0"/>
            </a:endParaRP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n-NO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nn-NO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nn-NO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nn-NO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i = 0; i &lt; </a:t>
            </a:r>
            <a:r>
              <a:rPr lang="nn-NO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1000; </a:t>
            </a:r>
            <a:r>
              <a:rPr lang="nn-NO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i++)</a:t>
            </a:r>
          </a:p>
          <a:p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en-US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B050"/>
                </a:solidFill>
                <a:latin typeface="Cascadia Mono" panose="020B0609020000020004" pitchFamily="49" charset="0"/>
              </a:rPr>
              <a:t>//</a:t>
            </a:r>
            <a:r>
              <a:rPr lang="ru-RU" sz="2400" dirty="0">
                <a:solidFill>
                  <a:srgbClr val="00B050"/>
                </a:solidFill>
                <a:latin typeface="Cascadia Mono" panose="020B0609020000020004" pitchFamily="49" charset="0"/>
              </a:rPr>
              <a:t>Если число </a:t>
            </a:r>
            <a:r>
              <a:rPr lang="ru-RU" sz="2400" dirty="0" smtClean="0">
                <a:solidFill>
                  <a:srgbClr val="00B050"/>
                </a:solidFill>
                <a:latin typeface="Cascadia Mono" panose="020B0609020000020004" pitchFamily="49" charset="0"/>
              </a:rPr>
              <a:t>равно 100, </a:t>
            </a:r>
            <a:r>
              <a:rPr lang="ru-RU" sz="2400" dirty="0">
                <a:solidFill>
                  <a:srgbClr val="00B050"/>
                </a:solidFill>
                <a:latin typeface="Cascadia Mono" panose="020B0609020000020004" pitchFamily="49" charset="0"/>
              </a:rPr>
              <a:t>то </a:t>
            </a:r>
            <a:r>
              <a:rPr lang="ru-RU" sz="2400" dirty="0" smtClean="0">
                <a:solidFill>
                  <a:srgbClr val="00B050"/>
                </a:solidFill>
                <a:latin typeface="Cascadia Mono" panose="020B0609020000020004" pitchFamily="49" charset="0"/>
              </a:rPr>
              <a:t>завершаем цикл</a:t>
            </a:r>
            <a:endParaRPr lang="en-US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	if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== 100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	 </a:t>
            </a:r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>
                <a:solidFill>
                  <a:srgbClr val="00B050"/>
                </a:solidFill>
                <a:latin typeface="Cascadia Mono" panose="020B0609020000020004" pitchFamily="49" charset="0"/>
              </a:rPr>
              <a:t>//</a:t>
            </a:r>
            <a:r>
              <a:rPr lang="ru-RU" sz="2400" dirty="0">
                <a:solidFill>
                  <a:srgbClr val="00B050"/>
                </a:solidFill>
                <a:latin typeface="Cascadia Mono" panose="020B0609020000020004" pitchFamily="49" charset="0"/>
              </a:rPr>
              <a:t>Если число четное, то переходим к следующей </a:t>
            </a:r>
            <a:r>
              <a:rPr lang="ru-RU" sz="2400" dirty="0" smtClean="0">
                <a:solidFill>
                  <a:srgbClr val="00B050"/>
                </a:solidFill>
                <a:latin typeface="Cascadia Mono" panose="020B0609020000020004" pitchFamily="49" charset="0"/>
              </a:rPr>
              <a:t>итерации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	if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% 2 == 0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	 </a:t>
            </a:r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continue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Специальное слово </a:t>
            </a:r>
            <a:r>
              <a:rPr lang="en-US" sz="2400" b="1" dirty="0">
                <a:latin typeface="Bookman Old Style" panose="02050604050505020204" pitchFamily="18" charset="0"/>
              </a:rPr>
              <a:t>break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ru-RU" sz="2400" dirty="0">
                <a:latin typeface="Bookman Old Style" panose="02050604050505020204" pitchFamily="18" charset="0"/>
              </a:rPr>
              <a:t>применяется для прерывания текущего блока кода, например, для остановки цикла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014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0" y="258951"/>
            <a:ext cx="12192000" cy="4154984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pPr algn="l"/>
            <a:r>
              <a:rPr lang="ru-RU" sz="2400" b="1" i="0" dirty="0" smtClean="0">
                <a:effectLst/>
                <a:latin typeface="Bookman Old Style" panose="02050604050505020204" pitchFamily="18" charset="0"/>
              </a:rPr>
              <a:t>Пример</a:t>
            </a:r>
            <a:endParaRPr lang="en-US" sz="2400" b="1" i="0" dirty="0" smtClean="0">
              <a:effectLst/>
              <a:latin typeface="Bookman Old Style" panose="02050604050505020204" pitchFamily="18" charset="0"/>
            </a:endParaRPr>
          </a:p>
          <a:p>
            <a:pPr algn="l"/>
            <a:endParaRPr lang="en-US" sz="2400" b="1" dirty="0"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		  </a:t>
            </a:r>
            <a:r>
              <a:rPr lang="en-US" sz="2400" dirty="0" smtClean="0">
                <a:solidFill>
                  <a:srgbClr val="8F08C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while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WriteLine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Введите пароль:"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password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ReadLine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2400" dirty="0">
                <a:solidFill>
                  <a:srgbClr val="8F08C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password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"1234"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en-US" sz="2400" dirty="0">
                <a:solidFill>
                  <a:srgbClr val="8F08C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break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  <a:endParaRPr lang="nn-NO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721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1295590" y="1549010"/>
            <a:ext cx="1089641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foreach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ru-RU" sz="2400" dirty="0">
                <a:latin typeface="Consolas" panose="020B0609020204030204" pitchFamily="49" charset="0"/>
              </a:rPr>
              <a:t>(</a:t>
            </a:r>
            <a:r>
              <a:rPr lang="ru-RU" sz="2400" dirty="0" err="1">
                <a:latin typeface="Consolas" panose="020B0609020204030204" pitchFamily="49" charset="0"/>
              </a:rPr>
              <a:t>тип_данных</a:t>
            </a:r>
            <a:r>
              <a:rPr lang="ru-RU" sz="2400" dirty="0">
                <a:latin typeface="Consolas" panose="020B0609020204030204" pitchFamily="49" charset="0"/>
              </a:rPr>
              <a:t> переменная </a:t>
            </a:r>
            <a:r>
              <a:rPr lang="ru-RU" sz="2400" dirty="0" err="1">
                <a:latin typeface="Consolas" panose="020B0609020204030204" pitchFamily="49" charset="0"/>
              </a:rPr>
              <a:t>in</a:t>
            </a:r>
            <a:r>
              <a:rPr lang="ru-RU" sz="2400" dirty="0">
                <a:latin typeface="Consolas" panose="020B0609020204030204" pitchFamily="49" charset="0"/>
              </a:rPr>
              <a:t> коллекция)</a:t>
            </a:r>
          </a:p>
          <a:p>
            <a:r>
              <a:rPr lang="ru-RU" sz="2400" dirty="0">
                <a:latin typeface="Consolas" panose="020B0609020204030204" pitchFamily="49" charset="0"/>
              </a:rPr>
              <a:t>{</a:t>
            </a:r>
          </a:p>
          <a:p>
            <a:r>
              <a:rPr lang="ru-RU" sz="2400" dirty="0">
                <a:latin typeface="Consolas" panose="020B0609020204030204" pitchFamily="49" charset="0"/>
              </a:rPr>
              <a:t>    // действия цикла</a:t>
            </a:r>
          </a:p>
          <a:p>
            <a:r>
              <a:rPr lang="ru-RU" sz="2400" dirty="0" smtClean="0">
                <a:latin typeface="Consolas" panose="020B0609020204030204" pitchFamily="49" charset="0"/>
              </a:rPr>
              <a:t>}</a:t>
            </a:r>
            <a:endParaRPr lang="en-US" sz="2400" dirty="0" smtClean="0">
              <a:latin typeface="Consolas" panose="020B0609020204030204" pitchFamily="49" charset="0"/>
            </a:endParaRPr>
          </a:p>
          <a:p>
            <a:endParaRPr lang="en-US" sz="2400" dirty="0" smtClean="0">
              <a:latin typeface="Consolas" panose="020B06090202040302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>
                <a:latin typeface="Consolas" panose="020B0609020204030204" pitchFamily="49" charset="0"/>
              </a:rPr>
              <a:t> array 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400" dirty="0">
                <a:latin typeface="Consolas" panose="020B0609020204030204" pitchFamily="49" charset="0"/>
              </a:rPr>
              <a:t>[] { 7, 1, 6, 9, 8 };</a:t>
            </a:r>
          </a:p>
          <a:p>
            <a:endParaRPr lang="ru-RU" sz="2400" dirty="0">
              <a:latin typeface="Consolas" panose="020B06090202040302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foreach</a:t>
            </a:r>
            <a:r>
              <a:rPr lang="en-US" sz="2400" dirty="0">
                <a:latin typeface="Consolas" panose="020B0609020204030204" pitchFamily="49" charset="0"/>
              </a:rPr>
              <a:t> (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>
                <a:latin typeface="Consolas" panose="020B0609020204030204" pitchFamily="49" charset="0"/>
              </a:rPr>
              <a:t> t in array)</a:t>
            </a:r>
          </a:p>
          <a:p>
            <a:r>
              <a:rPr lang="ru-RU" sz="2400" dirty="0">
                <a:latin typeface="Consolas" panose="020B0609020204030204" pitchFamily="49" charset="0"/>
              </a:rPr>
              <a:t>{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	</a:t>
            </a:r>
            <a:r>
              <a:rPr lang="en-US" sz="2400" dirty="0" err="1">
                <a:solidFill>
                  <a:srgbClr val="00B0F0"/>
                </a:solidFill>
                <a:latin typeface="Consolas" panose="020B0609020204030204" pitchFamily="49" charset="0"/>
              </a:rPr>
              <a:t>Console</a:t>
            </a:r>
            <a:r>
              <a:rPr lang="en-US" sz="2400" dirty="0" err="1">
                <a:latin typeface="Consolas" panose="020B0609020204030204" pitchFamily="49" charset="0"/>
              </a:rPr>
              <a:t>.WriteLine</a:t>
            </a:r>
            <a:r>
              <a:rPr lang="en-US" sz="2400" dirty="0">
                <a:latin typeface="Consolas" panose="020B0609020204030204" pitchFamily="49" charset="0"/>
              </a:rPr>
              <a:t>(t);</a:t>
            </a:r>
          </a:p>
          <a:p>
            <a:r>
              <a:rPr lang="ru-RU" sz="2400" dirty="0">
                <a:latin typeface="Consolas" panose="020B0609020204030204" pitchFamily="49" charset="0"/>
              </a:rPr>
              <a:t>}</a:t>
            </a:r>
          </a:p>
          <a:p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1376031" y="840648"/>
            <a:ext cx="5482936" cy="830997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ru-RU" sz="2400" dirty="0">
                <a:latin typeface="Bookman Old Style" panose="02050604050505020204" pitchFamily="18" charset="0"/>
              </a:rPr>
              <a:t>Когда надо пробежаться по всем элементам коллекции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3421" y="1653386"/>
            <a:ext cx="1014592" cy="4734761"/>
          </a:xfrm>
          <a:prstGeom prst="rect">
            <a:avLst/>
          </a:prstGeom>
        </p:spPr>
      </p:pic>
      <p:sp>
        <p:nvSpPr>
          <p:cNvPr id="11" name="Rectangle 28" descr="Светлый диагональный 2">
            <a:extLst>
              <a:ext uri="{FF2B5EF4-FFF2-40B4-BE49-F238E27FC236}">
                <a16:creationId xmlns:a16="http://schemas.microsoft.com/office/drawing/2014/main" id="{2A0E99F7-A4CC-4E8F-8C74-D6A032765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latin typeface="Bookman Old Style" panose="02050604050505020204" pitchFamily="18" charset="0"/>
              </a:rPr>
              <a:t>Цикл </a:t>
            </a:r>
            <a:r>
              <a:rPr lang="en-US" sz="2800" b="1" dirty="0" err="1">
                <a:latin typeface="Bookman Old Style" panose="02050604050505020204" pitchFamily="18" charset="0"/>
              </a:rPr>
              <a:t>foreach</a:t>
            </a:r>
            <a:endParaRPr lang="en-US" sz="28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342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5" name="Прямоугольник 4"/>
          <p:cNvSpPr/>
          <p:nvPr/>
        </p:nvSpPr>
        <p:spPr>
          <a:xfrm>
            <a:off x="0" y="654357"/>
            <a:ext cx="12191999" cy="3416320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Пример с драматическим эффектом:</a:t>
            </a:r>
          </a:p>
          <a:p>
            <a:pPr algn="just">
              <a:lnSpc>
                <a:spcPct val="150000"/>
              </a:lnSpc>
            </a:pPr>
            <a:endParaRPr lang="ru-RU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{ 1, 2, 3 };</a:t>
            </a:r>
          </a:p>
          <a:p>
            <a:pPr algn="just">
              <a:lnSpc>
                <a:spcPct val="150000"/>
              </a:lnSpc>
            </a:pPr>
            <a:r>
              <a:rPr lang="ru-RU" sz="24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 </a:t>
            </a:r>
            <a:r>
              <a:rPr lang="ru-RU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a;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Студент думает, что скопировал массив 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b[0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99;</a:t>
            </a:r>
          </a:p>
          <a:p>
            <a:pPr algn="just">
              <a:lnSpc>
                <a:spcPct val="150000"/>
              </a:lnSpc>
            </a:pPr>
            <a:r>
              <a:rPr lang="en-US" sz="24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Console.WriteLine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(a[0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]);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Выведет 99!</a:t>
            </a:r>
            <a:endParaRPr lang="en-US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28" descr="Светлый диагональный 2">
            <a:extLst>
              <a:ext uri="{FF2B5EF4-FFF2-40B4-BE49-F238E27FC236}">
                <a16:creationId xmlns:a16="http://schemas.microsoft.com/office/drawing/2014/main" id="{2A0E99F7-A4CC-4E8F-8C74-D6A032765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Значимые и ссылочные типы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073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Прямоугольник 36"/>
          <p:cNvSpPr/>
          <p:nvPr/>
        </p:nvSpPr>
        <p:spPr>
          <a:xfrm>
            <a:off x="0" y="654357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Классификация </a:t>
            </a:r>
            <a:r>
              <a:rPr lang="ru-RU" sz="2400" dirty="0">
                <a:latin typeface="Bookman Old Style" panose="02050604050505020204" pitchFamily="18" charset="0"/>
              </a:rPr>
              <a:t>типов по организации в памяти: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>
                <a:latin typeface="Bookman Old Style" panose="02050604050505020204" pitchFamily="18" charset="0"/>
              </a:rPr>
              <a:t>Значимые</a:t>
            </a:r>
            <a:r>
              <a:rPr lang="ru-RU" sz="2400" dirty="0">
                <a:latin typeface="Bookman Old Style" panose="02050604050505020204" pitchFamily="18" charset="0"/>
              </a:rPr>
              <a:t> типы: </a:t>
            </a:r>
            <a:r>
              <a:rPr lang="en-US" sz="2400" dirty="0">
                <a:latin typeface="Bookman Old Style" panose="02050604050505020204" pitchFamily="18" charset="0"/>
              </a:rPr>
              <a:t>bool, byte, short, </a:t>
            </a:r>
            <a:r>
              <a:rPr lang="en-US" sz="2400" dirty="0" err="1">
                <a:latin typeface="Bookman Old Style" panose="02050604050505020204" pitchFamily="18" charset="0"/>
              </a:rPr>
              <a:t>int</a:t>
            </a:r>
            <a:r>
              <a:rPr lang="en-US" sz="2400" dirty="0">
                <a:latin typeface="Bookman Old Style" panose="02050604050505020204" pitchFamily="18" charset="0"/>
              </a:rPr>
              <a:t>, long, float, decimal, double, char, </a:t>
            </a:r>
            <a:r>
              <a:rPr lang="en-US" sz="2400" dirty="0" err="1">
                <a:latin typeface="Bookman Old Style" panose="02050604050505020204" pitchFamily="18" charset="0"/>
              </a:rPr>
              <a:t>enum</a:t>
            </a:r>
            <a:r>
              <a:rPr lang="en-US" sz="2400" dirty="0">
                <a:latin typeface="Bookman Old Style" panose="02050604050505020204" pitchFamily="18" charset="0"/>
              </a:rPr>
              <a:t>, </a:t>
            </a:r>
            <a:r>
              <a:rPr lang="en-US" sz="2400" dirty="0" err="1">
                <a:latin typeface="Bookman Old Style" panose="02050604050505020204" pitchFamily="18" charset="0"/>
              </a:rPr>
              <a:t>struct</a:t>
            </a:r>
            <a:r>
              <a:rPr lang="ru-RU" sz="2400" dirty="0">
                <a:latin typeface="Bookman Old Style" panose="020506040505050202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>
                <a:latin typeface="Bookman Old Style" panose="02050604050505020204" pitchFamily="18" charset="0"/>
              </a:rPr>
              <a:t>Ссылочные</a:t>
            </a:r>
            <a:r>
              <a:rPr lang="ru-RU" sz="2400" dirty="0">
                <a:latin typeface="Bookman Old Style" panose="02050604050505020204" pitchFamily="18" charset="0"/>
              </a:rPr>
              <a:t> типы:</a:t>
            </a:r>
            <a:r>
              <a:rPr lang="en-US" sz="2400" dirty="0">
                <a:latin typeface="Bookman Old Style" panose="02050604050505020204" pitchFamily="18" charset="0"/>
              </a:rPr>
              <a:t> string, </a:t>
            </a:r>
            <a:r>
              <a:rPr lang="ru-RU" sz="2400" dirty="0">
                <a:latin typeface="Bookman Old Style" panose="02050604050505020204" pitchFamily="18" charset="0"/>
              </a:rPr>
              <a:t>массивы значений, классы</a:t>
            </a:r>
            <a:r>
              <a:rPr lang="en-US" sz="2400" dirty="0">
                <a:latin typeface="Bookman Old Style" panose="02050604050505020204" pitchFamily="18" charset="0"/>
              </a:rPr>
              <a:t>, </a:t>
            </a:r>
            <a:r>
              <a:rPr lang="ru-RU" sz="2400" dirty="0">
                <a:latin typeface="Bookman Old Style" panose="02050604050505020204" pitchFamily="18" charset="0"/>
              </a:rPr>
              <a:t>интерфейсы, </a:t>
            </a:r>
            <a:r>
              <a:rPr lang="en-US" sz="2400" dirty="0">
                <a:latin typeface="Bookman Old Style" panose="02050604050505020204" pitchFamily="18" charset="0"/>
              </a:rPr>
              <a:t>object, </a:t>
            </a:r>
            <a:r>
              <a:rPr lang="ru-RU" sz="2400" dirty="0">
                <a:latin typeface="Bookman Old Style" panose="02050604050505020204" pitchFamily="18" charset="0"/>
              </a:rPr>
              <a:t>делегаты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Значимые типы </a:t>
            </a:r>
            <a:r>
              <a:rPr lang="ru-RU" sz="2400" dirty="0">
                <a:latin typeface="Bookman Old Style" panose="02050604050505020204" pitchFamily="18" charset="0"/>
              </a:rPr>
              <a:t>— это </a:t>
            </a:r>
            <a:r>
              <a:rPr lang="ru-RU" sz="2400" dirty="0" smtClean="0">
                <a:latin typeface="Bookman Old Style" panose="02050604050505020204" pitchFamily="18" charset="0"/>
              </a:rPr>
              <a:t>типы, </a:t>
            </a:r>
            <a:r>
              <a:rPr lang="ru-RU" sz="2400" dirty="0">
                <a:latin typeface="Bookman Old Style" panose="02050604050505020204" pitchFamily="18" charset="0"/>
              </a:rPr>
              <a:t>экземпляры которых </a:t>
            </a:r>
            <a:r>
              <a:rPr lang="ru-RU" sz="2400" dirty="0" smtClean="0">
                <a:latin typeface="Bookman Old Style" panose="02050604050505020204" pitchFamily="18" charset="0"/>
              </a:rPr>
              <a:t>хранят </a:t>
            </a:r>
            <a:r>
              <a:rPr lang="ru-RU" sz="2400" dirty="0">
                <a:latin typeface="Bookman Old Style" panose="02050604050505020204" pitchFamily="18" charset="0"/>
              </a:rPr>
              <a:t>в памяти</a:t>
            </a:r>
            <a:r>
              <a:rPr lang="ru-RU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>
                <a:latin typeface="Bookman Old Style" panose="02050604050505020204" pitchFamily="18" charset="0"/>
              </a:rPr>
              <a:t>непосредственно своё </a:t>
            </a:r>
            <a:r>
              <a:rPr lang="ru-RU" sz="2400" dirty="0" smtClean="0">
                <a:latin typeface="Bookman Old Style" panose="02050604050505020204" pitchFamily="18" charset="0"/>
              </a:rPr>
              <a:t>значение.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Ссылочные </a:t>
            </a:r>
            <a:r>
              <a:rPr lang="ru-RU" sz="2400" b="1" dirty="0">
                <a:latin typeface="Bookman Old Style" panose="02050604050505020204" pitchFamily="18" charset="0"/>
              </a:rPr>
              <a:t>типы </a:t>
            </a:r>
            <a:r>
              <a:rPr lang="ru-RU" sz="2400" dirty="0">
                <a:latin typeface="Bookman Old Style" panose="02050604050505020204" pitchFamily="18" charset="0"/>
              </a:rPr>
              <a:t>— это типы, экземпляры которых хранят </a:t>
            </a:r>
            <a:r>
              <a:rPr lang="ru-RU" sz="2400" dirty="0" smtClean="0">
                <a:latin typeface="Bookman Old Style" panose="02050604050505020204" pitchFamily="18" charset="0"/>
              </a:rPr>
              <a:t>адрес на область памяти где находятся данные.</a:t>
            </a: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7906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Прямоугольник 36"/>
          <p:cNvSpPr/>
          <p:nvPr/>
        </p:nvSpPr>
        <p:spPr>
          <a:xfrm>
            <a:off x="0" y="654357"/>
            <a:ext cx="12192000" cy="446167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Метафора:</a:t>
            </a:r>
          </a:p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Значимый тип (</a:t>
            </a:r>
            <a:r>
              <a:rPr lang="ru-RU" sz="2400" b="1" dirty="0" err="1">
                <a:latin typeface="Bookman Old Style" panose="02050604050505020204" pitchFamily="18" charset="0"/>
              </a:rPr>
              <a:t>int</a:t>
            </a:r>
            <a:r>
              <a:rPr lang="ru-RU" sz="2400" b="1" dirty="0">
                <a:latin typeface="Bookman Old Style" panose="02050604050505020204" pitchFamily="18" charset="0"/>
              </a:rPr>
              <a:t>): </a:t>
            </a:r>
            <a:r>
              <a:rPr lang="ru-RU" sz="2400" dirty="0">
                <a:latin typeface="Bookman Old Style" panose="02050604050505020204" pitchFamily="18" charset="0"/>
              </a:rPr>
              <a:t>Это листок бумаги, на котором написано число. Когда мы делаем b = a, мы ксерокопируем листок. У каждого свой листок.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Ссылочный тип (Массив): </a:t>
            </a:r>
            <a:r>
              <a:rPr lang="ru-RU" sz="2400" dirty="0">
                <a:latin typeface="Bookman Old Style" panose="02050604050505020204" pitchFamily="18" charset="0"/>
              </a:rPr>
              <a:t>Это </a:t>
            </a:r>
            <a:r>
              <a:rPr lang="ru-RU" sz="2400" b="1" dirty="0">
                <a:latin typeface="Bookman Old Style" panose="02050604050505020204" pitchFamily="18" charset="0"/>
              </a:rPr>
              <a:t>пульт от телевизора</a:t>
            </a:r>
            <a:r>
              <a:rPr lang="ru-RU" sz="2400" dirty="0">
                <a:latin typeface="Bookman Old Style" panose="02050604050505020204" pitchFamily="18" charset="0"/>
              </a:rPr>
              <a:t>. Сам телевизор (массив) стоит в Куче. Переменная a — это пульт. Когда мы делаем b = a, мы </a:t>
            </a:r>
            <a:r>
              <a:rPr lang="ru-RU" sz="2400" b="1" dirty="0">
                <a:latin typeface="Bookman Old Style" panose="02050604050505020204" pitchFamily="18" charset="0"/>
              </a:rPr>
              <a:t>копируем пульт</a:t>
            </a:r>
            <a:r>
              <a:rPr lang="ru-RU" sz="2400" dirty="0">
                <a:latin typeface="Bookman Old Style" panose="02050604050505020204" pitchFamily="18" charset="0"/>
              </a:rPr>
              <a:t>, а не телевизор. Теперь два пульта управляют одним телевизором.</a:t>
            </a:r>
          </a:p>
        </p:txBody>
      </p:sp>
    </p:spTree>
    <p:extLst>
      <p:ext uri="{BB962C8B-B14F-4D97-AF65-F5344CB8AC3E}">
        <p14:creationId xmlns:p14="http://schemas.microsoft.com/office/powerpoint/2010/main" val="3627223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28" descr="Светлый диагональный 2">
            <a:extLst>
              <a:ext uri="{FF2B5EF4-FFF2-40B4-BE49-F238E27FC236}">
                <a16:creationId xmlns:a16="http://schemas.microsoft.com/office/drawing/2014/main" id="{2A0E99F7-A4CC-4E8F-8C74-D6A032765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Стек и куча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Прямоугольник 36"/>
          <p:cNvSpPr/>
          <p:nvPr/>
        </p:nvSpPr>
        <p:spPr>
          <a:xfrm>
            <a:off x="0" y="3853264"/>
            <a:ext cx="12192000" cy="2862322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Стек</a:t>
            </a:r>
            <a:r>
              <a:rPr lang="ru-RU" sz="2400" dirty="0" smtClean="0">
                <a:latin typeface="Bookman Old Style" panose="02050604050505020204" pitchFamily="18" charset="0"/>
              </a:rPr>
              <a:t> — это область памяти, организованная по принципу </a:t>
            </a:r>
            <a:r>
              <a:rPr lang="ru-RU" sz="2400" b="1" dirty="0" smtClean="0">
                <a:latin typeface="Bookman Old Style" panose="02050604050505020204" pitchFamily="18" charset="0"/>
              </a:rPr>
              <a:t>LIFO</a:t>
            </a:r>
            <a:r>
              <a:rPr lang="ru-RU" sz="2400" dirty="0" smtClean="0">
                <a:latin typeface="Bookman Old Style" panose="02050604050505020204" pitchFamily="18" charset="0"/>
              </a:rPr>
              <a:t> (</a:t>
            </a:r>
            <a:r>
              <a:rPr lang="ru-RU" sz="2400" dirty="0" err="1" smtClean="0">
                <a:latin typeface="Bookman Old Style" panose="02050604050505020204" pitchFamily="18" charset="0"/>
              </a:rPr>
              <a:t>Last</a:t>
            </a:r>
            <a:r>
              <a:rPr lang="ru-RU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err="1" smtClean="0">
                <a:latin typeface="Bookman Old Style" panose="02050604050505020204" pitchFamily="18" charset="0"/>
              </a:rPr>
              <a:t>In</a:t>
            </a:r>
            <a:r>
              <a:rPr lang="ru-RU" sz="2400" dirty="0" smtClean="0">
                <a:latin typeface="Bookman Old Style" panose="02050604050505020204" pitchFamily="18" charset="0"/>
              </a:rPr>
              <a:t>, </a:t>
            </a:r>
            <a:r>
              <a:rPr lang="ru-RU" sz="2400" dirty="0" err="1">
                <a:latin typeface="Bookman Old Style" panose="02050604050505020204" pitchFamily="18" charset="0"/>
              </a:rPr>
              <a:t>First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Out</a:t>
            </a:r>
            <a:r>
              <a:rPr lang="ru-RU" sz="2400" dirty="0">
                <a:latin typeface="Bookman Old Style" panose="02050604050505020204" pitchFamily="18" charset="0"/>
              </a:rPr>
              <a:t> — «последним пришёл, первым ушёл»).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Параметры и переменные метода, которые представляют типы значений, размещают свое значение в стеке. 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Время жизни переменных таких типов ограничено их контекстом. </a:t>
            </a:r>
            <a:endParaRPr lang="ru-RU" sz="2400" dirty="0" smtClean="0">
              <a:latin typeface="Bookman Old Style" panose="020506040505050202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332" y="868411"/>
            <a:ext cx="8087336" cy="298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940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Прямоугольник 36"/>
          <p:cNvSpPr/>
          <p:nvPr/>
        </p:nvSpPr>
        <p:spPr>
          <a:xfrm>
            <a:off x="0" y="2333685"/>
            <a:ext cx="12192000" cy="452431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Куча </a:t>
            </a:r>
            <a:r>
              <a:rPr lang="ru-RU" sz="2400" dirty="0">
                <a:latin typeface="Bookman Old Style" panose="02050604050505020204" pitchFamily="18" charset="0"/>
              </a:rPr>
              <a:t>— это динамически управляемая область памяти, предназначенная для хранения</a:t>
            </a:r>
            <a:r>
              <a:rPr lang="ru-RU" sz="2400" dirty="0" smtClean="0">
                <a:latin typeface="Bookman Old Style" panose="02050604050505020204" pitchFamily="18" charset="0"/>
              </a:rPr>
              <a:t>:</a:t>
            </a:r>
            <a:endParaRPr lang="ru-RU" sz="2400" dirty="0"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Bookman Old Style" panose="02050604050505020204" pitchFamily="18" charset="0"/>
              </a:rPr>
              <a:t>объектов, созданных во время выполнения программы (например, через </a:t>
            </a:r>
            <a:r>
              <a:rPr lang="ru-RU" sz="2400" dirty="0" err="1">
                <a:latin typeface="Bookman Old Style" panose="02050604050505020204" pitchFamily="18" charset="0"/>
              </a:rPr>
              <a:t>new</a:t>
            </a:r>
            <a:r>
              <a:rPr lang="ru-RU" sz="2400" dirty="0">
                <a:latin typeface="Bookman Old Style" panose="02050604050505020204" pitchFamily="18" charset="0"/>
              </a:rPr>
              <a:t> в C# или C</a:t>
            </a:r>
            <a:r>
              <a:rPr lang="ru-RU" sz="2400" dirty="0" smtClean="0">
                <a:latin typeface="Bookman Old Style" panose="02050604050505020204" pitchFamily="18" charset="0"/>
              </a:rPr>
              <a:t>++),</a:t>
            </a:r>
            <a:endParaRPr lang="ru-RU" sz="2400" dirty="0"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Bookman Old Style" panose="02050604050505020204" pitchFamily="18" charset="0"/>
              </a:rPr>
              <a:t>данных с неопределённым временем жизни (например, глобальные структуры, большие массивы</a:t>
            </a:r>
            <a:r>
              <a:rPr lang="ru-RU" sz="2400" dirty="0" smtClean="0">
                <a:latin typeface="Bookman Old Style" panose="02050604050505020204" pitchFamily="18" charset="0"/>
              </a:rPr>
              <a:t>).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Удаление данных из кучи происходит сборщиком мусора (</a:t>
            </a:r>
            <a:r>
              <a:rPr lang="en-US" sz="2400" dirty="0" smtClean="0">
                <a:latin typeface="Bookman Old Style" panose="02050604050505020204" pitchFamily="18" charset="0"/>
              </a:rPr>
              <a:t>Garbage Collector</a:t>
            </a:r>
            <a:r>
              <a:rPr lang="ru-RU" sz="2400" dirty="0" smtClean="0">
                <a:latin typeface="Bookman Old Style" panose="02050604050505020204" pitchFamily="18" charset="0"/>
              </a:rPr>
              <a:t>)</a:t>
            </a:r>
            <a:r>
              <a:rPr lang="en-US" sz="2400" dirty="0" smtClean="0">
                <a:latin typeface="Bookman Old Style" panose="02050604050505020204" pitchFamily="18" charset="0"/>
              </a:rPr>
              <a:t>.</a:t>
            </a:r>
            <a:endParaRPr lang="ru-RU" sz="2400" dirty="0" smtClean="0">
              <a:latin typeface="Bookman Old Style" panose="020506040505050202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016" y="330345"/>
            <a:ext cx="5427968" cy="200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904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F8ACBECF-83C1-4378-8A40-2C9A9BE3E1D2}"/>
              </a:ext>
            </a:extLst>
          </p:cNvPr>
          <p:cNvGrpSpPr/>
          <p:nvPr/>
        </p:nvGrpSpPr>
        <p:grpSpPr>
          <a:xfrm>
            <a:off x="800100" y="2164472"/>
            <a:ext cx="10477500" cy="4211794"/>
            <a:chOff x="800100" y="2164472"/>
            <a:chExt cx="10477500" cy="4211794"/>
          </a:xfrm>
        </p:grpSpPr>
        <p:sp>
          <p:nvSpPr>
            <p:cNvPr id="44" name="Прямоугольник 43">
              <a:extLst>
                <a:ext uri="{FF2B5EF4-FFF2-40B4-BE49-F238E27FC236}">
                  <a16:creationId xmlns:a16="http://schemas.microsoft.com/office/drawing/2014/main" id="{EE945D43-FB69-44C9-8FA3-D7962E359FCC}"/>
                </a:ext>
              </a:extLst>
            </p:cNvPr>
            <p:cNvSpPr/>
            <p:nvPr/>
          </p:nvSpPr>
          <p:spPr>
            <a:xfrm>
              <a:off x="800100" y="4447288"/>
              <a:ext cx="10477500" cy="1928978"/>
            </a:xfrm>
            <a:prstGeom prst="rect">
              <a:avLst/>
            </a:prstGeom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2400" b="1" dirty="0">
                  <a:latin typeface="Bookman Old Style" panose="02050604050505020204" pitchFamily="18" charset="0"/>
                </a:rPr>
                <a:t>Куча</a:t>
              </a:r>
              <a:r>
                <a:rPr lang="en-US" sz="2400" b="1" dirty="0">
                  <a:latin typeface="Bookman Old Style" panose="02050604050505020204" pitchFamily="18" charset="0"/>
                </a:rPr>
                <a:t> (Heap)</a:t>
              </a:r>
            </a:p>
          </p:txBody>
        </p:sp>
        <p:grpSp>
          <p:nvGrpSpPr>
            <p:cNvPr id="39" name="Группа 38">
              <a:extLst>
                <a:ext uri="{FF2B5EF4-FFF2-40B4-BE49-F238E27FC236}">
                  <a16:creationId xmlns:a16="http://schemas.microsoft.com/office/drawing/2014/main" id="{5200D70B-29AE-4226-96BA-0F97CD53E4B9}"/>
                </a:ext>
              </a:extLst>
            </p:cNvPr>
            <p:cNvGrpSpPr/>
            <p:nvPr/>
          </p:nvGrpSpPr>
          <p:grpSpPr>
            <a:xfrm>
              <a:off x="800100" y="2164472"/>
              <a:ext cx="10477500" cy="3945372"/>
              <a:chOff x="685800" y="2164472"/>
              <a:chExt cx="10477500" cy="3945372"/>
            </a:xfrm>
          </p:grpSpPr>
          <p:grpSp>
            <p:nvGrpSpPr>
              <p:cNvPr id="27" name="Группа 26">
                <a:extLst>
                  <a:ext uri="{FF2B5EF4-FFF2-40B4-BE49-F238E27FC236}">
                    <a16:creationId xmlns:a16="http://schemas.microsoft.com/office/drawing/2014/main" id="{6D90A6C4-7933-487F-9693-207B5061C590}"/>
                  </a:ext>
                </a:extLst>
              </p:cNvPr>
              <p:cNvGrpSpPr/>
              <p:nvPr/>
            </p:nvGrpSpPr>
            <p:grpSpPr>
              <a:xfrm>
                <a:off x="685800" y="2164472"/>
                <a:ext cx="10477500" cy="1781152"/>
                <a:chOff x="1098550" y="-224272"/>
                <a:chExt cx="10477500" cy="1781152"/>
              </a:xfrm>
            </p:grpSpPr>
            <p:sp>
              <p:nvSpPr>
                <p:cNvPr id="28" name="Прямоугольник 27">
                  <a:extLst>
                    <a:ext uri="{FF2B5EF4-FFF2-40B4-BE49-F238E27FC236}">
                      <a16:creationId xmlns:a16="http://schemas.microsoft.com/office/drawing/2014/main" id="{807030FF-28BE-4A46-8AAA-A80468C75441}"/>
                    </a:ext>
                  </a:extLst>
                </p:cNvPr>
                <p:cNvSpPr/>
                <p:nvPr/>
              </p:nvSpPr>
              <p:spPr>
                <a:xfrm>
                  <a:off x="1098550" y="-224272"/>
                  <a:ext cx="10477500" cy="1781152"/>
                </a:xfrm>
                <a:prstGeom prst="rect">
                  <a:avLst/>
                </a:prstGeom>
                <a:ln w="571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ru-RU" sz="2400" dirty="0">
                    <a:latin typeface="Bookman Old Style" panose="02050604050505020204" pitchFamily="18" charset="0"/>
                  </a:endParaRPr>
                </a:p>
                <a:p>
                  <a:pPr algn="ctr"/>
                  <a:endParaRPr lang="ru-RU" sz="2400" dirty="0">
                    <a:latin typeface="Bookman Old Style" panose="02050604050505020204" pitchFamily="18" charset="0"/>
                  </a:endParaRPr>
                </a:p>
                <a:p>
                  <a:pPr algn="ctr"/>
                  <a:endParaRPr lang="ru-RU" sz="2400" dirty="0">
                    <a:latin typeface="Bookman Old Style" panose="02050604050505020204" pitchFamily="18" charset="0"/>
                  </a:endParaRPr>
                </a:p>
                <a:p>
                  <a:pPr algn="ctr"/>
                  <a:r>
                    <a:rPr lang="ru-RU" sz="2400" b="1" dirty="0">
                      <a:latin typeface="Bookman Old Style" panose="02050604050505020204" pitchFamily="18" charset="0"/>
                    </a:rPr>
                    <a:t>Стек (</a:t>
                  </a:r>
                  <a:r>
                    <a:rPr lang="en-US" sz="2400" b="1" dirty="0">
                      <a:latin typeface="Bookman Old Style" panose="02050604050505020204" pitchFamily="18" charset="0"/>
                    </a:rPr>
                    <a:t>Stack</a:t>
                  </a:r>
                  <a:r>
                    <a:rPr lang="ru-RU" sz="2400" b="1" dirty="0">
                      <a:latin typeface="Bookman Old Style" panose="02050604050505020204" pitchFamily="18" charset="0"/>
                    </a:rPr>
                    <a:t>)</a:t>
                  </a:r>
                </a:p>
              </p:txBody>
            </p:sp>
            <p:grpSp>
              <p:nvGrpSpPr>
                <p:cNvPr id="9" name="Группа 8">
                  <a:extLst>
                    <a:ext uri="{FF2B5EF4-FFF2-40B4-BE49-F238E27FC236}">
                      <a16:creationId xmlns:a16="http://schemas.microsoft.com/office/drawing/2014/main" id="{D771CDE3-86D6-4AC2-A9C0-6F7337B2E52A}"/>
                    </a:ext>
                  </a:extLst>
                </p:cNvPr>
                <p:cNvGrpSpPr/>
                <p:nvPr/>
              </p:nvGrpSpPr>
              <p:grpSpPr>
                <a:xfrm>
                  <a:off x="1655641" y="-23112"/>
                  <a:ext cx="9382112" cy="913256"/>
                  <a:chOff x="1741109" y="-1261018"/>
                  <a:chExt cx="9382112" cy="913256"/>
                </a:xfrm>
              </p:grpSpPr>
              <p:sp>
                <p:nvSpPr>
                  <p:cNvPr id="13" name="Прямоугольник 12">
                    <a:extLst>
                      <a:ext uri="{FF2B5EF4-FFF2-40B4-BE49-F238E27FC236}">
                        <a16:creationId xmlns:a16="http://schemas.microsoft.com/office/drawing/2014/main" id="{C5B3F426-C6AB-4971-BF1E-5C15D602CEAF}"/>
                      </a:ext>
                    </a:extLst>
                  </p:cNvPr>
                  <p:cNvSpPr/>
                  <p:nvPr/>
                </p:nvSpPr>
                <p:spPr>
                  <a:xfrm>
                    <a:off x="1741109" y="-1261018"/>
                    <a:ext cx="3181349" cy="913256"/>
                  </a:xfrm>
                  <a:prstGeom prst="rect">
                    <a:avLst/>
                  </a:prstGeom>
                  <a:ln w="57150"/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400" b="1" dirty="0">
                        <a:latin typeface="Bookman Old Style" panose="02050604050505020204" pitchFamily="18" charset="0"/>
                      </a:rPr>
                      <a:t>11</a:t>
                    </a:r>
                  </a:p>
                  <a:p>
                    <a:pPr algn="ctr"/>
                    <a:r>
                      <a:rPr lang="en-US" sz="2400" dirty="0" err="1">
                        <a:latin typeface="Bookman Old Style" panose="02050604050505020204" pitchFamily="18" charset="0"/>
                      </a:rPr>
                      <a:t>myIntegerVariable</a:t>
                    </a:r>
                    <a:endParaRPr lang="ru-RU" sz="2400" dirty="0">
                      <a:latin typeface="Bookman Old Style" panose="02050604050505020204" pitchFamily="18" charset="0"/>
                    </a:endParaRPr>
                  </a:p>
                </p:txBody>
              </p:sp>
              <p:sp>
                <p:nvSpPr>
                  <p:cNvPr id="14" name="Прямоугольник 13">
                    <a:extLst>
                      <a:ext uri="{FF2B5EF4-FFF2-40B4-BE49-F238E27FC236}">
                        <a16:creationId xmlns:a16="http://schemas.microsoft.com/office/drawing/2014/main" id="{788BA2BB-E730-49B7-B223-CD016A833589}"/>
                      </a:ext>
                    </a:extLst>
                  </p:cNvPr>
                  <p:cNvSpPr/>
                  <p:nvPr/>
                </p:nvSpPr>
                <p:spPr>
                  <a:xfrm>
                    <a:off x="8507021" y="-1261018"/>
                    <a:ext cx="2616200" cy="913256"/>
                  </a:xfrm>
                  <a:prstGeom prst="rect">
                    <a:avLst/>
                  </a:prstGeom>
                  <a:ln w="57150"/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ru-RU" sz="2400" b="1" dirty="0">
                        <a:latin typeface="Bookman Old Style" panose="02050604050505020204" pitchFamily="18" charset="0"/>
                      </a:rPr>
                      <a:t>ссылка</a:t>
                    </a:r>
                  </a:p>
                  <a:p>
                    <a:pPr algn="ctr"/>
                    <a:r>
                      <a:rPr lang="en-US" sz="2400" dirty="0" err="1">
                        <a:latin typeface="Bookman Old Style" panose="02050604050505020204" pitchFamily="18" charset="0"/>
                      </a:rPr>
                      <a:t>myStrVariable</a:t>
                    </a:r>
                    <a:endParaRPr lang="ru-RU" sz="2400" dirty="0">
                      <a:latin typeface="Bookman Old Style" panose="02050604050505020204" pitchFamily="18" charset="0"/>
                    </a:endParaRPr>
                  </a:p>
                </p:txBody>
              </p:sp>
            </p:grpSp>
          </p:grpSp>
          <p:sp>
            <p:nvSpPr>
              <p:cNvPr id="33" name="Прямоугольник 32">
                <a:extLst>
                  <a:ext uri="{FF2B5EF4-FFF2-40B4-BE49-F238E27FC236}">
                    <a16:creationId xmlns:a16="http://schemas.microsoft.com/office/drawing/2014/main" id="{D4CF6140-571E-4782-BC0D-C21B33997ABD}"/>
                  </a:ext>
                </a:extLst>
              </p:cNvPr>
              <p:cNvSpPr/>
              <p:nvPr/>
            </p:nvSpPr>
            <p:spPr>
              <a:xfrm>
                <a:off x="4625847" y="2365632"/>
                <a:ext cx="3181349" cy="913256"/>
              </a:xfrm>
              <a:prstGeom prst="rect">
                <a:avLst/>
              </a:prstGeom>
              <a:ln w="5715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latin typeface="Bookman Old Style" panose="02050604050505020204" pitchFamily="18" charset="0"/>
                  </a:rPr>
                  <a:t>10.2</a:t>
                </a:r>
              </a:p>
              <a:p>
                <a:pPr algn="ctr"/>
                <a:r>
                  <a:rPr lang="en-US" sz="2400" dirty="0" err="1">
                    <a:latin typeface="Bookman Old Style" panose="02050604050505020204" pitchFamily="18" charset="0"/>
                  </a:rPr>
                  <a:t>myFloatVariable</a:t>
                </a:r>
                <a:endParaRPr lang="ru-RU" sz="24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34" name="Прямоугольник 33">
                <a:extLst>
                  <a:ext uri="{FF2B5EF4-FFF2-40B4-BE49-F238E27FC236}">
                    <a16:creationId xmlns:a16="http://schemas.microsoft.com/office/drawing/2014/main" id="{C54FA159-79E5-495C-8052-773785830B80}"/>
                  </a:ext>
                </a:extLst>
              </p:cNvPr>
              <p:cNvSpPr/>
              <p:nvPr/>
            </p:nvSpPr>
            <p:spPr>
              <a:xfrm>
                <a:off x="8008803" y="5196588"/>
                <a:ext cx="2616200" cy="913256"/>
              </a:xfrm>
              <a:prstGeom prst="rect">
                <a:avLst/>
              </a:prstGeom>
              <a:ln w="5715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ru-RU" sz="2400" b="1" dirty="0">
                    <a:latin typeface="Bookman Old Style" panose="02050604050505020204" pitchFamily="18" charset="0"/>
                  </a:rPr>
                  <a:t>«Строка»</a:t>
                </a:r>
                <a:endParaRPr lang="en-US" sz="2400" b="1" dirty="0">
                  <a:latin typeface="Bookman Old Style" panose="02050604050505020204" pitchFamily="18" charset="0"/>
                </a:endParaRPr>
              </a:p>
            </p:txBody>
          </p:sp>
          <p:cxnSp>
            <p:nvCxnSpPr>
              <p:cNvPr id="35" name="Прямая со стрелкой 34">
                <a:extLst>
                  <a:ext uri="{FF2B5EF4-FFF2-40B4-BE49-F238E27FC236}">
                    <a16:creationId xmlns:a16="http://schemas.microsoft.com/office/drawing/2014/main" id="{AA09A283-B353-4142-92AB-6715E1C3BEF5}"/>
                  </a:ext>
                </a:extLst>
              </p:cNvPr>
              <p:cNvCxnSpPr>
                <a:cxnSpLocks/>
                <a:stCxn id="14" idx="2"/>
                <a:endCxn id="34" idx="0"/>
              </p:cNvCxnSpPr>
              <p:nvPr/>
            </p:nvCxnSpPr>
            <p:spPr>
              <a:xfrm>
                <a:off x="9316903" y="3278888"/>
                <a:ext cx="0" cy="1917700"/>
              </a:xfrm>
              <a:prstGeom prst="straightConnector1">
                <a:avLst/>
              </a:prstGeom>
              <a:ln w="762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" name="Прямоугольник 14"/>
          <p:cNvSpPr/>
          <p:nvPr/>
        </p:nvSpPr>
        <p:spPr>
          <a:xfrm>
            <a:off x="0" y="3432"/>
            <a:ext cx="12192000" cy="1754326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 smtClean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myIntegerVariable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11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myFloatVariable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10.2f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myStrVariable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latin typeface="Consolas" panose="020B0609020204030204" pitchFamily="49" charset="0"/>
              </a:rPr>
              <a:t>Строка"</a:t>
            </a:r>
            <a:r>
              <a:rPr lang="ru-RU" sz="24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  <a:endParaRPr lang="ru-RU" sz="2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523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Прямоугольник 36"/>
          <p:cNvSpPr/>
          <p:nvPr/>
        </p:nvSpPr>
        <p:spPr>
          <a:xfrm>
            <a:off x="0" y="0"/>
            <a:ext cx="12192000" cy="2677656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null</a:t>
            </a:r>
            <a:r>
              <a:rPr lang="ru-RU" sz="2400" b="1" dirty="0">
                <a:latin typeface="Bookman Old Style" panose="02050604050505020204" pitchFamily="18" charset="0"/>
              </a:rPr>
              <a:t> </a:t>
            </a:r>
            <a:r>
              <a:rPr lang="ru-RU" sz="2400" dirty="0">
                <a:latin typeface="Bookman Old Style" panose="02050604050505020204" pitchFamily="18" charset="0"/>
              </a:rPr>
              <a:t>— это специальное значение, указывающее на то, что переменная ссылочного типа (или </a:t>
            </a:r>
            <a:r>
              <a:rPr lang="ru-RU" sz="2400" dirty="0" err="1">
                <a:latin typeface="Bookman Old Style" panose="02050604050505020204" pitchFamily="18" charset="0"/>
              </a:rPr>
              <a:t>nullable</a:t>
            </a:r>
            <a:r>
              <a:rPr lang="ru-RU" sz="2400" dirty="0">
                <a:latin typeface="Bookman Old Style" panose="02050604050505020204" pitchFamily="18" charset="0"/>
              </a:rPr>
              <a:t>-типа) не ссылается ни на какой объект в памяти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r>
              <a:rPr lang="ru-RU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ru-RU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text</a:t>
            </a:r>
            <a:r>
              <a:rPr lang="ru-RU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ru-RU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ru-RU" sz="2400" dirty="0">
                <a:solidFill>
                  <a:srgbClr val="3B3B3B"/>
                </a:solidFill>
                <a:latin typeface="Consolas" panose="020B0609020204030204" pitchFamily="49" charset="0"/>
              </a:rPr>
              <a:t>;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// Допустимо (ссылочный тип)  </a:t>
            </a:r>
            <a:endParaRPr lang="ru-RU" sz="2400" dirty="0">
              <a:solidFill>
                <a:srgbClr val="3B3B3B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807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/>
          <p:cNvSpPr/>
          <p:nvPr/>
        </p:nvSpPr>
        <p:spPr>
          <a:xfrm>
            <a:off x="3496350" y="1180483"/>
            <a:ext cx="5199300" cy="9795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Стек</a:t>
            </a:r>
          </a:p>
          <a:p>
            <a:pPr algn="ctr"/>
            <a:endParaRPr lang="ru-RU" sz="2400" b="1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538743" y="2763069"/>
            <a:ext cx="4334472" cy="37775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Непрерывная </a:t>
            </a:r>
            <a:r>
              <a:rPr lang="ru-RU" sz="2400" b="1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область </a:t>
            </a:r>
            <a:r>
              <a:rPr lang="ru-RU" sz="24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памяти в </a:t>
            </a:r>
            <a:r>
              <a:rPr lang="ru-RU" sz="2400" b="1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Куче</a:t>
            </a:r>
            <a:endParaRPr lang="en-US" sz="2400" b="1" dirty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algn="ctr"/>
            <a:endParaRPr lang="en-US" sz="2400" b="1" dirty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algn="ctr"/>
            <a:endParaRPr lang="en-US" sz="2400" b="1" dirty="0" smtClean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algn="ctr"/>
            <a:endParaRPr lang="en-US" sz="2400" b="1" dirty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algn="ctr"/>
            <a:endParaRPr lang="en-US" sz="2400" b="1" dirty="0" smtClean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algn="ctr"/>
            <a:endParaRPr lang="en-US" sz="2400" b="1" dirty="0" smtClean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algn="ctr"/>
            <a:endParaRPr lang="en-US" sz="2400" b="1" dirty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algn="ctr"/>
            <a:endParaRPr lang="en-US" sz="2400" b="1" dirty="0" smtClean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algn="ctr"/>
            <a:endParaRPr lang="ru-RU" sz="2400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1640974" y="3698289"/>
            <a:ext cx="2414658" cy="466072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Значение 0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27" name="Прямоугольник 26"/>
          <p:cNvSpPr/>
          <p:nvPr/>
        </p:nvSpPr>
        <p:spPr>
          <a:xfrm>
            <a:off x="3891664" y="1635743"/>
            <a:ext cx="1549705" cy="426503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array</a:t>
            </a:r>
            <a:endParaRPr lang="ru-RU" sz="2400" b="1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cxnSp>
        <p:nvCxnSpPr>
          <p:cNvPr id="29" name="Прямая со стрелкой 28"/>
          <p:cNvCxnSpPr>
            <a:stCxn id="27" idx="2"/>
            <a:endCxn id="19" idx="0"/>
          </p:cNvCxnSpPr>
          <p:nvPr/>
        </p:nvCxnSpPr>
        <p:spPr>
          <a:xfrm flipH="1">
            <a:off x="2705979" y="2062246"/>
            <a:ext cx="1960538" cy="70082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Прямоугольник 29"/>
          <p:cNvSpPr/>
          <p:nvPr/>
        </p:nvSpPr>
        <p:spPr>
          <a:xfrm>
            <a:off x="6891491" y="1635743"/>
            <a:ext cx="1549705" cy="426503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array2</a:t>
            </a:r>
            <a:endParaRPr lang="ru-RU" sz="2400" b="1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cxnSp>
        <p:nvCxnSpPr>
          <p:cNvPr id="31" name="Прямая со стрелкой 30"/>
          <p:cNvCxnSpPr>
            <a:stCxn id="30" idx="2"/>
            <a:endCxn id="43" idx="0"/>
          </p:cNvCxnSpPr>
          <p:nvPr/>
        </p:nvCxnSpPr>
        <p:spPr>
          <a:xfrm>
            <a:off x="7666344" y="2062246"/>
            <a:ext cx="1883292" cy="70059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28" descr="Светлый диагональный 2">
            <a:extLst>
              <a:ext uri="{FF2B5EF4-FFF2-40B4-BE49-F238E27FC236}">
                <a16:creationId xmlns:a16="http://schemas.microsoft.com/office/drawing/2014/main" id="{2A0E99F7-A4CC-4E8F-8C74-D6A032765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Особенности работы с массивами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Прямоугольник 36"/>
          <p:cNvSpPr/>
          <p:nvPr/>
        </p:nvSpPr>
        <p:spPr>
          <a:xfrm>
            <a:off x="0" y="665361"/>
            <a:ext cx="12192000" cy="46166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400" b="1" dirty="0" smtClean="0">
                <a:latin typeface="Bookman Old Style" panose="02050604050505020204" pitchFamily="18" charset="0"/>
              </a:rPr>
              <a:t>Создание 2 массивов выглядит следующим образом в памяти:</a:t>
            </a:r>
            <a:endParaRPr lang="ru-RU" sz="2400" b="1" dirty="0">
              <a:latin typeface="Bookman Old Style" panose="02050604050505020204" pitchFamily="18" charset="0"/>
            </a:endParaRPr>
          </a:p>
        </p:txBody>
      </p:sp>
      <p:sp>
        <p:nvSpPr>
          <p:cNvPr id="40" name="Прямоугольник 39"/>
          <p:cNvSpPr/>
          <p:nvPr/>
        </p:nvSpPr>
        <p:spPr>
          <a:xfrm>
            <a:off x="1640974" y="4353519"/>
            <a:ext cx="2414658" cy="466072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Значение 1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41" name="Прямоугольник 40"/>
          <p:cNvSpPr/>
          <p:nvPr/>
        </p:nvSpPr>
        <p:spPr>
          <a:xfrm>
            <a:off x="1640973" y="5008749"/>
            <a:ext cx="2414659" cy="466072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Значение …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42" name="Прямоугольник 41"/>
          <p:cNvSpPr/>
          <p:nvPr/>
        </p:nvSpPr>
        <p:spPr>
          <a:xfrm>
            <a:off x="1640974" y="5663979"/>
            <a:ext cx="2414658" cy="466072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Значение </a:t>
            </a:r>
            <a:r>
              <a:rPr lang="en-US" sz="2400" b="1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N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43" name="Прямоугольник 42"/>
          <p:cNvSpPr/>
          <p:nvPr/>
        </p:nvSpPr>
        <p:spPr>
          <a:xfrm>
            <a:off x="7382400" y="2762843"/>
            <a:ext cx="4334472" cy="37775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Непрерывная </a:t>
            </a:r>
            <a:r>
              <a:rPr lang="ru-RU" sz="2400" b="1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область </a:t>
            </a:r>
            <a:r>
              <a:rPr lang="ru-RU" sz="24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памяти в </a:t>
            </a:r>
            <a:r>
              <a:rPr lang="ru-RU" sz="2400" b="1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Куче</a:t>
            </a:r>
            <a:endParaRPr lang="en-US" sz="2400" b="1" dirty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algn="ctr"/>
            <a:endParaRPr lang="en-US" sz="2400" b="1" dirty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algn="ctr"/>
            <a:endParaRPr lang="en-US" sz="2400" b="1" dirty="0" smtClean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algn="ctr"/>
            <a:endParaRPr lang="en-US" sz="2400" b="1" dirty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algn="ctr"/>
            <a:endParaRPr lang="en-US" sz="2400" b="1" dirty="0" smtClean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algn="ctr"/>
            <a:endParaRPr lang="en-US" sz="2400" b="1" dirty="0" smtClean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algn="ctr"/>
            <a:endParaRPr lang="en-US" sz="2400" b="1" dirty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algn="ctr"/>
            <a:endParaRPr lang="en-US" sz="2400" b="1" dirty="0" smtClean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algn="ctr"/>
            <a:endParaRPr lang="ru-RU" sz="2400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4" name="Прямоугольник 43"/>
          <p:cNvSpPr/>
          <p:nvPr/>
        </p:nvSpPr>
        <p:spPr>
          <a:xfrm>
            <a:off x="8484631" y="3698063"/>
            <a:ext cx="2414658" cy="466072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Значение 0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45" name="Прямоугольник 44"/>
          <p:cNvSpPr/>
          <p:nvPr/>
        </p:nvSpPr>
        <p:spPr>
          <a:xfrm>
            <a:off x="8484631" y="4353293"/>
            <a:ext cx="2414658" cy="466072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Значение 1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46" name="Прямоугольник 45"/>
          <p:cNvSpPr/>
          <p:nvPr/>
        </p:nvSpPr>
        <p:spPr>
          <a:xfrm>
            <a:off x="8484630" y="5008523"/>
            <a:ext cx="2414659" cy="466072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Значение …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48" name="Прямоугольник 47"/>
          <p:cNvSpPr/>
          <p:nvPr/>
        </p:nvSpPr>
        <p:spPr>
          <a:xfrm>
            <a:off x="8484631" y="5663753"/>
            <a:ext cx="2414658" cy="466072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Значение </a:t>
            </a:r>
            <a:r>
              <a:rPr lang="en-US" sz="2400" b="1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N</a:t>
            </a:r>
            <a:endParaRPr lang="ru-RU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1582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12054996" cy="3785652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[] array 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[10];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[] array2 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[10];</a:t>
            </a:r>
          </a:p>
          <a:p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array2 = array; 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// </a:t>
            </a:r>
            <a:r>
              <a:rPr lang="ru-RU" sz="2400" dirty="0">
                <a:solidFill>
                  <a:srgbClr val="00B050"/>
                </a:solidFill>
                <a:latin typeface="Consolas" panose="020B0609020204030204" pitchFamily="49" charset="0"/>
              </a:rPr>
              <a:t>Теперь ссылка 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array2 </a:t>
            </a:r>
            <a:r>
              <a:rPr lang="ru-RU" sz="2400" dirty="0">
                <a:solidFill>
                  <a:srgbClr val="00B050"/>
                </a:solidFill>
                <a:latin typeface="Consolas" panose="020B0609020204030204" pitchFamily="49" charset="0"/>
              </a:rPr>
              <a:t>указывает на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ru-RU" sz="2400" dirty="0">
                <a:solidFill>
                  <a:srgbClr val="00B050"/>
                </a:solidFill>
                <a:latin typeface="Consolas" panose="020B0609020204030204" pitchFamily="49" charset="0"/>
              </a:rPr>
              <a:t>ту же область памяти, что и у </a:t>
            </a:r>
            <a:r>
              <a:rPr lang="en-US" sz="2400" dirty="0" smtClean="0">
                <a:solidFill>
                  <a:srgbClr val="00B050"/>
                </a:solidFill>
                <a:latin typeface="Consolas" panose="020B0609020204030204" pitchFamily="49" charset="0"/>
              </a:rPr>
              <a:t>array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n-NO" sz="2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2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2400" dirty="0">
                <a:solidFill>
                  <a:srgbClr val="000000"/>
                </a:solidFill>
                <a:latin typeface="Consolas" panose="020B0609020204030204" pitchFamily="49" charset="0"/>
              </a:rPr>
              <a:t> i = 0; i &lt; array.Length; i++)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array[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array.Length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-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n-NO" sz="2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2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2400" dirty="0">
                <a:solidFill>
                  <a:srgbClr val="000000"/>
                </a:solidFill>
                <a:latin typeface="Consolas" panose="020B0609020204030204" pitchFamily="49" charset="0"/>
              </a:rPr>
              <a:t> i = 0; i &lt; array.Length; i++)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$"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{array2[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]}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 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6751642" y="2481869"/>
            <a:ext cx="5199300" cy="9795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Стек</a:t>
            </a:r>
          </a:p>
          <a:p>
            <a:pPr algn="ctr"/>
            <a:endParaRPr lang="ru-RU" sz="2400" b="1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057491" y="397923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19" name="Прямоугольник 18"/>
          <p:cNvSpPr/>
          <p:nvPr/>
        </p:nvSpPr>
        <p:spPr>
          <a:xfrm>
            <a:off x="2604211" y="3979232"/>
            <a:ext cx="9109268" cy="20291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Непрерывная область в памяти в </a:t>
            </a:r>
            <a:r>
              <a:rPr lang="ru-RU" sz="2400" b="1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Куче</a:t>
            </a:r>
            <a:endParaRPr lang="en-US" sz="2400" b="1" dirty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algn="ctr"/>
            <a:endParaRPr lang="en-US" sz="2400" b="1" dirty="0" smtClean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algn="ctr"/>
            <a:endParaRPr lang="en-US" sz="2400" b="1" dirty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algn="ctr"/>
            <a:endParaRPr lang="en-US" sz="2400" b="1" dirty="0" smtClean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algn="ctr"/>
            <a:endParaRPr lang="ru-RU" sz="2400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2771059" y="4534075"/>
            <a:ext cx="1869120" cy="126000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Значение</a:t>
            </a:r>
          </a:p>
          <a:p>
            <a:pPr algn="ctr"/>
            <a:r>
              <a:rPr lang="ru-RU" sz="24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0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24" name="Прямоугольник 23"/>
          <p:cNvSpPr/>
          <p:nvPr/>
        </p:nvSpPr>
        <p:spPr>
          <a:xfrm>
            <a:off x="4866978" y="4522469"/>
            <a:ext cx="1884664" cy="126000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Значение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1</a:t>
            </a:r>
            <a:endParaRPr lang="ru-RU" sz="2400" dirty="0"/>
          </a:p>
        </p:txBody>
      </p:sp>
      <p:sp>
        <p:nvSpPr>
          <p:cNvPr id="25" name="Прямоугольник 24"/>
          <p:cNvSpPr/>
          <p:nvPr/>
        </p:nvSpPr>
        <p:spPr>
          <a:xfrm>
            <a:off x="6983273" y="4517662"/>
            <a:ext cx="2141611" cy="126000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Значение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…</a:t>
            </a:r>
            <a:endParaRPr lang="ru-RU" sz="2400" dirty="0"/>
          </a:p>
        </p:txBody>
      </p:sp>
      <p:sp>
        <p:nvSpPr>
          <p:cNvPr id="26" name="Прямоугольник 25"/>
          <p:cNvSpPr/>
          <p:nvPr/>
        </p:nvSpPr>
        <p:spPr>
          <a:xfrm>
            <a:off x="9356514" y="4517662"/>
            <a:ext cx="2081919" cy="126000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Значение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N</a:t>
            </a:r>
            <a:endParaRPr lang="ru-RU" sz="2400" dirty="0"/>
          </a:p>
        </p:txBody>
      </p:sp>
      <p:sp>
        <p:nvSpPr>
          <p:cNvPr id="27" name="Прямоугольник 26"/>
          <p:cNvSpPr/>
          <p:nvPr/>
        </p:nvSpPr>
        <p:spPr>
          <a:xfrm>
            <a:off x="7167571" y="2941519"/>
            <a:ext cx="1549705" cy="426503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array</a:t>
            </a:r>
            <a:endParaRPr lang="ru-RU" sz="2400" b="1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cxnSp>
        <p:nvCxnSpPr>
          <p:cNvPr id="29" name="Прямая со стрелкой 28"/>
          <p:cNvCxnSpPr>
            <a:stCxn id="27" idx="2"/>
            <a:endCxn id="19" idx="0"/>
          </p:cNvCxnSpPr>
          <p:nvPr/>
        </p:nvCxnSpPr>
        <p:spPr>
          <a:xfrm flipH="1">
            <a:off x="7158845" y="3368022"/>
            <a:ext cx="783579" cy="61121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Прямоугольник 29"/>
          <p:cNvSpPr/>
          <p:nvPr/>
        </p:nvSpPr>
        <p:spPr>
          <a:xfrm>
            <a:off x="10041725" y="2940312"/>
            <a:ext cx="1549705" cy="426503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array2</a:t>
            </a:r>
            <a:endParaRPr lang="ru-RU" sz="2400" b="1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cxnSp>
        <p:nvCxnSpPr>
          <p:cNvPr id="31" name="Прямая со стрелкой 30"/>
          <p:cNvCxnSpPr>
            <a:stCxn id="30" idx="2"/>
            <a:endCxn id="19" idx="0"/>
          </p:cNvCxnSpPr>
          <p:nvPr/>
        </p:nvCxnSpPr>
        <p:spPr>
          <a:xfrm flipH="1">
            <a:off x="7158845" y="3366815"/>
            <a:ext cx="3657733" cy="61241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48" y="5605942"/>
            <a:ext cx="6697010" cy="1019317"/>
          </a:xfrm>
          <a:prstGeom prst="rect">
            <a:avLst/>
          </a:prstGeom>
        </p:spPr>
      </p:pic>
      <p:sp>
        <p:nvSpPr>
          <p:cNvPr id="14" name="Прямоугольник 13"/>
          <p:cNvSpPr/>
          <p:nvPr/>
        </p:nvSpPr>
        <p:spPr>
          <a:xfrm>
            <a:off x="6057490" y="0"/>
            <a:ext cx="613450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>
                <a:latin typeface="Bookman Old Style" panose="02050604050505020204" pitchFamily="18" charset="0"/>
              </a:rPr>
              <a:t>ВАЖНО! </a:t>
            </a:r>
          </a:p>
          <a:p>
            <a:r>
              <a:rPr lang="ru-RU" sz="2200" b="1" dirty="0">
                <a:latin typeface="Bookman Old Style" panose="02050604050505020204" pitchFamily="18" charset="0"/>
              </a:rPr>
              <a:t>Массивы – ссылочные типы данных.</a:t>
            </a:r>
          </a:p>
        </p:txBody>
      </p:sp>
    </p:spTree>
    <p:extLst>
      <p:ext uri="{BB962C8B-B14F-4D97-AF65-F5344CB8AC3E}">
        <p14:creationId xmlns:p14="http://schemas.microsoft.com/office/powerpoint/2010/main" val="3999994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Диапазон</a:t>
            </a:r>
            <a:endParaRPr lang="ru-RU" sz="2800" b="1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0" y="691338"/>
            <a:ext cx="12192000" cy="452431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В </a:t>
            </a:r>
            <a:r>
              <a:rPr lang="ru-RU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C# 8.0 </a:t>
            </a:r>
            <a:r>
              <a:rPr lang="ru-RU" sz="2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была добавлена новая функциональность - индексы и диапазоны, которые упрощают получение из массивов </a:t>
            </a:r>
            <a:r>
              <a:rPr lang="ru-RU" sz="2400" dirty="0" err="1">
                <a:latin typeface="Bookman Old Style" panose="02050604050505020204" pitchFamily="18" charset="0"/>
                <a:cs typeface="Times New Roman" panose="02020603050405020304" pitchFamily="18" charset="0"/>
              </a:rPr>
              <a:t>подмассивов</a:t>
            </a:r>
            <a:r>
              <a:rPr lang="ru-RU" sz="2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. Для этого в </a:t>
            </a:r>
            <a:r>
              <a:rPr lang="ru-RU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C# </a:t>
            </a:r>
            <a:r>
              <a:rPr lang="ru-RU" sz="2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есть два типа: </a:t>
            </a:r>
            <a:r>
              <a:rPr lang="ru-RU" sz="2400" b="1" dirty="0" err="1">
                <a:latin typeface="Bookman Old Style" panose="02050604050505020204" pitchFamily="18" charset="0"/>
                <a:cs typeface="Times New Roman" panose="02020603050405020304" pitchFamily="18" charset="0"/>
              </a:rPr>
              <a:t>System.Range</a:t>
            </a:r>
            <a:r>
              <a:rPr lang="ru-RU" sz="2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и </a:t>
            </a:r>
            <a:r>
              <a:rPr lang="ru-RU" sz="2400" b="1" dirty="0" err="1">
                <a:latin typeface="Bookman Old Style" panose="02050604050505020204" pitchFamily="18" charset="0"/>
                <a:cs typeface="Times New Roman" panose="02020603050405020304" pitchFamily="18" charset="0"/>
              </a:rPr>
              <a:t>System.Index</a:t>
            </a:r>
            <a:r>
              <a:rPr lang="ru-RU" sz="2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. Оба типа являются структурами. Тип </a:t>
            </a:r>
            <a:r>
              <a:rPr lang="ru-RU" sz="2400" b="1" dirty="0" err="1">
                <a:latin typeface="Bookman Old Style" panose="02050604050505020204" pitchFamily="18" charset="0"/>
                <a:cs typeface="Times New Roman" panose="02020603050405020304" pitchFamily="18" charset="0"/>
              </a:rPr>
              <a:t>Range</a:t>
            </a:r>
            <a:r>
              <a:rPr lang="ru-RU" sz="2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представляет некоторый диапазон значений в некоторой последовательность, а тип </a:t>
            </a:r>
            <a:r>
              <a:rPr lang="ru-RU" sz="2400" b="1" dirty="0" err="1">
                <a:latin typeface="Bookman Old Style" panose="02050604050505020204" pitchFamily="18" charset="0"/>
                <a:cs typeface="Times New Roman" panose="02020603050405020304" pitchFamily="18" charset="0"/>
              </a:rPr>
              <a:t>Index</a:t>
            </a:r>
            <a:r>
              <a:rPr lang="ru-RU" sz="2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- индекс в последовательности</a:t>
            </a:r>
            <a:r>
              <a:rPr lang="ru-RU" sz="24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.</a:t>
            </a:r>
            <a:endParaRPr lang="en-US" sz="2400" dirty="0" smtClean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rgbClr val="00B050"/>
                </a:solidFill>
                <a:latin typeface="Cascadia Mono" panose="020B0609020000020004" pitchFamily="49" charset="0"/>
              </a:rPr>
              <a:t>Range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range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3..7;  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с 3 индекса до </a:t>
            </a:r>
            <a:r>
              <a:rPr lang="ru-RU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6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1235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386538"/>
            <a:ext cx="12192000" cy="489364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indent="358775"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Диапазон </a:t>
            </a:r>
            <a:r>
              <a:rPr lang="ru-RU" sz="2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представляет часть последовательности, которая ограничена двумя индексами. Начальный индекс включается в диапазон, а конечный индекс НЕ входит в диапазон. Для определения диапазона применяется оператор </a:t>
            </a:r>
            <a:r>
              <a:rPr lang="ru-RU" sz="24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«</a:t>
            </a:r>
            <a:r>
              <a:rPr lang="ru-RU" sz="24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..</a:t>
            </a:r>
            <a:r>
              <a:rPr lang="ru-RU" sz="24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»:</a:t>
            </a:r>
            <a:endParaRPr lang="en-US" sz="2400" dirty="0" smtClean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indent="358775" algn="just"/>
            <a:endParaRPr lang="en-US" sz="2400" dirty="0" smtClean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00B050"/>
                </a:solidFill>
                <a:latin typeface="Cascadia Mono" panose="020B0609020000020004" pitchFamily="49" charset="0"/>
              </a:rPr>
              <a:t>Range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range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3..7;  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с 3 индекса до 6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B050"/>
                </a:solidFill>
                <a:latin typeface="Cascadia Mono" panose="020B0609020000020004" pitchFamily="49" charset="0"/>
              </a:rPr>
              <a:t>Range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range2 = 2..;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с 2 индекса до конца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B050"/>
                </a:solidFill>
                <a:latin typeface="Cascadia Mono" panose="020B0609020000020004" pitchFamily="49" charset="0"/>
              </a:rPr>
              <a:t>Range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range3 = 1..^1;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с 1 индекса до </a:t>
            </a:r>
            <a:r>
              <a:rPr lang="ru-RU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предпоследнего</a:t>
            </a:r>
            <a:endParaRPr lang="en-US" sz="2400" dirty="0" smtClean="0">
              <a:solidFill>
                <a:srgbClr val="008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arr1 =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[range];  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3, 4, 5, 6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arr2 =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[range2]; 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2, 3, 4, 5, 6, 7, 8, 9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arr3 =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[range3]; 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1, 2, 3, 4, 5, 6, 7, </a:t>
            </a:r>
            <a:r>
              <a:rPr lang="en-US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8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103468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2" name="Rectangle 28" descr="Светлый диагональный 2">
            <a:extLst>
              <a:ext uri="{FF2B5EF4-FFF2-40B4-BE49-F238E27FC236}">
                <a16:creationId xmlns:a16="http://schemas.microsoft.com/office/drawing/2014/main" id="{2A0E99F7-A4CC-4E8F-8C74-D6A032765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Многомерный массив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0" y="687143"/>
            <a:ext cx="12191999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/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Массивы характеризуются таким понятием как </a:t>
            </a:r>
            <a:r>
              <a:rPr lang="ru-RU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ранг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 или количество измерений. </a:t>
            </a:r>
            <a:r>
              <a:rPr lang="ru-RU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Выше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мы рассматривали массивы, которые имеют одно измерение (то есть </a:t>
            </a:r>
            <a:r>
              <a:rPr lang="ru-RU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их ранг равен 1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) - такие массивы можно представлять в виде ряда (строки или столбца) элемента. </a:t>
            </a:r>
          </a:p>
          <a:p>
            <a:pPr algn="just"/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Но массивы также бывают </a:t>
            </a:r>
            <a:r>
              <a:rPr lang="ru-RU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многомерными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. У таких массивов количество измерений (то есть ранг) </a:t>
            </a:r>
            <a:r>
              <a:rPr lang="ru-RU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больше 1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.</a:t>
            </a:r>
          </a:p>
          <a:p>
            <a:pPr algn="just"/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Массивы которые имеют два измерения (ранг равен 2) называют </a:t>
            </a:r>
            <a:r>
              <a:rPr lang="ru-RU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двухмерными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.</a:t>
            </a:r>
          </a:p>
          <a:p>
            <a:pPr indent="717550"/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r>
              <a:rPr lang="ru-RU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тип_переменной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] </a:t>
            </a:r>
            <a:r>
              <a:rPr lang="ru-RU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название_массива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new </a:t>
            </a:r>
            <a:r>
              <a:rPr lang="ru-RU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тип_переменной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[кол-</a:t>
            </a:r>
            <a:r>
              <a:rPr lang="ru-RU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во_строк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кол-</a:t>
            </a:r>
            <a:r>
              <a:rPr lang="ru-RU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во_столбцов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тип_переменной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,,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] </a:t>
            </a:r>
            <a:r>
              <a:rPr lang="ru-RU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название_массива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new </a:t>
            </a:r>
            <a:r>
              <a:rPr lang="ru-RU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тип_переменной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N,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M, K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И т.д</a:t>
            </a:r>
            <a:r>
              <a:rPr lang="ru-RU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856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5" name="Прямоугольник 4"/>
          <p:cNvSpPr/>
          <p:nvPr/>
        </p:nvSpPr>
        <p:spPr>
          <a:xfrm>
            <a:off x="594324" y="0"/>
            <a:ext cx="9336485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>
                <a:latin typeface="Bookman Old Style" panose="02050604050505020204" pitchFamily="18" charset="0"/>
              </a:rPr>
              <a:t>Пример</a:t>
            </a:r>
            <a:endParaRPr lang="ru-RU" sz="2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Создадим массив с 2 строками и 3 столбцами:</a:t>
            </a: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lvl="4"/>
            <a:r>
              <a:rPr lang="en-US" sz="2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array 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ru-RU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2,3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4" algn="just"/>
            <a:r>
              <a:rPr lang="ru-RU" sz="2400" b="1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Внутри массива:</a:t>
            </a:r>
          </a:p>
          <a:p>
            <a:pPr lvl="4" algn="just"/>
            <a:r>
              <a:rPr lang="ru-RU" sz="2400" b="1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0 0 0</a:t>
            </a:r>
          </a:p>
          <a:p>
            <a:pPr lvl="4" algn="just"/>
            <a:r>
              <a:rPr lang="ru-RU" sz="2400" b="1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0 0 0</a:t>
            </a:r>
          </a:p>
          <a:p>
            <a:pPr lvl="4"/>
            <a:endParaRPr lang="ru-RU" sz="2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4"/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array[0,0] = 1;</a:t>
            </a:r>
          </a:p>
          <a:p>
            <a:pPr lvl="4"/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array[1,2] = 2;</a:t>
            </a:r>
          </a:p>
          <a:p>
            <a:pPr lvl="4" algn="just"/>
            <a:r>
              <a:rPr lang="ru-RU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Внутри </a:t>
            </a:r>
            <a:r>
              <a:rPr lang="ru-RU" sz="2400" b="1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массива:</a:t>
            </a:r>
            <a:endParaRPr lang="ru-RU" sz="2400" b="1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lvl="4" algn="just"/>
            <a:r>
              <a:rPr lang="en-US" sz="2400" b="1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1</a:t>
            </a:r>
            <a:r>
              <a:rPr lang="ru-RU" sz="2400" b="1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 </a:t>
            </a:r>
            <a:r>
              <a:rPr lang="ru-RU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0 0</a:t>
            </a:r>
          </a:p>
          <a:p>
            <a:pPr lvl="4" algn="just"/>
            <a:r>
              <a:rPr lang="ru-RU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0 0 </a:t>
            </a:r>
            <a:r>
              <a:rPr lang="en-US" sz="2400" b="1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2</a:t>
            </a:r>
          </a:p>
          <a:p>
            <a:pPr lvl="4"/>
            <a:endParaRPr lang="en-US" sz="2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4"/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array[0,1]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3;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4"/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array[1,0]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4;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4" algn="just"/>
            <a:r>
              <a:rPr lang="ru-RU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Внутри </a:t>
            </a:r>
            <a:r>
              <a:rPr lang="ru-RU" sz="2400" b="1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массива:</a:t>
            </a:r>
            <a:endParaRPr lang="ru-RU" sz="2400" b="1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lvl="4" algn="just"/>
            <a:r>
              <a:rPr lang="en-US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1</a:t>
            </a:r>
            <a:r>
              <a:rPr lang="ru-RU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400" b="1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3</a:t>
            </a:r>
            <a:r>
              <a:rPr lang="ru-RU" sz="2400" b="1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 </a:t>
            </a:r>
            <a:r>
              <a:rPr lang="ru-RU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0</a:t>
            </a:r>
          </a:p>
          <a:p>
            <a:pPr lvl="4" algn="just"/>
            <a:r>
              <a:rPr lang="en-US" sz="2400" b="1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4</a:t>
            </a:r>
            <a:r>
              <a:rPr lang="ru-RU" sz="2400" b="1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 </a:t>
            </a:r>
            <a:r>
              <a:rPr lang="ru-RU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0 </a:t>
            </a:r>
            <a:r>
              <a:rPr lang="en-US" sz="2400" b="1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2</a:t>
            </a:r>
            <a:endParaRPr lang="ru-RU" sz="2400" b="1" dirty="0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2023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5" name="Прямоугольник 4"/>
          <p:cNvSpPr/>
          <p:nvPr/>
        </p:nvSpPr>
        <p:spPr>
          <a:xfrm>
            <a:off x="1" y="0"/>
            <a:ext cx="6285804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Пример 2</a:t>
            </a:r>
            <a:endParaRPr lang="ru-RU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Создадим массив с 3 строками и 4 столбцами и сразу заполним его:</a:t>
            </a:r>
            <a:endParaRPr lang="en-US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4"/>
            <a:r>
              <a:rPr lang="en-US" sz="24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ru-RU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lvl="4"/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4"/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{1, 0, 2, 3},</a:t>
            </a:r>
          </a:p>
          <a:p>
            <a:pPr lvl="4"/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{2, 6, 5, 0},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4"/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{9, 8, 4, 2}</a:t>
            </a:r>
          </a:p>
          <a:p>
            <a:pPr lvl="4"/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lvl="4"/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4"/>
            <a:r>
              <a:rPr lang="ru-RU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Внутри </a:t>
            </a:r>
            <a:r>
              <a:rPr lang="ru-RU" sz="24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массива:</a:t>
            </a:r>
          </a:p>
          <a:p>
            <a:pPr lvl="4"/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  <a:r>
              <a:rPr lang="ru-RU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0 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2 3</a:t>
            </a:r>
            <a:endParaRPr lang="ru-RU" sz="2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4"/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2</a:t>
            </a:r>
            <a:r>
              <a:rPr lang="ru-RU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6</a:t>
            </a:r>
            <a:r>
              <a:rPr lang="ru-RU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5 0</a:t>
            </a:r>
          </a:p>
          <a:p>
            <a:pPr lvl="4"/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9 8 4 2</a:t>
            </a:r>
            <a:endParaRPr lang="ru-RU" sz="2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5829300" y="1366199"/>
            <a:ext cx="6362700" cy="489364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400" dirty="0" smtClean="0">
                <a:latin typeface="Bookman Old Style" panose="02050604050505020204" pitchFamily="18" charset="0"/>
              </a:rPr>
              <a:t>Чтобы узнать общую длину массива (общее количество элементов):</a:t>
            </a:r>
          </a:p>
          <a:p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r>
              <a:rPr lang="en-US" sz="24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array.Length</a:t>
            </a:r>
            <a:r>
              <a:rPr lang="en-US" sz="24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Чтобы узнать длину массива по заданной размерности:</a:t>
            </a:r>
          </a:p>
          <a:p>
            <a:endParaRPr lang="en-US" sz="2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Количество строк: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array.GetLength</a:t>
            </a:r>
            <a:r>
              <a:rPr lang="en-US" sz="24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(0);</a:t>
            </a:r>
            <a:endParaRPr lang="ru-RU" sz="2400" b="1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sz="2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Количество </a:t>
            </a:r>
            <a:r>
              <a:rPr lang="ru-RU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столбцов: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array.GetLength</a:t>
            </a:r>
            <a:r>
              <a:rPr lang="en-US" sz="24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ru-RU" sz="24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  <a:r>
              <a:rPr lang="en-US" sz="24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ru-RU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804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5" name="Прямоугольник 4"/>
          <p:cNvSpPr/>
          <p:nvPr/>
        </p:nvSpPr>
        <p:spPr>
          <a:xfrm>
            <a:off x="169021" y="687143"/>
            <a:ext cx="1166622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0"/>
            <a:ext cx="11835243" cy="526297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endParaRPr lang="en-US" sz="2400" dirty="0" smtClean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2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400" dirty="0">
                <a:latin typeface="Consolas" panose="020B0609020204030204" pitchFamily="49" charset="0"/>
              </a:rPr>
              <a:t>[,] array 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double </a:t>
            </a:r>
            <a:r>
              <a:rPr lang="en-US" sz="2400" dirty="0">
                <a:latin typeface="Consolas" panose="020B0609020204030204" pitchFamily="49" charset="0"/>
              </a:rPr>
              <a:t>[10, 5];</a:t>
            </a:r>
          </a:p>
          <a:p>
            <a:endParaRPr lang="ru-RU" sz="2400" dirty="0">
              <a:latin typeface="Consolas" panose="020B0609020204030204" pitchFamily="49" charset="0"/>
            </a:endParaRPr>
          </a:p>
          <a:p>
            <a:r>
              <a:rPr lang="en-US" sz="2400" dirty="0" err="1">
                <a:solidFill>
                  <a:srgbClr val="00B0F0"/>
                </a:solidFill>
                <a:latin typeface="Consolas" panose="020B0609020204030204" pitchFamily="49" charset="0"/>
              </a:rPr>
              <a:t>Console</a:t>
            </a:r>
            <a:r>
              <a:rPr lang="en-US" sz="2400" dirty="0" err="1">
                <a:latin typeface="Consolas" panose="020B0609020204030204" pitchFamily="49" charset="0"/>
              </a:rPr>
              <a:t>.WriteLine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</a:rPr>
              <a:t>array.Rank</a:t>
            </a:r>
            <a:r>
              <a:rPr lang="en-US" sz="24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2400" dirty="0" err="1">
                <a:solidFill>
                  <a:srgbClr val="00B0F0"/>
                </a:solidFill>
                <a:latin typeface="Consolas" panose="020B0609020204030204" pitchFamily="49" charset="0"/>
              </a:rPr>
              <a:t>Console</a:t>
            </a:r>
            <a:r>
              <a:rPr lang="en-US" sz="2400" dirty="0" err="1">
                <a:latin typeface="Consolas" panose="020B0609020204030204" pitchFamily="49" charset="0"/>
              </a:rPr>
              <a:t>.WriteLine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</a:rPr>
              <a:t>array.Length</a:t>
            </a:r>
            <a:r>
              <a:rPr lang="en-US" sz="24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2400" dirty="0" err="1">
                <a:solidFill>
                  <a:srgbClr val="00B0F0"/>
                </a:solidFill>
                <a:latin typeface="Consolas" panose="020B0609020204030204" pitchFamily="49" charset="0"/>
              </a:rPr>
              <a:t>Console</a:t>
            </a:r>
            <a:r>
              <a:rPr lang="en-US" sz="2400" dirty="0" err="1">
                <a:latin typeface="Consolas" panose="020B0609020204030204" pitchFamily="49" charset="0"/>
              </a:rPr>
              <a:t>.WriteLine</a:t>
            </a:r>
            <a:r>
              <a:rPr lang="en-US" sz="2400" dirty="0">
                <a:latin typeface="Consolas" panose="020B0609020204030204" pitchFamily="49" charset="0"/>
              </a:rPr>
              <a:t>($"{</a:t>
            </a:r>
            <a:r>
              <a:rPr lang="en-US" sz="2400" dirty="0" err="1">
                <a:latin typeface="Consolas" panose="020B0609020204030204" pitchFamily="49" charset="0"/>
              </a:rPr>
              <a:t>array.GetLength</a:t>
            </a:r>
            <a:r>
              <a:rPr lang="en-US" sz="2400" dirty="0">
                <a:latin typeface="Consolas" panose="020B0609020204030204" pitchFamily="49" charset="0"/>
              </a:rPr>
              <a:t>(0)} {</a:t>
            </a:r>
            <a:r>
              <a:rPr lang="en-US" sz="2400" dirty="0" err="1">
                <a:latin typeface="Consolas" panose="020B0609020204030204" pitchFamily="49" charset="0"/>
              </a:rPr>
              <a:t>array.GetLength</a:t>
            </a:r>
            <a:r>
              <a:rPr lang="en-US" sz="2400" dirty="0">
                <a:latin typeface="Consolas" panose="020B0609020204030204" pitchFamily="49" charset="0"/>
              </a:rPr>
              <a:t>(1)}");</a:t>
            </a:r>
          </a:p>
          <a:p>
            <a:endParaRPr lang="ru-RU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400" dirty="0">
                <a:latin typeface="Consolas" panose="020B0609020204030204" pitchFamily="49" charset="0"/>
              </a:rPr>
              <a:t> (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</a:rPr>
              <a:t> = 0; </a:t>
            </a:r>
            <a:r>
              <a:rPr lang="en-US" sz="2400" dirty="0" err="1">
                <a:latin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</a:rPr>
              <a:t> &lt; </a:t>
            </a:r>
            <a:r>
              <a:rPr lang="en-US" sz="2400" dirty="0" err="1">
                <a:latin typeface="Consolas" panose="020B0609020204030204" pitchFamily="49" charset="0"/>
              </a:rPr>
              <a:t>array.GetLength</a:t>
            </a:r>
            <a:r>
              <a:rPr lang="en-US" sz="2400" dirty="0">
                <a:latin typeface="Consolas" panose="020B0609020204030204" pitchFamily="49" charset="0"/>
              </a:rPr>
              <a:t>(0); </a:t>
            </a:r>
            <a:r>
              <a:rPr lang="en-US" sz="2400" dirty="0" err="1">
                <a:latin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</a:rPr>
              <a:t>++)</a:t>
            </a:r>
          </a:p>
          <a:p>
            <a:r>
              <a:rPr lang="ru-RU" sz="2400" dirty="0">
                <a:latin typeface="Consolas" panose="020B0609020204030204" pitchFamily="49" charset="0"/>
              </a:rPr>
              <a:t>{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400" dirty="0">
                <a:latin typeface="Consolas" panose="020B0609020204030204" pitchFamily="49" charset="0"/>
              </a:rPr>
              <a:t> (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latin typeface="Consolas" panose="020B0609020204030204" pitchFamily="49" charset="0"/>
              </a:rPr>
              <a:t> j = 0; j &lt; </a:t>
            </a:r>
            <a:r>
              <a:rPr lang="en-US" sz="2400" dirty="0" err="1">
                <a:latin typeface="Consolas" panose="020B0609020204030204" pitchFamily="49" charset="0"/>
              </a:rPr>
              <a:t>array.GetLength</a:t>
            </a:r>
            <a:r>
              <a:rPr lang="en-US" sz="2400" dirty="0">
                <a:latin typeface="Consolas" panose="020B0609020204030204" pitchFamily="49" charset="0"/>
              </a:rPr>
              <a:t>(1); j++)</a:t>
            </a:r>
          </a:p>
          <a:p>
            <a:r>
              <a:rPr lang="ru-RU" sz="2400" dirty="0">
                <a:latin typeface="Consolas" panose="020B0609020204030204" pitchFamily="49" charset="0"/>
              </a:rPr>
              <a:t>   </a:t>
            </a:r>
            <a:r>
              <a:rPr lang="ru-RU" sz="2400" dirty="0" smtClean="0">
                <a:latin typeface="Consolas" panose="020B0609020204030204" pitchFamily="49" charset="0"/>
              </a:rPr>
              <a:t>{</a:t>
            </a:r>
            <a:endParaRPr lang="ru-RU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		array[</a:t>
            </a:r>
            <a:r>
              <a:rPr lang="en-US" sz="2400" dirty="0" err="1">
                <a:latin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</a:rPr>
              <a:t>, j] = </a:t>
            </a:r>
            <a:r>
              <a:rPr lang="en-US" sz="2400" dirty="0" err="1">
                <a:latin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</a:rPr>
              <a:t> * </a:t>
            </a:r>
            <a:r>
              <a:rPr lang="en-US" sz="2400" dirty="0" err="1">
                <a:latin typeface="Consolas" panose="020B0609020204030204" pitchFamily="49" charset="0"/>
              </a:rPr>
              <a:t>array.GetLength</a:t>
            </a:r>
            <a:r>
              <a:rPr lang="en-US" sz="2400" dirty="0">
                <a:latin typeface="Consolas" panose="020B0609020204030204" pitchFamily="49" charset="0"/>
              </a:rPr>
              <a:t>(1) + j;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	</a:t>
            </a:r>
            <a:r>
              <a:rPr lang="ru-RU" sz="2400" dirty="0">
                <a:latin typeface="Consolas" panose="020B0609020204030204" pitchFamily="49" charset="0"/>
              </a:rPr>
              <a:t>}</a:t>
            </a:r>
          </a:p>
          <a:p>
            <a:r>
              <a:rPr lang="ru-RU" sz="2400" dirty="0">
                <a:latin typeface="Consolas" panose="020B0609020204030204" pitchFamily="49" charset="0"/>
              </a:rPr>
              <a:t>}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r="-3796" b="-3393"/>
          <a:stretch/>
        </p:blipFill>
        <p:spPr>
          <a:xfrm>
            <a:off x="8806893" y="2652830"/>
            <a:ext cx="2610407" cy="254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896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5" name="Прямоугольник 4"/>
          <p:cNvSpPr/>
          <p:nvPr/>
        </p:nvSpPr>
        <p:spPr>
          <a:xfrm>
            <a:off x="169021" y="687143"/>
            <a:ext cx="1166622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Массивы </a:t>
            </a:r>
            <a:r>
              <a:rPr lang="ru-RU" sz="2400" b="1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массивов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.</a:t>
            </a:r>
            <a:endParaRPr lang="en-US" sz="2400" dirty="0" smtClean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2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[][] array 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[10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][];</a:t>
            </a:r>
          </a:p>
          <a:p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array.Rank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array.Length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n-NO" sz="2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2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2400" dirty="0">
                <a:solidFill>
                  <a:srgbClr val="000000"/>
                </a:solidFill>
                <a:latin typeface="Consolas" panose="020B0609020204030204" pitchFamily="49" charset="0"/>
              </a:rPr>
              <a:t> i = 0; i &lt; array.Length; i++)</a:t>
            </a:r>
          </a:p>
          <a:p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array[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+ 1];</a:t>
            </a:r>
          </a:p>
          <a:p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	for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j = 0; j &lt; array[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].Length; j++)</a:t>
            </a:r>
          </a:p>
          <a:p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  {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	array[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][j] = j * array[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].Length/2 +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$"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{array[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][j]}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 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sz="2400" dirty="0">
              <a:latin typeface="Consolas" panose="020B0609020204030204" pitchFamily="49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3"/>
          <a:srcRect r="38641" b="31951"/>
          <a:stretch/>
        </p:blipFill>
        <p:spPr>
          <a:xfrm>
            <a:off x="7881744" y="241301"/>
            <a:ext cx="4122521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989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12182</TotalTime>
  <Words>2051</Words>
  <Application>Microsoft Office PowerPoint</Application>
  <PresentationFormat>Широкоэкранный</PresentationFormat>
  <Paragraphs>647</Paragraphs>
  <Slides>42</Slides>
  <Notes>42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42</vt:i4>
      </vt:variant>
    </vt:vector>
  </HeadingPairs>
  <TitlesOfParts>
    <vt:vector size="50" baseType="lpstr">
      <vt:lpstr>Arial</vt:lpstr>
      <vt:lpstr>Bookman Old Style</vt:lpstr>
      <vt:lpstr>Calibri</vt:lpstr>
      <vt:lpstr>Calibri Light</vt:lpstr>
      <vt:lpstr>Cascadia Mono</vt:lpstr>
      <vt:lpstr>Consolas</vt:lpstr>
      <vt:lpstr>Times New Roman</vt:lpstr>
      <vt:lpstr>Тема Office</vt:lpstr>
      <vt:lpstr>Лекция 3. Основы языка C#  Содержание лекции: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ПРОГРАММЫ ДЛЯ РАСЧЁТА ПРОДОЛЬНО-ПОПЕРЕЧНЫХ КОЛЕБАНИЙ СТВОЛА АРТИЛЛЕРИЙСКОГО ОРУДИЯ</dc:title>
  <dc:creator>vsufiy</dc:creator>
  <cp:lastModifiedBy>Daniil Kljukin</cp:lastModifiedBy>
  <cp:revision>639</cp:revision>
  <dcterms:modified xsi:type="dcterms:W3CDTF">2026-02-08T13:31:15Z</dcterms:modified>
</cp:coreProperties>
</file>