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9"/>
  </p:notesMasterIdLst>
  <p:sldIdLst>
    <p:sldId id="273" r:id="rId2"/>
    <p:sldId id="1031" r:id="rId3"/>
    <p:sldId id="1044" r:id="rId4"/>
    <p:sldId id="1045" r:id="rId5"/>
    <p:sldId id="1070" r:id="rId6"/>
    <p:sldId id="1046" r:id="rId7"/>
    <p:sldId id="969" r:id="rId8"/>
    <p:sldId id="972" r:id="rId9"/>
    <p:sldId id="970" r:id="rId10"/>
    <p:sldId id="1047" r:id="rId11"/>
    <p:sldId id="971" r:id="rId12"/>
    <p:sldId id="1053" r:id="rId13"/>
    <p:sldId id="1054" r:id="rId14"/>
    <p:sldId id="1069" r:id="rId15"/>
    <p:sldId id="1060" r:id="rId16"/>
    <p:sldId id="1061" r:id="rId17"/>
    <p:sldId id="1062" r:id="rId18"/>
    <p:sldId id="991" r:id="rId19"/>
    <p:sldId id="1056" r:id="rId20"/>
    <p:sldId id="1064" r:id="rId21"/>
    <p:sldId id="1032" r:id="rId22"/>
    <p:sldId id="1057" r:id="rId23"/>
    <p:sldId id="1033" r:id="rId24"/>
    <p:sldId id="1034" r:id="rId25"/>
    <p:sldId id="988" r:id="rId26"/>
    <p:sldId id="998" r:id="rId27"/>
    <p:sldId id="1058" r:id="rId28"/>
    <p:sldId id="1059" r:id="rId29"/>
    <p:sldId id="1071" r:id="rId30"/>
    <p:sldId id="987" r:id="rId31"/>
    <p:sldId id="1065" r:id="rId32"/>
    <p:sldId id="974" r:id="rId33"/>
    <p:sldId id="1035" r:id="rId34"/>
    <p:sldId id="973" r:id="rId35"/>
    <p:sldId id="1036" r:id="rId36"/>
    <p:sldId id="1051" r:id="rId37"/>
    <p:sldId id="9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FC9"/>
    <a:srgbClr val="29292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8" autoAdjust="0"/>
    <p:restoredTop sz="82523" autoAdjust="0"/>
  </p:normalViewPr>
  <p:slideViewPr>
    <p:cSldViewPr snapToGrid="0">
      <p:cViewPr varScale="1">
        <p:scale>
          <a:sx n="80" d="100"/>
          <a:sy n="80" d="100"/>
        </p:scale>
        <p:origin x="102" y="1230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17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19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0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43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0000"/>
              </a:lnSpc>
            </a:pPr>
            <a:r>
              <a:rPr lang="ru-RU" sz="1200" b="1" i="0" dirty="0" smtClean="0">
                <a:solidFill>
                  <a:srgbClr val="111111"/>
                </a:solidFill>
                <a:effectLst/>
                <a:latin typeface="Bookman Old Style" panose="02050604050505020204" pitchFamily="18" charset="0"/>
              </a:rPr>
              <a:t>Особенности процедурных языков (</a:t>
            </a:r>
            <a:r>
              <a:rPr lang="en-US" sz="1200" b="1" i="0" dirty="0" smtClean="0">
                <a:solidFill>
                  <a:srgbClr val="111111"/>
                </a:solidFill>
                <a:effectLst/>
                <a:latin typeface="Bookman Old Style" panose="02050604050505020204" pitchFamily="18" charset="0"/>
              </a:rPr>
              <a:t>C, </a:t>
            </a:r>
            <a:r>
              <a:rPr lang="ru-RU" sz="1200" b="1" i="0" dirty="0" smtClean="0">
                <a:solidFill>
                  <a:srgbClr val="111111"/>
                </a:solidFill>
                <a:effectLst/>
                <a:latin typeface="Bookman Old Style" panose="02050604050505020204" pitchFamily="18" charset="0"/>
              </a:rPr>
              <a:t>Паскаль, Бейсик, Фортран …):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последовательность, ветвление, цикл,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код выполняется последовательно, строка за строкой, сверху вниз,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данные и операции с ними тесно связаны,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=</a:t>
            </a:r>
            <a:r>
              <a:rPr lang="en-US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&gt; </a:t>
            </a:r>
            <a:r>
              <a:rPr lang="ru-RU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низкая модульность</a:t>
            </a:r>
            <a:r>
              <a:rPr lang="en-US" sz="1200" dirty="0" smtClean="0">
                <a:solidFill>
                  <a:srgbClr val="111111"/>
                </a:solidFill>
                <a:latin typeface="Bookman Old Style" panose="02050604050505020204" pitchFamily="18" charset="0"/>
              </a:rPr>
              <a:t>,</a:t>
            </a:r>
            <a:endParaRPr lang="ru-RU" sz="1200" dirty="0" smtClean="0">
              <a:solidFill>
                <a:srgbClr val="111111"/>
              </a:solidFill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endParaRPr lang="en-US" sz="1200" dirty="0" smtClean="0">
              <a:solidFill>
                <a:srgbClr val="111111"/>
              </a:solidFill>
              <a:latin typeface="Bookman Old Style" panose="020506040505050202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47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40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675005" indent="358140" algn="just">
              <a:lnSpc>
                <a:spcPct val="110000"/>
              </a:lnSpc>
            </a:pP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Еще одним новшеством платформы .NET была технология активных серверных страниц </a:t>
            </a:r>
            <a:r>
              <a:rPr lang="ru-RU" b="1" spc="-5" dirty="0" smtClean="0">
                <a:latin typeface="Bookman Old Style" panose="02050604050505020204" pitchFamily="18" charset="0"/>
                <a:cs typeface="Times New Roman"/>
              </a:rPr>
              <a:t>ASP.NET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 (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Active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Server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Page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). С её помощью можно было относительно </a:t>
            </a:r>
            <a:r>
              <a:rPr lang="ru-RU" b="1" spc="-5" dirty="0" smtClean="0">
                <a:latin typeface="Bookman Old Style" panose="02050604050505020204" pitchFamily="18" charset="0"/>
                <a:cs typeface="Times New Roman"/>
              </a:rPr>
              <a:t>быстро разработать веб-приложения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, взаимодействующие с базами данных.</a:t>
            </a:r>
          </a:p>
          <a:p>
            <a:pPr marL="12700" marR="675005" indent="358140" algn="just">
              <a:lnSpc>
                <a:spcPct val="110000"/>
              </a:lnSpc>
            </a:pP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Также сейчас С# применяется для создания игр под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Windows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,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macOS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,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Android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 и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iOS</a:t>
            </a:r>
            <a:r>
              <a:rPr lang="ru-RU" spc="-5" dirty="0" smtClean="0">
                <a:latin typeface="Bookman Old Style" panose="02050604050505020204" pitchFamily="18" charset="0"/>
                <a:cs typeface="Times New Roman"/>
              </a:rPr>
              <a:t>. Объясняется это тем, что этот язык лучше всего подходит для работы с</a:t>
            </a:r>
            <a:r>
              <a:rPr lang="en-US" spc="-5" dirty="0" smtClean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pc="-5" dirty="0" err="1" smtClean="0">
                <a:latin typeface="Bookman Old Style" panose="02050604050505020204" pitchFamily="18" charset="0"/>
                <a:cs typeface="Times New Roman"/>
              </a:rPr>
              <a:t>Unity</a:t>
            </a:r>
            <a:r>
              <a:rPr lang="en-US" spc="-5" dirty="0" smtClean="0">
                <a:latin typeface="Bookman Old Style" panose="02050604050505020204" pitchFamily="18" charset="0"/>
                <a:cs typeface="Times New Roman"/>
              </a:rPr>
              <a:t>.</a:t>
            </a:r>
            <a:endParaRPr lang="ru-RU" dirty="0" smtClean="0">
              <a:latin typeface="Bookman Old Style" panose="02050604050505020204" pitchFamily="18" charset="0"/>
              <a:cs typeface="Times New Roman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66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25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25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88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70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65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74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13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08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62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39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75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37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61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16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80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05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59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50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972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647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787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50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34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99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100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450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8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1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6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0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1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9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62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2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76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1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3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ilKlyuk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abr.com/ru/articles/172627/" TargetMode="External"/><Relationship Id="rId5" Type="http://schemas.openxmlformats.org/officeDocument/2006/relationships/hyperlink" Target="https://habr.com/ru/articles/161205/" TargetMode="External"/><Relationship Id="rId4" Type="http://schemas.openxmlformats.org/officeDocument/2006/relationships/hyperlink" Target="https://ulearn.me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ru/vs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757" y="1569658"/>
            <a:ext cx="8978016" cy="914400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1. Основы языка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C#</a:t>
            </a:r>
            <a:b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70757" y="2484058"/>
            <a:ext cx="106496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Компоненты программирования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создания языка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C#</a:t>
            </a:r>
            <a:endParaRPr lang="en-US" sz="2800" b="1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Общие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понятия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Процесс преобразования C# кода в машинный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Среда разработки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800" b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первой </a:t>
            </a: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программы</a:t>
            </a:r>
            <a:endParaRPr lang="ru-RU" sz="2800" b="1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типов</a:t>
            </a:r>
            <a:endParaRPr lang="en-US" sz="2800" b="1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45446"/>
            <a:ext cx="12192000" cy="649408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Преподаватель курса: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b="1" dirty="0" err="1" smtClean="0">
                <a:latin typeface="Bookman Old Style" pitchFamily="18" charset="0"/>
              </a:rPr>
              <a:t>Клюкин</a:t>
            </a:r>
            <a:r>
              <a:rPr lang="ru-RU" altLang="ru-RU" sz="3200" b="1" dirty="0" smtClean="0">
                <a:latin typeface="Bookman Old Style" pitchFamily="18" charset="0"/>
              </a:rPr>
              <a:t> Даниил Анатольевич,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инженер-программист 1-й категории</a:t>
            </a:r>
            <a:endParaRPr lang="en-US" altLang="ru-RU" sz="3200" dirty="0" smtClean="0">
              <a:latin typeface="Bookman Old Style" pitchFamily="18" charset="0"/>
            </a:endParaRPr>
          </a:p>
          <a:p>
            <a:pPr indent="254000" algn="ctr">
              <a:spcBef>
                <a:spcPct val="20000"/>
              </a:spcBef>
            </a:pPr>
            <a:r>
              <a:rPr lang="en-US" altLang="ru-RU" sz="3200" dirty="0">
                <a:latin typeface="Bookman Old Style" pitchFamily="18" charset="0"/>
                <a:hlinkClick r:id="rId3"/>
              </a:rPr>
              <a:t>https://</a:t>
            </a:r>
            <a:r>
              <a:rPr lang="en-US" altLang="ru-RU" sz="3200" dirty="0" smtClean="0">
                <a:latin typeface="Bookman Old Style" pitchFamily="18" charset="0"/>
                <a:hlinkClick r:id="rId3"/>
              </a:rPr>
              <a:t>github.com/DaniilKlyukin</a:t>
            </a:r>
            <a:r>
              <a:rPr lang="en-US" altLang="ru-RU" sz="3200" dirty="0" smtClean="0">
                <a:latin typeface="Bookman Old Style" pitchFamily="18" charset="0"/>
              </a:rPr>
              <a:t> </a:t>
            </a:r>
            <a:endParaRPr lang="ru-RU" altLang="ru-RU" sz="3200" dirty="0" smtClean="0">
              <a:latin typeface="Bookman Old Style" pitchFamily="18" charset="0"/>
            </a:endParaRPr>
          </a:p>
          <a:p>
            <a:pPr indent="254000" algn="ctr">
              <a:spcBef>
                <a:spcPct val="20000"/>
              </a:spcBef>
            </a:pPr>
            <a:endParaRPr lang="ru-RU" altLang="ru-RU" sz="3200" dirty="0">
              <a:latin typeface="Bookman Old Style" pitchFamily="18" charset="0"/>
            </a:endParaRP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Длительность курса: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3 семестра.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Форма контроля: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1-й семестр – экзамен,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2-й семестр – зачет с оценкой,</a:t>
            </a:r>
          </a:p>
          <a:p>
            <a:pPr indent="254000" algn="ctr"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3-й семестр – </a:t>
            </a:r>
            <a:r>
              <a:rPr lang="ru-RU" altLang="ru-RU" sz="3200" dirty="0">
                <a:latin typeface="Bookman Old Style" pitchFamily="18" charset="0"/>
              </a:rPr>
              <a:t>зачет с </a:t>
            </a:r>
            <a:r>
              <a:rPr lang="ru-RU" altLang="ru-RU" sz="3200" dirty="0" smtClean="0">
                <a:latin typeface="Bookman Old Style" pitchFamily="18" charset="0"/>
              </a:rPr>
              <a:t>оценкой. </a:t>
            </a:r>
            <a:endParaRPr lang="ru-RU" altLang="ru-RU" sz="32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25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280455"/>
            <a:ext cx="12192000" cy="624786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altLang="ru-RU" sz="3200" b="1" dirty="0" smtClean="0">
                <a:latin typeface="Bookman Old Style" pitchFamily="18" charset="0"/>
              </a:rPr>
              <a:t>Для допуска к экзамену/зачету необходимо:</a:t>
            </a:r>
          </a:p>
          <a:p>
            <a:pPr marL="1073150">
              <a:spcBef>
                <a:spcPct val="20000"/>
              </a:spcBef>
              <a:buFont typeface="+mj-lt"/>
              <a:buAutoNum type="arabicPeriod"/>
            </a:pPr>
            <a:r>
              <a:rPr lang="ru-RU" altLang="ru-RU" sz="3200" dirty="0" smtClean="0">
                <a:latin typeface="Bookman Old Style" pitchFamily="18" charset="0"/>
              </a:rPr>
              <a:t> Не иметь прогулов.</a:t>
            </a:r>
          </a:p>
          <a:p>
            <a:pPr marL="1073150">
              <a:spcBef>
                <a:spcPct val="20000"/>
              </a:spcBef>
              <a:buFont typeface="+mj-lt"/>
              <a:buAutoNum type="arabicPeriod"/>
            </a:pPr>
            <a:r>
              <a:rPr lang="ru-RU" altLang="ru-RU" sz="3200" dirty="0" smtClean="0">
                <a:latin typeface="Bookman Old Style" pitchFamily="18" charset="0"/>
              </a:rPr>
              <a:t> Сдать лабораторные работы.</a:t>
            </a:r>
          </a:p>
          <a:p>
            <a:pPr marL="1073150">
              <a:spcBef>
                <a:spcPct val="20000"/>
              </a:spcBef>
            </a:pPr>
            <a:endParaRPr lang="ru-RU" altLang="ru-RU" sz="3200" dirty="0">
              <a:latin typeface="Bookman Old Style" pitchFamily="18" charset="0"/>
            </a:endParaRPr>
          </a:p>
          <a:p>
            <a:pPr marL="1073150">
              <a:lnSpc>
                <a:spcPct val="150000"/>
              </a:lnSpc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На экзамене/зачете оценка зависит от полноты ответа на билет. </a:t>
            </a:r>
          </a:p>
          <a:p>
            <a:pPr marL="1073150">
              <a:lnSpc>
                <a:spcPct val="150000"/>
              </a:lnSpc>
              <a:spcBef>
                <a:spcPct val="20000"/>
              </a:spcBef>
            </a:pPr>
            <a:r>
              <a:rPr lang="ru-RU" altLang="ru-RU" sz="3200" dirty="0" smtClean="0">
                <a:latin typeface="Bookman Old Style" pitchFamily="18" charset="0"/>
              </a:rPr>
              <a:t>Прогулы необходимо отработать: предоставить конспект лекции, решить дополнительные практические задания.</a:t>
            </a:r>
          </a:p>
        </p:txBody>
      </p:sp>
    </p:spTree>
    <p:extLst>
      <p:ext uri="{BB962C8B-B14F-4D97-AF65-F5344CB8AC3E}">
        <p14:creationId xmlns:p14="http://schemas.microsoft.com/office/powerpoint/2010/main" val="289660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0"/>
            <a:ext cx="12192000" cy="6370973"/>
          </a:xfrm>
          <a:prstGeom prst="rect">
            <a:avLst/>
          </a:prstGeom>
          <a:noFill/>
        </p:spPr>
        <p:txBody>
          <a:bodyPr wrap="square" lIns="360000" tIns="45719" rIns="360000" bIns="45719" rtlCol="0">
            <a:spAutoFit/>
          </a:bodyPr>
          <a:lstStyle/>
          <a:p>
            <a:pPr indent="254000" algn="ctr">
              <a:lnSpc>
                <a:spcPct val="150000"/>
              </a:lnSpc>
              <a:spcBef>
                <a:spcPct val="20000"/>
              </a:spcBef>
            </a:pPr>
            <a:r>
              <a:rPr lang="ru-RU" altLang="ru-RU" sz="3200" b="1" dirty="0" smtClean="0">
                <a:latin typeface="Bookman Old Style" pitchFamily="18" charset="0"/>
              </a:rPr>
              <a:t>Литература</a:t>
            </a:r>
            <a:endParaRPr lang="en-US" altLang="ru-RU" sz="3200" b="1" dirty="0">
              <a:latin typeface="Bookman Old Style" pitchFamily="18" charset="0"/>
            </a:endParaRPr>
          </a:p>
          <a:p>
            <a:pPr>
              <a:lnSpc>
                <a:spcPct val="150000"/>
              </a:lnSpc>
            </a:pPr>
            <a:r>
              <a:rPr lang="ru-RU" altLang="ru-RU" sz="2400" dirty="0" smtClean="0">
                <a:latin typeface="Bookman Old Style" pitchFamily="18" charset="0"/>
              </a:rPr>
              <a:t>Основные книги: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Пахомов Б.И. </a:t>
            </a:r>
            <a:r>
              <a:rPr lang="en-US" altLang="ru-RU" sz="2400" dirty="0" smtClean="0">
                <a:latin typeface="Bookman Old Style" pitchFamily="18" charset="0"/>
              </a:rPr>
              <a:t>C# </a:t>
            </a:r>
            <a:r>
              <a:rPr lang="ru-RU" altLang="ru-RU" sz="2400" dirty="0" smtClean="0">
                <a:latin typeface="Bookman Old Style" pitchFamily="18" charset="0"/>
              </a:rPr>
              <a:t>для начинающих.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Васильев А.Н.</a:t>
            </a:r>
            <a:r>
              <a:rPr lang="ru-RU" altLang="ru-RU" sz="2400" dirty="0" smtClean="0">
                <a:latin typeface="Bookman Old Style" pitchFamily="18" charset="0"/>
              </a:rPr>
              <a:t> Программирование на </a:t>
            </a:r>
            <a:r>
              <a:rPr lang="en-US" altLang="ru-RU" sz="2400" dirty="0" smtClean="0">
                <a:latin typeface="Bookman Old Style" pitchFamily="18" charset="0"/>
              </a:rPr>
              <a:t>C#.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ru-RU" altLang="ru-RU" sz="2400" b="1" dirty="0">
                <a:latin typeface="Bookman Old Style" pitchFamily="18" charset="0"/>
              </a:rPr>
              <a:t>Джеффри Рихтер</a:t>
            </a:r>
            <a:r>
              <a:rPr lang="en-US" altLang="ru-RU" sz="2400" b="1" dirty="0">
                <a:latin typeface="Bookman Old Style" pitchFamily="18" charset="0"/>
              </a:rPr>
              <a:t>.</a:t>
            </a:r>
            <a:r>
              <a:rPr lang="ru-RU" altLang="ru-RU" sz="2400" b="1" dirty="0">
                <a:latin typeface="Bookman Old Style" pitchFamily="18" charset="0"/>
              </a:rPr>
              <a:t> </a:t>
            </a:r>
            <a:r>
              <a:rPr lang="en-US" altLang="ru-RU" sz="2400" dirty="0">
                <a:latin typeface="Bookman Old Style" pitchFamily="18" charset="0"/>
              </a:rPr>
              <a:t>CLR via C#.</a:t>
            </a:r>
            <a:endParaRPr lang="ru-RU" altLang="ru-RU" sz="2400">
              <a:latin typeface="Bookman Old Style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smtClean="0">
                <a:latin typeface="Bookman Old Style" pitchFamily="18" charset="0"/>
              </a:rPr>
              <a:t>Джозеф </a:t>
            </a:r>
            <a:r>
              <a:rPr lang="ru-RU" altLang="ru-RU" sz="2400" b="1" dirty="0" err="1" smtClean="0">
                <a:latin typeface="Bookman Old Style" pitchFamily="18" charset="0"/>
              </a:rPr>
              <a:t>Албахари</a:t>
            </a:r>
            <a:r>
              <a:rPr lang="ru-RU" altLang="ru-RU" sz="2400" b="1" dirty="0" smtClean="0">
                <a:latin typeface="Bookman Old Style" pitchFamily="18" charset="0"/>
              </a:rPr>
              <a:t>. </a:t>
            </a:r>
            <a:r>
              <a:rPr lang="en-US" altLang="ru-RU" sz="2400" dirty="0">
                <a:latin typeface="Bookman Old Style" pitchFamily="18" charset="0"/>
              </a:rPr>
              <a:t>C# 12 in a </a:t>
            </a:r>
            <a:r>
              <a:rPr lang="en-US" altLang="ru-RU" sz="2400" dirty="0" smtClean="0">
                <a:latin typeface="Bookman Old Style" pitchFamily="18" charset="0"/>
              </a:rPr>
              <a:t>Nutshell</a:t>
            </a:r>
            <a:r>
              <a:rPr lang="ru-RU" altLang="ru-RU" sz="2400" dirty="0" smtClean="0">
                <a:latin typeface="Bookman Old Style" pitchFamily="18" charset="0"/>
              </a:rPr>
              <a:t>.</a:t>
            </a:r>
            <a:endParaRPr lang="en-US" altLang="ru-RU" sz="2400" dirty="0" smtClean="0">
              <a:latin typeface="Bookman Old Style" pitchFamily="18" charset="0"/>
            </a:endParaRPr>
          </a:p>
          <a:p>
            <a:pPr>
              <a:lnSpc>
                <a:spcPct val="150000"/>
              </a:lnSpc>
            </a:pPr>
            <a:r>
              <a:rPr lang="ru-RU" altLang="ru-RU" sz="2400" dirty="0" smtClean="0">
                <a:latin typeface="Bookman Old Style" pitchFamily="18" charset="0"/>
              </a:rPr>
              <a:t>Дополнительные книги: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Стив </a:t>
            </a:r>
            <a:r>
              <a:rPr lang="ru-RU" altLang="ru-RU" sz="2400" b="1" dirty="0" err="1" smtClean="0">
                <a:latin typeface="Bookman Old Style" pitchFamily="18" charset="0"/>
              </a:rPr>
              <a:t>Макконнел</a:t>
            </a:r>
            <a:r>
              <a:rPr lang="ru-RU" altLang="ru-RU" sz="2400" b="1" dirty="0" smtClean="0">
                <a:latin typeface="Bookman Old Style" pitchFamily="18" charset="0"/>
              </a:rPr>
              <a:t>. </a:t>
            </a:r>
            <a:r>
              <a:rPr lang="ru-RU" altLang="ru-RU" sz="2400" dirty="0" smtClean="0">
                <a:latin typeface="Bookman Old Style" pitchFamily="18" charset="0"/>
              </a:rPr>
              <a:t>Совершенный код</a:t>
            </a:r>
            <a:r>
              <a:rPr lang="en-US" altLang="ru-RU" sz="2400" dirty="0" smtClean="0">
                <a:latin typeface="Bookman Old Style" pitchFamily="18" charset="0"/>
              </a:rPr>
              <a:t>.</a:t>
            </a:r>
            <a:endParaRPr lang="ru-RU" altLang="ru-RU" sz="2400" dirty="0" smtClean="0">
              <a:latin typeface="Bookman Old Style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Роберт Мартин. </a:t>
            </a:r>
            <a:r>
              <a:rPr lang="ru-RU" altLang="ru-RU" sz="2400" dirty="0" smtClean="0">
                <a:latin typeface="Bookman Old Style" pitchFamily="18" charset="0"/>
              </a:rPr>
              <a:t>Чистый код.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Дональд Кнут. </a:t>
            </a:r>
            <a:r>
              <a:rPr lang="ru-RU" altLang="ru-RU" sz="2400" dirty="0" smtClean="0">
                <a:latin typeface="Bookman Old Style" pitchFamily="18" charset="0"/>
              </a:rPr>
              <a:t>Искусство программирования.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Эндрю </a:t>
            </a:r>
            <a:r>
              <a:rPr lang="ru-RU" altLang="ru-RU" sz="2400" b="1" dirty="0" err="1" smtClean="0">
                <a:latin typeface="Bookman Old Style" pitchFamily="18" charset="0"/>
              </a:rPr>
              <a:t>Таненбаум</a:t>
            </a:r>
            <a:r>
              <a:rPr lang="ru-RU" altLang="ru-RU" sz="2400" b="1" dirty="0" smtClean="0">
                <a:latin typeface="Bookman Old Style" pitchFamily="18" charset="0"/>
              </a:rPr>
              <a:t>. </a:t>
            </a:r>
            <a:r>
              <a:rPr lang="ru-RU" altLang="ru-RU" sz="2400" dirty="0" smtClean="0">
                <a:latin typeface="Bookman Old Style" pitchFamily="18" charset="0"/>
              </a:rPr>
              <a:t>Архитектура компьютера.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198" y="512749"/>
            <a:ext cx="1800000" cy="253956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198" y="3201075"/>
            <a:ext cx="1800000" cy="271111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778" y="456226"/>
            <a:ext cx="1800000" cy="25960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778" y="3201075"/>
            <a:ext cx="1800000" cy="26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1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0"/>
            <a:ext cx="12192000" cy="4524313"/>
          </a:xfrm>
          <a:prstGeom prst="rect">
            <a:avLst/>
          </a:prstGeom>
          <a:noFill/>
        </p:spPr>
        <p:txBody>
          <a:bodyPr wrap="square" lIns="360000" tIns="45719" rIns="360000" bIns="45719" rtlCol="0">
            <a:spAutoFit/>
          </a:bodyPr>
          <a:lstStyle/>
          <a:p>
            <a:pPr indent="254000" algn="just">
              <a:lnSpc>
                <a:spcPct val="150000"/>
              </a:lnSpc>
              <a:spcBef>
                <a:spcPct val="20000"/>
              </a:spcBef>
            </a:pPr>
            <a:r>
              <a:rPr lang="ru-RU" altLang="ru-RU" sz="2400" dirty="0" smtClean="0">
                <a:latin typeface="Bookman Old Style" pitchFamily="18" charset="0"/>
              </a:rPr>
              <a:t>Курсы по программированию на </a:t>
            </a:r>
            <a:r>
              <a:rPr lang="en-US" altLang="ru-RU" sz="2400" dirty="0" smtClean="0">
                <a:latin typeface="Bookman Old Style" pitchFamily="18" charset="0"/>
              </a:rPr>
              <a:t>C#</a:t>
            </a:r>
            <a:endParaRPr lang="ru-RU" altLang="ru-RU" sz="2400" dirty="0" smtClean="0">
              <a:latin typeface="Bookman Old Style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b="1" dirty="0">
                <a:latin typeface="Bookman Old Style" pitchFamily="18" charset="0"/>
              </a:rPr>
              <a:t>Полное руководство по языку программирования С# </a:t>
            </a:r>
            <a:r>
              <a:rPr lang="ru-RU" sz="2400" b="1" dirty="0" smtClean="0">
                <a:latin typeface="Bookman Old Style" pitchFamily="18" charset="0"/>
              </a:rPr>
              <a:t>13 </a:t>
            </a:r>
            <a:r>
              <a:rPr lang="ru-RU" sz="2400" b="1" dirty="0">
                <a:latin typeface="Bookman Old Style" pitchFamily="18" charset="0"/>
              </a:rPr>
              <a:t>и платформе .NET </a:t>
            </a:r>
            <a:r>
              <a:rPr lang="ru-RU" sz="2400" b="1" dirty="0" smtClean="0">
                <a:latin typeface="Bookman Old Style" pitchFamily="18" charset="0"/>
              </a:rPr>
              <a:t>9:</a:t>
            </a:r>
            <a:r>
              <a:rPr lang="en-US" sz="2400" b="1" dirty="0" smtClean="0">
                <a:latin typeface="Bookman Old Style" pitchFamily="18" charset="0"/>
              </a:rPr>
              <a:t> </a:t>
            </a:r>
            <a:r>
              <a:rPr lang="en-US" altLang="ru-RU" sz="2400" dirty="0" smtClean="0">
                <a:latin typeface="Bookman Old Style" pitchFamily="18" charset="0"/>
                <a:hlinkClick r:id="rId3"/>
              </a:rPr>
              <a:t>https://metanit.com/sharp/tutorial/</a:t>
            </a:r>
            <a:endParaRPr lang="en-US" altLang="ru-RU" sz="2400" dirty="0">
              <a:latin typeface="Bookman Old Style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Обучающие курсы </a:t>
            </a:r>
            <a:r>
              <a:rPr lang="en-US" altLang="ru-RU" sz="2400" dirty="0">
                <a:latin typeface="Bookman Old Style" pitchFamily="18" charset="0"/>
                <a:hlinkClick r:id="rId4"/>
              </a:rPr>
              <a:t>https://ulearn.me</a:t>
            </a:r>
            <a:r>
              <a:rPr lang="en-US" altLang="ru-RU" sz="2400" dirty="0" smtClean="0">
                <a:latin typeface="Bookman Old Style" pitchFamily="18" charset="0"/>
                <a:hlinkClick r:id="rId4"/>
              </a:rPr>
              <a:t>/</a:t>
            </a:r>
            <a:r>
              <a:rPr lang="ru-RU" altLang="ru-RU" sz="2400" dirty="0" smtClean="0">
                <a:latin typeface="Bookman Old Style" pitchFamily="18" charset="0"/>
              </a:rPr>
              <a:t> </a:t>
            </a:r>
            <a:endParaRPr lang="en-US" altLang="ru-RU" sz="2400" dirty="0" smtClean="0">
              <a:latin typeface="Bookman Old Style" pitchFamily="18" charset="0"/>
            </a:endParaRPr>
          </a:p>
          <a:p>
            <a:pPr>
              <a:lnSpc>
                <a:spcPct val="150000"/>
              </a:lnSpc>
            </a:pPr>
            <a:endParaRPr lang="ru-RU" altLang="ru-RU" sz="2400" dirty="0" smtClean="0">
              <a:latin typeface="Bookman Old Style" pitchFamily="18" charset="0"/>
            </a:endParaRPr>
          </a:p>
          <a:p>
            <a:pPr>
              <a:lnSpc>
                <a:spcPct val="150000"/>
              </a:lnSpc>
            </a:pPr>
            <a:r>
              <a:rPr lang="ru-RU" altLang="ru-RU" sz="2400" dirty="0" smtClean="0">
                <a:latin typeface="Bookman Old Style" pitchFamily="18" charset="0"/>
              </a:rPr>
              <a:t>Интересные статьи: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Ликбез по типизации: </a:t>
            </a:r>
            <a:r>
              <a:rPr lang="en-US" altLang="ru-RU" sz="2400" dirty="0" smtClean="0">
                <a:latin typeface="Bookman Old Style" pitchFamily="18" charset="0"/>
                <a:hlinkClick r:id="rId5"/>
              </a:rPr>
              <a:t>https</a:t>
            </a:r>
            <a:r>
              <a:rPr lang="en-US" altLang="ru-RU" sz="2400" dirty="0">
                <a:latin typeface="Bookman Old Style" pitchFamily="18" charset="0"/>
                <a:hlinkClick r:id="rId5"/>
              </a:rPr>
              <a:t>://habr.com/ru/articles/161205</a:t>
            </a:r>
            <a:r>
              <a:rPr lang="en-US" altLang="ru-RU" sz="2400" dirty="0" smtClean="0">
                <a:latin typeface="Bookman Old Style" pitchFamily="18" charset="0"/>
                <a:hlinkClick r:id="rId5"/>
              </a:rPr>
              <a:t>/</a:t>
            </a:r>
            <a:r>
              <a:rPr lang="ru-RU" altLang="ru-RU" sz="2400" dirty="0" smtClean="0">
                <a:latin typeface="Bookman Old Style" pitchFamily="18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altLang="ru-RU" sz="2400" b="1" dirty="0" smtClean="0">
                <a:latin typeface="Bookman Old Style" pitchFamily="18" charset="0"/>
              </a:rPr>
              <a:t>Особенности строк в </a:t>
            </a:r>
            <a:r>
              <a:rPr lang="en-US" altLang="ru-RU" sz="2400" b="1" dirty="0" smtClean="0">
                <a:latin typeface="Bookman Old Style" pitchFamily="18" charset="0"/>
              </a:rPr>
              <a:t>C#: </a:t>
            </a:r>
            <a:r>
              <a:rPr lang="ru-RU" sz="2400" dirty="0" smtClean="0">
                <a:latin typeface="Bookman Old Style" pitchFamily="18" charset="0"/>
                <a:hlinkClick r:id="rId6"/>
              </a:rPr>
              <a:t>Особенности строк в .NET / </a:t>
            </a:r>
            <a:r>
              <a:rPr lang="ru-RU" sz="2400" dirty="0" err="1" smtClean="0">
                <a:latin typeface="Bookman Old Style" pitchFamily="18" charset="0"/>
                <a:hlinkClick r:id="rId6"/>
              </a:rPr>
              <a:t>Хабр</a:t>
            </a:r>
            <a:endParaRPr lang="en-US" altLang="ru-RU" sz="24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7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Компоненты программирования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54356"/>
            <a:ext cx="12192000" cy="52321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Что нужно знать, чтобы уметь программировать?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3631622" y="3109206"/>
            <a:ext cx="4928755" cy="1558636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Программирование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3785" y="2199200"/>
            <a:ext cx="3141949" cy="52321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Синтаксис ЯП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69" y="4529167"/>
            <a:ext cx="3094761" cy="95410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Прикладные библиотеки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95734" y="5344599"/>
            <a:ext cx="4200527" cy="95410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Практика программирования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69572" y="4529167"/>
            <a:ext cx="2998381" cy="1902057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Архитектура ПО</a:t>
            </a:r>
          </a:p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(принципы разработки) 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7323" y="1768313"/>
            <a:ext cx="4623307" cy="95410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ru-RU" altLang="ru-RU" sz="2800" b="1" dirty="0" smtClean="0">
                <a:latin typeface="Bookman Old Style" pitchFamily="18" charset="0"/>
              </a:rPr>
              <a:t>Алгоритмы и структуры данных</a:t>
            </a:r>
            <a:endParaRPr lang="en-US" altLang="ru-RU" sz="2000" dirty="0" smtClean="0">
              <a:latin typeface="Bookman Old Style" pitchFamily="18" charset="0"/>
            </a:endParaRPr>
          </a:p>
        </p:txBody>
      </p:sp>
      <p:cxnSp>
        <p:nvCxnSpPr>
          <p:cNvPr id="12" name="Прямая со стрелкой 11"/>
          <p:cNvCxnSpPr>
            <a:stCxn id="2" idx="1"/>
          </p:cNvCxnSpPr>
          <p:nvPr/>
        </p:nvCxnSpPr>
        <p:spPr>
          <a:xfrm flipH="1" flipV="1">
            <a:off x="3460173" y="2722418"/>
            <a:ext cx="893248" cy="6150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2" idx="3"/>
            <a:endCxn id="7" idx="3"/>
          </p:cNvCxnSpPr>
          <p:nvPr/>
        </p:nvCxnSpPr>
        <p:spPr>
          <a:xfrm flipH="1">
            <a:off x="3316430" y="4439585"/>
            <a:ext cx="1036991" cy="5666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2" idx="4"/>
            <a:endCxn id="8" idx="0"/>
          </p:cNvCxnSpPr>
          <p:nvPr/>
        </p:nvCxnSpPr>
        <p:spPr>
          <a:xfrm flipH="1">
            <a:off x="6095998" y="4667842"/>
            <a:ext cx="2" cy="6767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2" idx="5"/>
            <a:endCxn id="9" idx="1"/>
          </p:cNvCxnSpPr>
          <p:nvPr/>
        </p:nvCxnSpPr>
        <p:spPr>
          <a:xfrm>
            <a:off x="7838578" y="4439585"/>
            <a:ext cx="1230994" cy="10406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2" idx="7"/>
            <a:endCxn id="10" idx="2"/>
          </p:cNvCxnSpPr>
          <p:nvPr/>
        </p:nvCxnSpPr>
        <p:spPr>
          <a:xfrm flipV="1">
            <a:off x="7838578" y="2722418"/>
            <a:ext cx="950399" cy="6150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языка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C#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B0D2C-0018-42DF-877A-CCACB021655D}"/>
              </a:ext>
            </a:extLst>
          </p:cNvPr>
          <p:cNvSpPr txBox="1"/>
          <p:nvPr/>
        </p:nvSpPr>
        <p:spPr>
          <a:xfrm>
            <a:off x="0" y="2246389"/>
            <a:ext cx="9081386" cy="345325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indent="723900" algn="just">
              <a:lnSpc>
                <a:spcPct val="130000"/>
              </a:lnSpc>
            </a:pPr>
            <a:r>
              <a:rPr lang="ru-RU" sz="2400" b="1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C</a:t>
            </a:r>
            <a:r>
              <a:rPr lang="ru-RU" sz="2400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 был разработан в начале 1970-х годов </a:t>
            </a:r>
            <a:r>
              <a:rPr lang="ru-RU" sz="2400" b="1" spc="-5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Деннисом</a:t>
            </a:r>
            <a:r>
              <a:rPr lang="ru-RU" sz="2400" b="1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b="1" spc="-5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Ритчи</a:t>
            </a:r>
            <a:r>
              <a:rPr lang="ru-RU" sz="2400" b="1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в </a:t>
            </a:r>
            <a:r>
              <a:rPr lang="ru-RU" sz="2400" b="1" spc="-5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Bell</a:t>
            </a:r>
            <a:r>
              <a:rPr lang="ru-RU" sz="2400" b="1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b="1" spc="-5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Labs</a:t>
            </a:r>
            <a:r>
              <a:rPr lang="ru-RU" sz="2400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. Он был создан как </a:t>
            </a:r>
            <a:r>
              <a:rPr lang="ru-RU" sz="2400" spc="-5" dirty="0" smtClean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ЯП </a:t>
            </a:r>
            <a:r>
              <a:rPr lang="ru-RU" sz="2400" spc="-5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/>
              </a:rPr>
              <a:t>общего назначения, предназначенный для написания операционных систем и другого системного программного обеспечения. C отличался своим структурным подходом, портативностью и эффективностью.</a:t>
            </a:r>
            <a:endParaRPr lang="en-US" sz="2400" spc="-5" dirty="0">
              <a:solidFill>
                <a:prstClr val="black"/>
              </a:solidFill>
              <a:latin typeface="Bookman Old Style" panose="02050604050505020204" pitchFamily="18" charset="0"/>
              <a:cs typeface="Times New Roman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259CF808-FDEC-404B-9021-D9644DEED751}"/>
              </a:ext>
            </a:extLst>
          </p:cNvPr>
          <p:cNvGrpSpPr/>
          <p:nvPr/>
        </p:nvGrpSpPr>
        <p:grpSpPr>
          <a:xfrm>
            <a:off x="1980192" y="1165133"/>
            <a:ext cx="8231616" cy="912401"/>
            <a:chOff x="2617463" y="2288412"/>
            <a:chExt cx="8231616" cy="912401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81B8DD6E-DB8A-49C8-8BE9-48882B5BAC55}"/>
                </a:ext>
              </a:extLst>
            </p:cNvPr>
            <p:cNvSpPr/>
            <p:nvPr/>
          </p:nvSpPr>
          <p:spPr>
            <a:xfrm>
              <a:off x="3892006" y="2288412"/>
              <a:ext cx="1469329" cy="912401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Bookman Old Style" panose="02050604050505020204" pitchFamily="18" charset="0"/>
                </a:rPr>
                <a:t>C (</a:t>
              </a:r>
              <a:r>
                <a:rPr lang="ru-RU" sz="2400" dirty="0">
                  <a:latin typeface="Bookman Old Style" panose="02050604050505020204" pitchFamily="18" charset="0"/>
                </a:rPr>
                <a:t>Си</a:t>
              </a:r>
              <a:r>
                <a:rPr lang="en-US" sz="2400" dirty="0">
                  <a:latin typeface="Bookman Old Style" panose="02050604050505020204" pitchFamily="18" charset="0"/>
                </a:rPr>
                <a:t>)</a:t>
              </a:r>
              <a:r>
                <a:rPr lang="ru-RU" sz="2400" dirty="0">
                  <a:latin typeface="Bookman Old Style" panose="02050604050505020204" pitchFamily="18" charset="0"/>
                </a:rPr>
                <a:t>, 1973 г.</a:t>
              </a: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EEDA65F8-FEC4-4F53-8EC0-11AEAA114C9F}"/>
                </a:ext>
              </a:extLst>
            </p:cNvPr>
            <p:cNvSpPr/>
            <p:nvPr/>
          </p:nvSpPr>
          <p:spPr>
            <a:xfrm>
              <a:off x="6635878" y="2288413"/>
              <a:ext cx="1469329" cy="9124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Bookman Old Style" panose="02050604050505020204" pitchFamily="18" charset="0"/>
                </a:rPr>
                <a:t>C++</a:t>
              </a:r>
              <a:r>
                <a:rPr lang="ru-RU" sz="2400" dirty="0">
                  <a:latin typeface="Bookman Old Style" panose="02050604050505020204" pitchFamily="18" charset="0"/>
                </a:rPr>
                <a:t>,</a:t>
              </a:r>
            </a:p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1984 г.</a:t>
              </a: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1FB65849-4720-4EA1-BF88-57D898657A78}"/>
                </a:ext>
              </a:extLst>
            </p:cNvPr>
            <p:cNvSpPr/>
            <p:nvPr/>
          </p:nvSpPr>
          <p:spPr>
            <a:xfrm>
              <a:off x="9379750" y="2288412"/>
              <a:ext cx="1469329" cy="9124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Bookman Old Style" panose="02050604050505020204" pitchFamily="18" charset="0"/>
                </a:rPr>
                <a:t>C#</a:t>
              </a:r>
              <a:r>
                <a:rPr lang="ru-RU" sz="2400" dirty="0">
                  <a:latin typeface="Bookman Old Style" panose="02050604050505020204" pitchFamily="18" charset="0"/>
                </a:rPr>
                <a:t>,</a:t>
              </a:r>
            </a:p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2000 г.</a:t>
              </a:r>
            </a:p>
          </p:txBody>
        </p: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A1A07A0C-8973-40B8-8D9E-16308056F0AE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2617463" y="2729130"/>
              <a:ext cx="1274543" cy="1548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66575EE3-1F50-4066-908C-42819E162798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5361335" y="2744613"/>
              <a:ext cx="127454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>
              <a:extLst>
                <a:ext uri="{FF2B5EF4-FFF2-40B4-BE49-F238E27FC236}">
                  <a16:creationId xmlns:a16="http://schemas.microsoft.com/office/drawing/2014/main" id="{F6BE3228-D158-4958-9E0A-A32806A0FB19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 flipV="1">
              <a:off x="8105207" y="2744612"/>
              <a:ext cx="1274543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99A06E-78B4-4F36-A9B1-2F8FC9FC1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386" y="2246388"/>
            <a:ext cx="2395033" cy="30785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FDB2B9-53A5-400D-9BFD-77ABF1976DD0}"/>
              </a:ext>
            </a:extLst>
          </p:cNvPr>
          <p:cNvSpPr txBox="1"/>
          <p:nvPr/>
        </p:nvSpPr>
        <p:spPr>
          <a:xfrm>
            <a:off x="9020175" y="5324982"/>
            <a:ext cx="2781349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ru-RU" sz="2400" b="1" i="0" dirty="0">
                <a:solidFill>
                  <a:srgbClr val="0C0C0C"/>
                </a:solidFill>
                <a:effectLst/>
                <a:latin typeface="Bookman Old Style" panose="02050604050505020204" pitchFamily="18" charset="0"/>
              </a:rPr>
              <a:t>Деннис </a:t>
            </a:r>
            <a:r>
              <a:rPr lang="ru-RU" sz="2400" b="1" i="0" dirty="0" err="1">
                <a:solidFill>
                  <a:srgbClr val="0C0C0C"/>
                </a:solidFill>
                <a:effectLst/>
                <a:latin typeface="Bookman Old Style" panose="02050604050505020204" pitchFamily="18" charset="0"/>
              </a:rPr>
              <a:t>Ритчи</a:t>
            </a:r>
            <a:endParaRPr lang="en-US" sz="2400" b="0" i="0" dirty="0">
              <a:solidFill>
                <a:srgbClr val="11111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D0478D-DBA8-49E3-99F5-14EE8A29F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651" y="2610297"/>
            <a:ext cx="3732907" cy="27996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03E179-9370-4450-A401-0A04F80F3E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88" y="131929"/>
            <a:ext cx="2168631" cy="243762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7962786" y="5409754"/>
            <a:ext cx="3542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Бьярне Страуструп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</a:t>
            </a:r>
            <a:endParaRPr lang="ru-RU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2956EA0-33B4-48F1-925B-D54652BE9463}"/>
              </a:ext>
            </a:extLst>
          </p:cNvPr>
          <p:cNvSpPr/>
          <p:nvPr/>
        </p:nvSpPr>
        <p:spPr>
          <a:xfrm>
            <a:off x="1" y="372405"/>
            <a:ext cx="786765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indent="711200" algn="just">
              <a:lnSpc>
                <a:spcPct val="150000"/>
              </a:lnSpc>
            </a:pP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В начале 1980-х годов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Бьярн Страуструп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в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Bell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Labs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расширил возможности языка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C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, создав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C++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. </a:t>
            </a:r>
          </a:p>
          <a:p>
            <a:pPr indent="711200" algn="just">
              <a:lnSpc>
                <a:spcPct val="150000"/>
              </a:lnSpc>
            </a:pP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C++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быстро стал популярным благодаря своей универсальности и эффективности. Он используется для создания программного обеспечения разного рода: от игр до ОС. Этот язык также широко применяется в обработке данных и научных расчетах.</a:t>
            </a:r>
          </a:p>
        </p:txBody>
      </p:sp>
    </p:spTree>
    <p:extLst>
      <p:ext uri="{BB962C8B-B14F-4D97-AF65-F5344CB8AC3E}">
        <p14:creationId xmlns:p14="http://schemas.microsoft.com/office/powerpoint/2010/main" val="339068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2956EA0-33B4-48F1-925B-D54652BE9463}"/>
              </a:ext>
            </a:extLst>
          </p:cNvPr>
          <p:cNvSpPr/>
          <p:nvPr/>
        </p:nvSpPr>
        <p:spPr>
          <a:xfrm>
            <a:off x="2836924" y="0"/>
            <a:ext cx="9355077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indent="711200" algn="just">
              <a:lnSpc>
                <a:spcPct val="150000"/>
              </a:lnSpc>
            </a:pP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В конце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1990-х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годов компания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Microsoft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начала разрабатывать новый язык программирования, который должен был стать более современным и безопасным, чем C++. Этот язык получил название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C#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.</a:t>
            </a:r>
          </a:p>
          <a:p>
            <a:pPr indent="711200" algn="just">
              <a:lnSpc>
                <a:spcPct val="150000"/>
              </a:lnSpc>
            </a:pP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C#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был разработан командой под руководством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Андерса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Хейлсберга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. Он был вдохновлен C++ и другими языками, такими как </a:t>
            </a:r>
            <a:r>
              <a:rPr lang="ru-RU" sz="2400" spc="-5" dirty="0" err="1">
                <a:latin typeface="Bookman Old Style" panose="02050604050505020204" pitchFamily="18" charset="0"/>
                <a:cs typeface="Times New Roman"/>
              </a:rPr>
              <a:t>Java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и Modula-3</a:t>
            </a:r>
            <a:r>
              <a:rPr lang="ru-RU" sz="2400" spc="-5" dirty="0" smtClean="0">
                <a:latin typeface="Bookman Old Style" panose="02050604050505020204" pitchFamily="18" charset="0"/>
                <a:cs typeface="Times New Roman"/>
              </a:rPr>
              <a:t>.</a:t>
            </a:r>
            <a:endParaRPr lang="en-US" sz="2400" spc="-5" dirty="0" smtClean="0">
              <a:latin typeface="Bookman Old Style" panose="02050604050505020204" pitchFamily="18" charset="0"/>
              <a:cs typeface="Times New Roman"/>
            </a:endParaRPr>
          </a:p>
          <a:p>
            <a:pPr indent="711200" algn="just">
              <a:lnSpc>
                <a:spcPct val="150000"/>
              </a:lnSpc>
            </a:pP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C# был официально выпущен в 2002 году и быстро завоевал популярность среди разработчиков. Он стал одним из ведущих языков программирования для разработки приложений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Windows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,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веб-приложений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и </a:t>
            </a:r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мобильных приложений</a:t>
            </a:r>
            <a:r>
              <a:rPr lang="ru-RU" sz="2400" spc="-5" dirty="0" smtClean="0">
                <a:latin typeface="Bookman Old Style" panose="02050604050505020204" pitchFamily="18" charset="0"/>
                <a:cs typeface="Times New Roman"/>
              </a:rPr>
              <a:t>.</a:t>
            </a:r>
            <a:endParaRPr lang="ru-RU" sz="2400" spc="-5" dirty="0">
              <a:latin typeface="Bookman Old Style" panose="02050604050505020204" pitchFamily="18" charset="0"/>
              <a:cs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AE2332-BF36-41E5-8565-CFDE4EF6F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0"/>
            <a:ext cx="2513074" cy="342900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851" y="3429001"/>
            <a:ext cx="25130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spc="-5" dirty="0">
                <a:latin typeface="Bookman Old Style" panose="02050604050505020204" pitchFamily="18" charset="0"/>
                <a:cs typeface="Times New Roman"/>
              </a:rPr>
              <a:t>Андерс </a:t>
            </a:r>
            <a:r>
              <a:rPr lang="ru-RU" sz="2400" b="1" spc="-5" dirty="0" err="1">
                <a:latin typeface="Bookman Old Style" panose="02050604050505020204" pitchFamily="18" charset="0"/>
                <a:cs typeface="Times New Roman"/>
              </a:rPr>
              <a:t>Хейлсберг</a:t>
            </a:r>
            <a:endParaRPr lang="ru-RU" sz="2400" b="1" spc="-5" dirty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855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2956EA0-33B4-48F1-925B-D54652BE9463}"/>
              </a:ext>
            </a:extLst>
          </p:cNvPr>
          <p:cNvSpPr/>
          <p:nvPr/>
        </p:nvSpPr>
        <p:spPr>
          <a:xfrm>
            <a:off x="1" y="0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Ключевые особенности C#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C# унаследовал многие функции от C++, но также добавил ряд новых функций, в том числе: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Bookman Old Style" panose="02050604050505020204" pitchFamily="18" charset="0"/>
              </a:rPr>
              <a:t>Управляемая </a:t>
            </a:r>
            <a:r>
              <a:rPr lang="ru-RU" sz="2400" b="1" dirty="0">
                <a:latin typeface="Bookman Old Style" panose="02050604050505020204" pitchFamily="18" charset="0"/>
              </a:rPr>
              <a:t>среда:</a:t>
            </a:r>
            <a:r>
              <a:rPr lang="ru-RU" sz="2400" dirty="0">
                <a:latin typeface="Bookman Old Style" panose="02050604050505020204" pitchFamily="18" charset="0"/>
              </a:rPr>
              <a:t> C# выполняется в управляемой среде, которая обеспечивает автоматическое управление памятью и защиту от сбоев.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Безопасность типов:</a:t>
            </a:r>
            <a:r>
              <a:rPr lang="ru-RU" sz="2400" dirty="0">
                <a:latin typeface="Bookman Old Style" panose="02050604050505020204" pitchFamily="18" charset="0"/>
              </a:rPr>
              <a:t> C# использует строгую систему типов, которая помогает предотвратить ошибки во время выполнения.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Bookman Old Style" panose="02050604050505020204" pitchFamily="18" charset="0"/>
              </a:rPr>
              <a:t>Совместимость </a:t>
            </a:r>
            <a:r>
              <a:rPr lang="ru-RU" sz="2400" b="1" dirty="0">
                <a:latin typeface="Bookman Old Style" panose="02050604050505020204" pitchFamily="18" charset="0"/>
              </a:rPr>
              <a:t>с .NET:</a:t>
            </a:r>
            <a:r>
              <a:rPr lang="ru-RU" sz="2400" dirty="0">
                <a:latin typeface="Bookman Old Style" panose="02050604050505020204" pitchFamily="18" charset="0"/>
              </a:rPr>
              <a:t> C# является частью платформы .NET, которая предоставляет богатый набор библиотек и служб для разработки приложений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spc="-5" dirty="0" smtClean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232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Общие понятия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654356"/>
            <a:ext cx="12192000" cy="618630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Программирование </a:t>
            </a:r>
            <a:r>
              <a:rPr lang="ru-RU" sz="2400" dirty="0">
                <a:latin typeface="Bookman Old Style" panose="02050604050505020204" pitchFamily="18" charset="0"/>
              </a:rPr>
              <a:t>— это наука, изучающая теорию и методы разработки, производства и эксплуатации программного обеспечения ЭВМ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Суть программирования 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заключается</a:t>
            </a: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том, чтобы составить</a:t>
            </a:r>
            <a:r>
              <a:rPr lang="ru-RU" sz="2400" b="1" dirty="0">
                <a:latin typeface="Bookman Old Style" panose="02050604050505020204" pitchFamily="18" charset="0"/>
              </a:rPr>
              <a:t> алгоритм </a:t>
            </a:r>
            <a:r>
              <a:rPr lang="ru-RU" sz="2400" dirty="0">
                <a:latin typeface="Bookman Old Style" panose="02050604050505020204" pitchFamily="18" charset="0"/>
              </a:rPr>
              <a:t>и перевести его на </a:t>
            </a:r>
            <a:r>
              <a:rPr lang="ru-RU" sz="2400" b="1" dirty="0">
                <a:latin typeface="Bookman Old Style" panose="02050604050505020204" pitchFamily="18" charset="0"/>
              </a:rPr>
              <a:t>язык </a:t>
            </a:r>
            <a:r>
              <a:rPr lang="ru-RU" sz="2400" b="1" dirty="0" smtClean="0">
                <a:latin typeface="Bookman Old Style" panose="02050604050505020204" pitchFamily="18" charset="0"/>
              </a:rPr>
              <a:t>программирования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Алгоритм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—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 это </a:t>
            </a: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описание последовательности операций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, направленных на решение поставленной задачи.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ru-RU" sz="2400" b="1" dirty="0" smtClean="0">
                <a:latin typeface="Bookman Old Style" panose="02050604050505020204" pitchFamily="18" charset="0"/>
              </a:rPr>
              <a:t>Язык программирования </a:t>
            </a:r>
            <a:r>
              <a:rPr lang="ru-RU" sz="2400" dirty="0">
                <a:latin typeface="Bookman Old Style" panose="02050604050505020204" pitchFamily="18" charset="0"/>
              </a:rPr>
              <a:t>— 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это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набор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правил,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с</a:t>
            </a:r>
            <a:r>
              <a:rPr lang="ru-RU" sz="2400" spc="-10" dirty="0">
                <a:latin typeface="Bookman Old Style" panose="02050604050505020204" pitchFamily="18" charset="0"/>
                <a:cs typeface="Times New Roman"/>
              </a:rPr>
              <a:t> помощью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30" dirty="0">
                <a:latin typeface="Bookman Old Style" panose="02050604050505020204" pitchFamily="18" charset="0"/>
                <a:cs typeface="Times New Roman"/>
              </a:rPr>
              <a:t>которых</a:t>
            </a:r>
            <a:r>
              <a:rPr lang="ru-RU" sz="2400" spc="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программист </a:t>
            </a:r>
            <a:r>
              <a:rPr lang="ru-RU" sz="2400" spc="-5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10" dirty="0">
                <a:latin typeface="Bookman Old Style" panose="02050604050505020204" pitchFamily="18" charset="0"/>
                <a:cs typeface="Times New Roman"/>
              </a:rPr>
              <a:t>записывает</a:t>
            </a:r>
            <a:r>
              <a:rPr lang="ru-RU" sz="2400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25" dirty="0">
                <a:latin typeface="Bookman Old Style" panose="02050604050505020204" pitchFamily="18" charset="0"/>
                <a:cs typeface="Times New Roman"/>
              </a:rPr>
              <a:t>исходную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25" dirty="0">
                <a:latin typeface="Bookman Old Style" panose="02050604050505020204" pitchFamily="18" charset="0"/>
                <a:cs typeface="Times New Roman"/>
              </a:rPr>
              <a:t>программу.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Из</a:t>
            </a:r>
            <a:r>
              <a:rPr lang="ru-RU" sz="2400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10" dirty="0">
                <a:latin typeface="Bookman Old Style" panose="02050604050505020204" pitchFamily="18" charset="0"/>
                <a:cs typeface="Times New Roman"/>
              </a:rPr>
              <a:t>полученного текста</a:t>
            </a:r>
            <a:r>
              <a:rPr lang="ru-RU" sz="2400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специализированные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программы</a:t>
            </a:r>
            <a:r>
              <a:rPr lang="ru-RU" sz="2400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" dirty="0">
                <a:latin typeface="Bookman Old Style" panose="02050604050505020204" pitchFamily="18" charset="0"/>
                <a:cs typeface="Times New Roman"/>
              </a:rPr>
              <a:t>(трансляторы,</a:t>
            </a:r>
            <a:r>
              <a:rPr lang="ru-RU" sz="2400" spc="2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компоновщики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и</a:t>
            </a:r>
            <a:r>
              <a:rPr lang="ru-RU" sz="2400" spc="-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др.)</a:t>
            </a:r>
            <a:r>
              <a:rPr lang="ru-RU" sz="2400" spc="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15" dirty="0">
                <a:latin typeface="Bookman Old Style" panose="02050604050505020204" pitchFamily="18" charset="0"/>
                <a:cs typeface="Times New Roman"/>
              </a:rPr>
              <a:t>формируют</a:t>
            </a:r>
            <a:r>
              <a:rPr lang="ru-RU" sz="2400" spc="-2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50" dirty="0">
                <a:latin typeface="Bookman Old Style" panose="02050604050505020204" pitchFamily="18" charset="0"/>
                <a:cs typeface="Times New Roman"/>
              </a:rPr>
              <a:t>код,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spc="-10" dirty="0">
                <a:latin typeface="Bookman Old Style" panose="02050604050505020204" pitchFamily="18" charset="0"/>
                <a:cs typeface="Times New Roman"/>
              </a:rPr>
              <a:t>предназначенный</a:t>
            </a:r>
            <a:r>
              <a:rPr lang="ru-RU" sz="2400" spc="10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для </a:t>
            </a:r>
            <a:r>
              <a:rPr lang="ru-RU" sz="2400" spc="-585" dirty="0"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ru-RU" sz="2400" dirty="0">
                <a:latin typeface="Bookman Old Style" panose="02050604050505020204" pitchFamily="18" charset="0"/>
                <a:cs typeface="Times New Roman"/>
              </a:rPr>
              <a:t>процессора</a:t>
            </a:r>
            <a:r>
              <a:rPr lang="ru-RU" sz="2400" dirty="0" smtClean="0">
                <a:latin typeface="Bookman Old Style" panose="02050604050505020204" pitchFamily="18" charset="0"/>
                <a:cs typeface="Times New Roman"/>
              </a:rPr>
              <a:t>.</a:t>
            </a:r>
            <a:endParaRPr lang="ru-RU" sz="2400" dirty="0">
              <a:latin typeface="Bookman Old Style" panose="0205060405050502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068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Программа</a:t>
            </a:r>
            <a:r>
              <a:rPr lang="ru-RU" sz="2400" dirty="0">
                <a:latin typeface="Bookman Old Style" panose="02050604050505020204" pitchFamily="18" charset="0"/>
              </a:rPr>
              <a:t> — комбинация компьютерных </a:t>
            </a:r>
            <a:r>
              <a:rPr lang="ru-RU" sz="2400" b="1" dirty="0">
                <a:latin typeface="Bookman Old Style" panose="02050604050505020204" pitchFamily="18" charset="0"/>
              </a:rPr>
              <a:t>инструкций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b="1" dirty="0">
                <a:latin typeface="Bookman Old Style" panose="02050604050505020204" pitchFamily="18" charset="0"/>
              </a:rPr>
              <a:t>данных</a:t>
            </a:r>
            <a:r>
              <a:rPr lang="ru-RU" sz="2400" dirty="0">
                <a:latin typeface="Bookman Old Style" panose="02050604050505020204" pitchFamily="18" charset="0"/>
              </a:rPr>
              <a:t>, позволяющая аппаратному обеспечению вычислительной системы выполнять вычисления или функции управления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Компилятор </a:t>
            </a:r>
            <a:r>
              <a:rPr lang="ru-RU" sz="2400" dirty="0">
                <a:latin typeface="Bookman Old Style" panose="02050604050505020204" pitchFamily="18" charset="0"/>
              </a:rPr>
              <a:t>— это программа-транслятор, которая преобразует исходный код, написанный на языке программирования высокого уровня, в эквивалентный </a:t>
            </a:r>
            <a:r>
              <a:rPr lang="ru-RU" sz="2400" b="1" dirty="0">
                <a:latin typeface="Bookman Old Style" panose="02050604050505020204" pitchFamily="18" charset="0"/>
              </a:rPr>
              <a:t>машинный код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r>
              <a:rPr lang="ru-RU" sz="2400" b="1" dirty="0">
                <a:latin typeface="Bookman Old Style" panose="02050604050505020204" pitchFamily="18" charset="0"/>
              </a:rPr>
              <a:t>исполняемый файл</a:t>
            </a:r>
            <a:r>
              <a:rPr lang="ru-RU" sz="2400" dirty="0">
                <a:latin typeface="Bookman Old Style" panose="02050604050505020204" pitchFamily="18" charset="0"/>
              </a:rPr>
              <a:t>) или промежуточное представление (например, </a:t>
            </a:r>
            <a:r>
              <a:rPr lang="ru-RU" sz="2400" b="1" dirty="0">
                <a:latin typeface="Bookman Old Style" panose="02050604050505020204" pitchFamily="18" charset="0"/>
              </a:rPr>
              <a:t>байт-код</a:t>
            </a:r>
            <a:r>
              <a:rPr lang="ru-RU" sz="2400" dirty="0">
                <a:latin typeface="Bookman Old Style" panose="02050604050505020204" pitchFamily="18" charset="0"/>
              </a:rPr>
              <a:t>) перед выполнением программы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b="1" dirty="0" smtClean="0">
                <a:latin typeface="Bookman Old Style" panose="02050604050505020204" pitchFamily="18" charset="0"/>
              </a:rPr>
              <a:t>Пример: </a:t>
            </a:r>
            <a:r>
              <a:rPr lang="en-US" sz="2400" b="1" dirty="0">
                <a:latin typeface="Bookman Old Style" panose="02050604050505020204" pitchFamily="18" charset="0"/>
              </a:rPr>
              <a:t>GCC (C/C</a:t>
            </a:r>
            <a:r>
              <a:rPr lang="en-US" sz="2400" b="1" dirty="0" smtClean="0">
                <a:latin typeface="Bookman Old Style" panose="02050604050505020204" pitchFamily="18" charset="0"/>
              </a:rPr>
              <a:t>++).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Интерпретатор</a:t>
            </a:r>
            <a:r>
              <a:rPr lang="ru-RU" sz="2400" dirty="0">
                <a:latin typeface="Bookman Old Style" panose="02050604050505020204" pitchFamily="18" charset="0"/>
              </a:rPr>
              <a:t> — это программа, которая выполняет исходный код построчно, транслируя и исполняя каждую инструкцию непосредственно во время работы программы (</a:t>
            </a:r>
            <a:r>
              <a:rPr lang="ru-RU" sz="2400" b="1" dirty="0" err="1">
                <a:latin typeface="Bookman Old Style" panose="02050604050505020204" pitchFamily="18" charset="0"/>
              </a:rPr>
              <a:t>runtime</a:t>
            </a:r>
            <a:r>
              <a:rPr lang="ru-RU" sz="2400" dirty="0">
                <a:latin typeface="Bookman Old Style" panose="02050604050505020204" pitchFamily="18" charset="0"/>
              </a:rPr>
              <a:t>), без предварительного создания отдельного исполняемого файла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(Python</a:t>
            </a:r>
            <a:r>
              <a:rPr lang="en-US" sz="2400" b="1" dirty="0" smtClean="0">
                <a:latin typeface="Bookman Old Style" panose="02050604050505020204" pitchFamily="18" charset="0"/>
              </a:rPr>
              <a:t>).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12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Машинный код</a:t>
            </a:r>
            <a:r>
              <a:rPr lang="ru-RU" sz="2400" dirty="0">
                <a:latin typeface="Bookman Old Style" panose="02050604050505020204" pitchFamily="18" charset="0"/>
              </a:rPr>
              <a:t> — это низкоуровневая последовательность двоичных или шестнадцатеричных инструкций, которые могут быть </a:t>
            </a:r>
            <a:r>
              <a:rPr lang="ru-RU" sz="2400" b="1" dirty="0">
                <a:latin typeface="Bookman Old Style" panose="02050604050505020204" pitchFamily="18" charset="0"/>
              </a:rPr>
              <a:t>непосредственно выполнены процессором</a:t>
            </a:r>
            <a:r>
              <a:rPr lang="ru-RU" sz="2400" dirty="0">
                <a:latin typeface="Bookman Old Style" panose="02050604050505020204" pitchFamily="18" charset="0"/>
              </a:rPr>
              <a:t> компьютера без дополнительной трансляции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 машинного кода: </a:t>
            </a:r>
            <a:r>
              <a:rPr lang="ru-RU" sz="2400" dirty="0">
                <a:latin typeface="Bookman Old Style" panose="02050604050505020204" pitchFamily="18" charset="0"/>
              </a:rPr>
              <a:t>B8 2A 00 00 </a:t>
            </a:r>
            <a:r>
              <a:rPr lang="ru-RU" sz="2400" dirty="0" smtClean="0">
                <a:latin typeface="Bookman Old Style" panose="02050604050505020204" pitchFamily="18" charset="0"/>
              </a:rPr>
              <a:t>00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Байт-код</a:t>
            </a:r>
            <a:r>
              <a:rPr lang="ru-RU" sz="2400" dirty="0">
                <a:latin typeface="Bookman Old Style" panose="02050604050505020204" pitchFamily="18" charset="0"/>
              </a:rPr>
              <a:t> — это промежуточное представление кода, предназначенное для выполнения </a:t>
            </a:r>
            <a:r>
              <a:rPr lang="ru-RU" sz="2400" b="1" dirty="0">
                <a:latin typeface="Bookman Old Style" panose="02050604050505020204" pitchFamily="18" charset="0"/>
              </a:rPr>
              <a:t>виртуальной машиной (ВМ)</a:t>
            </a:r>
            <a:r>
              <a:rPr lang="ru-RU" sz="2400" dirty="0">
                <a:latin typeface="Bookman Old Style" panose="02050604050505020204" pitchFamily="18" charset="0"/>
              </a:rPr>
              <a:t> или интерпретатором, а не процессором напрямую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269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452431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 </a:t>
            </a:r>
            <a:r>
              <a:rPr lang="ru-RU" sz="2400" dirty="0">
                <a:latin typeface="Bookman Old Style" panose="02050604050505020204" pitchFamily="18" charset="0"/>
              </a:rPr>
              <a:t>степени соответствия конструкций языка машинному (процессорному) коду  языки программирования делятся на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Низкоуровневые</a:t>
            </a:r>
            <a:r>
              <a:rPr lang="ru-RU" sz="2400" dirty="0">
                <a:latin typeface="Bookman Old Style" panose="02050604050505020204" pitchFamily="18" charset="0"/>
              </a:rPr>
              <a:t> (машинно-ориентированные)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Высокоуровневые.</a:t>
            </a:r>
          </a:p>
          <a:p>
            <a:pPr marL="723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Bookman Old Style" panose="02050604050505020204" pitchFamily="18" charset="0"/>
              </a:rPr>
              <a:t>Процедурные </a:t>
            </a:r>
            <a:r>
              <a:rPr lang="ru-RU" sz="2400" dirty="0">
                <a:latin typeface="Bookman Old Style" panose="02050604050505020204" pitchFamily="18" charset="0"/>
              </a:rPr>
              <a:t>– функции обрабатывающие </a:t>
            </a:r>
            <a:r>
              <a:rPr lang="ru-RU" sz="2400" dirty="0" smtClean="0">
                <a:latin typeface="Bookman Old Style" panose="02050604050505020204" pitchFamily="18" charset="0"/>
              </a:rPr>
              <a:t>данные.</a:t>
            </a:r>
          </a:p>
          <a:p>
            <a:pPr marL="381000" algn="just"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C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Паскаль</a:t>
            </a:r>
            <a:r>
              <a:rPr lang="en-US" sz="2400" dirty="0">
                <a:latin typeface="Bookman Old Style" panose="02050604050505020204" pitchFamily="18" charset="0"/>
              </a:rPr>
              <a:t>, Basic</a:t>
            </a:r>
            <a:r>
              <a:rPr lang="ru-RU" sz="2400" dirty="0">
                <a:latin typeface="Bookman Old Style" panose="02050604050505020204" pitchFamily="18" charset="0"/>
              </a:rPr>
              <a:t>, Алгол и др.</a:t>
            </a:r>
          </a:p>
          <a:p>
            <a:pPr marL="723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Bookman Old Style" panose="02050604050505020204" pitchFamily="18" charset="0"/>
              </a:rPr>
              <a:t>Объектно-ориентированные </a:t>
            </a:r>
            <a:r>
              <a:rPr lang="ru-RU" sz="2400" dirty="0" smtClean="0">
                <a:latin typeface="Bookman Old Style" panose="02050604050505020204" pitchFamily="18" charset="0"/>
              </a:rPr>
              <a:t>– взаимодействующие объекты.</a:t>
            </a:r>
          </a:p>
          <a:p>
            <a:pPr marL="381000" algn="just"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C</a:t>
            </a:r>
            <a:r>
              <a:rPr lang="en-US" sz="2400" dirty="0">
                <a:latin typeface="Bookman Old Style" panose="02050604050505020204" pitchFamily="18" charset="0"/>
              </a:rPr>
              <a:t>#, C++, Python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>
                <a:latin typeface="Bookman Old Style" panose="02050604050505020204" pitchFamily="18" charset="0"/>
              </a:rPr>
              <a:t>Java </a:t>
            </a:r>
            <a:r>
              <a:rPr lang="ru-RU" sz="2400" dirty="0" err="1">
                <a:latin typeface="Bookman Old Style" panose="02050604050505020204" pitchFamily="18" charset="0"/>
              </a:rPr>
              <a:t>др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8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ru-RU" sz="28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Процесс преобразования </a:t>
            </a:r>
            <a:r>
              <a:rPr lang="en-US" sz="28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C# </a:t>
            </a:r>
            <a:r>
              <a:rPr lang="ru-RU" sz="2800" b="1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кода в машинный код</a:t>
            </a:r>
            <a:endParaRPr lang="ru-RU" sz="2800" b="1" dirty="0">
              <a:latin typeface="Bookman Old Style" panose="02050604050505020204" pitchFamily="18" charset="0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735270"/>
            <a:ext cx="12191999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i="0" dirty="0" smtClean="0">
                <a:effectLst/>
                <a:latin typeface="Bookman Old Style" panose="02050604050505020204" pitchFamily="18" charset="0"/>
              </a:rPr>
              <a:t>Компиляция </a:t>
            </a:r>
            <a:r>
              <a:rPr lang="ru-RU" sz="2400" dirty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трансляция (перевод) </a:t>
            </a:r>
            <a:r>
              <a:rPr lang="ru-RU" sz="2400" dirty="0">
                <a:latin typeface="Bookman Old Style" panose="02050604050505020204" pitchFamily="18" charset="0"/>
              </a:rPr>
              <a:t>программы, составленной на исходном языке высокого уровня, в эквивалентную программу на низкоуровневом языке, близком машинному коду </a:t>
            </a:r>
            <a:r>
              <a:rPr lang="ru-RU" sz="2400" dirty="0" smtClean="0">
                <a:latin typeface="Bookman Old Style" panose="02050604050505020204" pitchFamily="18" charset="0"/>
              </a:rPr>
              <a:t>(иногда </a:t>
            </a:r>
            <a:r>
              <a:rPr lang="ru-RU" sz="2400" dirty="0">
                <a:latin typeface="Bookman Old Style" panose="02050604050505020204" pitchFamily="18" charset="0"/>
              </a:rPr>
              <a:t>на язык ассемблера), выполняемая </a:t>
            </a:r>
            <a:r>
              <a:rPr lang="ru-RU" sz="2400" dirty="0" smtClean="0">
                <a:latin typeface="Bookman Old Style" panose="02050604050505020204" pitchFamily="18" charset="0"/>
              </a:rPr>
              <a:t>компилятором.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CIL (MSIL) </a:t>
            </a:r>
            <a:r>
              <a:rPr lang="en-US" sz="2400" dirty="0">
                <a:latin typeface="Bookman Old Style" panose="02050604050505020204" pitchFamily="18" charset="0"/>
              </a:rPr>
              <a:t>– Common Intermediate </a:t>
            </a:r>
            <a:r>
              <a:rPr lang="en-US" sz="2400" dirty="0" smtClean="0">
                <a:latin typeface="Bookman Old Style" panose="02050604050505020204" pitchFamily="18" charset="0"/>
              </a:rPr>
              <a:t>Language</a:t>
            </a:r>
            <a:r>
              <a:rPr lang="ru-RU" sz="2400" dirty="0" smtClean="0">
                <a:latin typeface="Bookman Old Style" panose="02050604050505020204" pitchFamily="18" charset="0"/>
              </a:rPr>
              <a:t> (</a:t>
            </a:r>
            <a:r>
              <a:rPr lang="en-US" sz="2400" dirty="0" smtClean="0">
                <a:latin typeface="Bookman Old Style" panose="02050604050505020204" pitchFamily="18" charset="0"/>
              </a:rPr>
              <a:t>Microsoft </a:t>
            </a:r>
            <a:r>
              <a:rPr lang="en-US" sz="2400" dirty="0">
                <a:latin typeface="Bookman Old Style" panose="02050604050505020204" pitchFamily="18" charset="0"/>
              </a:rPr>
              <a:t>Intermediate </a:t>
            </a:r>
            <a:r>
              <a:rPr lang="en-US" sz="2400" dirty="0" smtClean="0">
                <a:latin typeface="Bookman Old Style" panose="02050604050505020204" pitchFamily="18" charset="0"/>
              </a:rPr>
              <a:t>Language</a:t>
            </a:r>
            <a:r>
              <a:rPr lang="ru-RU" sz="2400" dirty="0" smtClean="0">
                <a:latin typeface="Bookman Old Style" panose="02050604050505020204" pitchFamily="18" charset="0"/>
              </a:rPr>
              <a:t>). Промежуточный </a:t>
            </a:r>
            <a:r>
              <a:rPr lang="ru-RU" sz="2400" dirty="0">
                <a:latin typeface="Bookman Old Style" panose="02050604050505020204" pitchFamily="18" charset="0"/>
              </a:rPr>
              <a:t>язык, разработанный компанией </a:t>
            </a:r>
            <a:r>
              <a:rPr lang="ru-RU" sz="2400" dirty="0" err="1">
                <a:latin typeface="Bookman Old Style" panose="02050604050505020204" pitchFamily="18" charset="0"/>
              </a:rPr>
              <a:t>Microsoft</a:t>
            </a:r>
            <a:r>
              <a:rPr lang="ru-RU" sz="2400" dirty="0">
                <a:latin typeface="Bookman Old Style" panose="02050604050505020204" pitchFamily="18" charset="0"/>
              </a:rPr>
              <a:t> для платформы .NET </a:t>
            </a:r>
            <a:r>
              <a:rPr lang="ru-RU" sz="2400" dirty="0" err="1">
                <a:latin typeface="Bookman Old Style" panose="02050604050505020204" pitchFamily="18" charset="0"/>
              </a:rPr>
              <a:t>Framework</a:t>
            </a:r>
            <a:r>
              <a:rPr lang="ru-RU" sz="2400" dirty="0">
                <a:latin typeface="Bookman Old Style" panose="02050604050505020204" pitchFamily="18" charset="0"/>
              </a:rPr>
              <a:t>. </a:t>
            </a:r>
            <a:r>
              <a:rPr lang="ru-RU" sz="2400" dirty="0" smtClean="0">
                <a:latin typeface="Bookman Old Style" panose="02050604050505020204" pitchFamily="18" charset="0"/>
              </a:rPr>
              <a:t>Является </a:t>
            </a:r>
            <a:r>
              <a:rPr lang="ru-RU" sz="2400" dirty="0">
                <a:latin typeface="Bookman Old Style" panose="02050604050505020204" pitchFamily="18" charset="0"/>
              </a:rPr>
              <a:t>независимым от ЦП набором инструкций, которые можно эффективно преобразовать в машинный код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9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1" y="0"/>
            <a:ext cx="4619624" cy="6740307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CLR </a:t>
            </a:r>
            <a:r>
              <a:rPr lang="en-US" sz="2400" dirty="0">
                <a:latin typeface="Bookman Old Style" panose="02050604050505020204" pitchFamily="18" charset="0"/>
              </a:rPr>
              <a:t>– </a:t>
            </a:r>
            <a:r>
              <a:rPr lang="en-US" sz="2400" dirty="0" smtClean="0">
                <a:latin typeface="Bookman Old Style" panose="02050604050505020204" pitchFamily="18" charset="0"/>
              </a:rPr>
              <a:t> Common Language Runtime </a:t>
            </a:r>
            <a:r>
              <a:rPr lang="ru-RU" sz="2400" dirty="0" smtClean="0">
                <a:latin typeface="Bookman Old Style" panose="02050604050505020204" pitchFamily="18" charset="0"/>
              </a:rPr>
              <a:t>исполняющая </a:t>
            </a:r>
            <a:r>
              <a:rPr lang="ru-RU" sz="2400" dirty="0">
                <a:latin typeface="Bookman Old Style" panose="02050604050505020204" pitchFamily="18" charset="0"/>
              </a:rPr>
              <a:t>среда для байт-кода CIL, в который компилируются программы, написанные на .NET-совместимых языках программирования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JIT</a:t>
            </a:r>
            <a:r>
              <a:rPr lang="en-US" sz="2400" dirty="0" smtClean="0">
                <a:latin typeface="Bookman Old Style" panose="02050604050505020204" pitchFamily="18" charset="0"/>
              </a:rPr>
              <a:t> – Just In Time </a:t>
            </a:r>
            <a:r>
              <a:rPr lang="ru-RU" sz="2400" dirty="0" smtClean="0">
                <a:latin typeface="Bookman Old Style" panose="02050604050505020204" pitchFamily="18" charset="0"/>
              </a:rPr>
              <a:t>компиляция. Преобразование байт кода в машинные инструкции.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1026" name="Picture 2" descr="Очистка памяти CLR и способы обнаружения таких атак | Secureli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135" y="157226"/>
            <a:ext cx="7283514" cy="642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9666515" y="3261342"/>
            <a:ext cx="1248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( JIT )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2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71CDE3-86D6-4AC2-A9C0-6F7337B2E52A}"/>
              </a:ext>
            </a:extLst>
          </p:cNvPr>
          <p:cNvGrpSpPr/>
          <p:nvPr/>
        </p:nvGrpSpPr>
        <p:grpSpPr>
          <a:xfrm>
            <a:off x="358103" y="1014169"/>
            <a:ext cx="11578273" cy="2439266"/>
            <a:chOff x="334327" y="2352812"/>
            <a:chExt cx="11578273" cy="2439266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F00CCE2-EF06-4BC9-9A80-496481B1266D}"/>
                </a:ext>
              </a:extLst>
            </p:cNvPr>
            <p:cNvSpPr/>
            <p:nvPr/>
          </p:nvSpPr>
          <p:spPr>
            <a:xfrm>
              <a:off x="334327" y="2352812"/>
              <a:ext cx="2980373" cy="812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Код на языке </a:t>
              </a:r>
              <a:r>
                <a:rPr lang="en-US" sz="2400" dirty="0">
                  <a:latin typeface="Bookman Old Style" panose="02050604050505020204" pitchFamily="18" charset="0"/>
                </a:rPr>
                <a:t>C#</a:t>
              </a:r>
              <a:endParaRPr lang="ru-RU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5B3F426-C6AB-4971-BF1E-5C15D602CEAF}"/>
                </a:ext>
              </a:extLst>
            </p:cNvPr>
            <p:cNvSpPr/>
            <p:nvPr/>
          </p:nvSpPr>
          <p:spPr>
            <a:xfrm>
              <a:off x="4144327" y="2352812"/>
              <a:ext cx="2980373" cy="8128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Компилятор </a:t>
              </a:r>
              <a:r>
                <a:rPr lang="en-US" sz="2400" dirty="0">
                  <a:latin typeface="Bookman Old Style" panose="02050604050505020204" pitchFamily="18" charset="0"/>
                </a:rPr>
                <a:t>C#</a:t>
              </a:r>
              <a:endParaRPr lang="ru-RU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88BA2BB-E730-49B7-B223-CD016A833589}"/>
                </a:ext>
              </a:extLst>
            </p:cNvPr>
            <p:cNvSpPr/>
            <p:nvPr/>
          </p:nvSpPr>
          <p:spPr>
            <a:xfrm>
              <a:off x="7954327" y="2352812"/>
              <a:ext cx="3958273" cy="8128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Код на</a:t>
              </a:r>
              <a:r>
                <a:rPr lang="en-US" sz="2400" dirty="0">
                  <a:latin typeface="Bookman Old Style" panose="02050604050505020204" pitchFamily="18" charset="0"/>
                </a:rPr>
                <a:t> </a:t>
              </a:r>
              <a:r>
                <a:rPr lang="ru-RU" sz="2400" dirty="0">
                  <a:latin typeface="Bookman Old Style" panose="02050604050505020204" pitchFamily="18" charset="0"/>
                </a:rPr>
                <a:t>промежуточном языке (</a:t>
              </a:r>
              <a:r>
                <a:rPr lang="en-US" sz="2400" dirty="0">
                  <a:latin typeface="Bookman Old Style" panose="02050604050505020204" pitchFamily="18" charset="0"/>
                </a:rPr>
                <a:t>MSIL</a:t>
              </a:r>
              <a:r>
                <a:rPr lang="ru-RU" sz="2400" dirty="0">
                  <a:latin typeface="Bookman Old Style" panose="02050604050505020204" pitchFamily="18" charset="0"/>
                </a:rPr>
                <a:t>)</a:t>
              </a: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DEA34540-3D1B-4769-87F8-D7BAF86AFCFD}"/>
                </a:ext>
              </a:extLst>
            </p:cNvPr>
            <p:cNvSpPr/>
            <p:nvPr/>
          </p:nvSpPr>
          <p:spPr>
            <a:xfrm>
              <a:off x="7954327" y="3979278"/>
              <a:ext cx="3958273" cy="8128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Bookman Old Style" panose="02050604050505020204" pitchFamily="18" charset="0"/>
                </a:rPr>
                <a:t>JIT </a:t>
              </a:r>
              <a:r>
                <a:rPr lang="ru-RU" sz="2400" dirty="0">
                  <a:latin typeface="Bookman Old Style" panose="02050604050505020204" pitchFamily="18" charset="0"/>
                </a:rPr>
                <a:t>Компилятор</a:t>
              </a: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38B8F9-9F53-4DFD-9116-851E7C4186D7}"/>
                </a:ext>
              </a:extLst>
            </p:cNvPr>
            <p:cNvSpPr/>
            <p:nvPr/>
          </p:nvSpPr>
          <p:spPr>
            <a:xfrm>
              <a:off x="4144326" y="3979278"/>
              <a:ext cx="2980373" cy="812800"/>
            </a:xfrm>
            <a:prstGeom prst="rect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latin typeface="Bookman Old Style" panose="02050604050505020204" pitchFamily="18" charset="0"/>
                </a:rPr>
                <a:t>Машинный код</a:t>
              </a:r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B2FBBC84-5192-478B-ACB3-054898E156D7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3314700" y="2759212"/>
              <a:ext cx="82962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1CB0CB04-6EF5-4E77-95AE-96DC91993A4F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7124700" y="2759212"/>
              <a:ext cx="82962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40304903-FCF3-47D8-A396-130F13CA35FD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9933464" y="3165612"/>
              <a:ext cx="0" cy="81366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D23401FB-81D7-433E-BA93-03E4BFF1C090}"/>
                </a:ext>
              </a:extLst>
            </p:cNvPr>
            <p:cNvCxnSpPr>
              <a:cxnSpLocks/>
              <a:stCxn id="15" idx="1"/>
              <a:endCxn id="16" idx="3"/>
            </p:cNvCxnSpPr>
            <p:nvPr/>
          </p:nvCxnSpPr>
          <p:spPr>
            <a:xfrm flipH="1">
              <a:off x="7124699" y="4385678"/>
              <a:ext cx="82962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4837E7-3F10-40CA-8B97-725CE6C93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81" y="3859835"/>
            <a:ext cx="5370919" cy="2255787"/>
          </a:xfrm>
          <a:prstGeom prst="rect">
            <a:avLst/>
          </a:prstGeom>
        </p:spPr>
      </p:pic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8633AB1-7B4D-49F6-8422-8FE02A73CFAF}"/>
              </a:ext>
            </a:extLst>
          </p:cNvPr>
          <p:cNvCxnSpPr>
            <a:cxnSpLocks/>
          </p:cNvCxnSpPr>
          <p:nvPr/>
        </p:nvCxnSpPr>
        <p:spPr>
          <a:xfrm>
            <a:off x="4444290" y="5030561"/>
            <a:ext cx="2629717" cy="0"/>
          </a:xfrm>
          <a:prstGeom prst="straightConnector1">
            <a:avLst/>
          </a:prstGeom>
          <a:ln w="406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15630" b="39286"/>
          <a:stretch/>
        </p:blipFill>
        <p:spPr>
          <a:xfrm>
            <a:off x="241402" y="4757605"/>
            <a:ext cx="4528190" cy="54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0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Среда разработки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654356"/>
            <a:ext cx="12191999" cy="5632311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i="0" dirty="0" err="1">
                <a:effectLst/>
                <a:latin typeface="Bookman Old Style" panose="02050604050505020204" pitchFamily="18" charset="0"/>
              </a:rPr>
              <a:t>Интегри́рованная</a:t>
            </a:r>
            <a:r>
              <a:rPr lang="ru-RU" sz="2400" b="1" i="0" dirty="0">
                <a:effectLst/>
                <a:latin typeface="Bookman Old Style" panose="02050604050505020204" pitchFamily="18" charset="0"/>
              </a:rPr>
              <a:t> среда́ </a:t>
            </a:r>
            <a:r>
              <a:rPr lang="ru-RU" sz="2400" b="1" i="0" dirty="0" err="1">
                <a:effectLst/>
                <a:latin typeface="Bookman Old Style" panose="02050604050505020204" pitchFamily="18" charset="0"/>
              </a:rPr>
              <a:t>разрабо́тки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 (</a:t>
            </a:r>
            <a:r>
              <a:rPr lang="ru-RU" sz="2400" b="0" i="1" dirty="0">
                <a:effectLst/>
                <a:latin typeface="Bookman Old Style" panose="02050604050505020204" pitchFamily="18" charset="0"/>
              </a:rPr>
              <a:t>Integrated </a:t>
            </a:r>
            <a:r>
              <a:rPr lang="ru-RU" sz="2400" b="0" i="1" dirty="0" err="1">
                <a:effectLst/>
                <a:latin typeface="Bookman Old Style" panose="02050604050505020204" pitchFamily="18" charset="0"/>
              </a:rPr>
              <a:t>development</a:t>
            </a:r>
            <a:r>
              <a:rPr lang="ru-RU" sz="2400" b="0" i="1" dirty="0">
                <a:effectLst/>
                <a:latin typeface="Bookman Old Style" panose="02050604050505020204" pitchFamily="18" charset="0"/>
              </a:rPr>
              <a:t> </a:t>
            </a:r>
            <a:r>
              <a:rPr lang="ru-RU" sz="2400" b="0" i="1" dirty="0" err="1">
                <a:effectLst/>
                <a:latin typeface="Bookman Old Style" panose="02050604050505020204" pitchFamily="18" charset="0"/>
              </a:rPr>
              <a:t>environment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 </a:t>
            </a:r>
            <a:r>
              <a:rPr lang="ru-RU" sz="2400" b="0" i="1" dirty="0">
                <a:effectLst/>
                <a:latin typeface="Bookman Old Style" panose="02050604050505020204" pitchFamily="18" charset="0"/>
              </a:rPr>
              <a:t>— </a:t>
            </a:r>
            <a:r>
              <a:rPr lang="ru-RU" sz="2400" b="1" i="1" dirty="0">
                <a:effectLst/>
                <a:latin typeface="Bookman Old Style" panose="02050604050505020204" pitchFamily="18" charset="0"/>
              </a:rPr>
              <a:t>IDE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), также </a:t>
            </a:r>
            <a:r>
              <a:rPr lang="ru-RU" sz="2400" b="1" i="0" dirty="0">
                <a:effectLst/>
                <a:latin typeface="Bookman Old Style" panose="02050604050505020204" pitchFamily="18" charset="0"/>
              </a:rPr>
              <a:t>единая среда разработки </a:t>
            </a:r>
            <a:r>
              <a:rPr lang="ru-RU" sz="2400" dirty="0">
                <a:latin typeface="Bookman Old Style" panose="02050604050505020204" pitchFamily="18" charset="0"/>
              </a:rPr>
              <a:t>–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 комплекс программных средств, используемый </a:t>
            </a:r>
            <a:r>
              <a:rPr lang="ru-RU" sz="2400" b="0" i="0" u="none" strike="noStrike" dirty="0">
                <a:effectLst/>
                <a:latin typeface="Bookman Old Style" panose="02050604050505020204" pitchFamily="18" charset="0"/>
              </a:rPr>
              <a:t>программистами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 для разработки </a:t>
            </a:r>
            <a:r>
              <a:rPr lang="ru-RU" sz="2400" b="0" i="0" u="none" strike="noStrike" dirty="0">
                <a:effectLst/>
                <a:latin typeface="Bookman Old Style" panose="02050604050505020204" pitchFamily="18" charset="0"/>
              </a:rPr>
              <a:t>программного обеспечения</a:t>
            </a:r>
            <a:r>
              <a:rPr lang="ru-RU" sz="2400" b="0" i="0" dirty="0">
                <a:effectLst/>
                <a:latin typeface="Bookman Old Style" panose="02050604050505020204" pitchFamily="18" charset="0"/>
              </a:rPr>
              <a:t> (ПО</a:t>
            </a:r>
            <a:r>
              <a:rPr lang="ru-RU" sz="2400" b="0" i="0" dirty="0" smtClean="0">
                <a:effectLst/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Microsoft </a:t>
            </a:r>
            <a:r>
              <a:rPr lang="en-US" sz="2400" b="1" dirty="0">
                <a:latin typeface="Bookman Old Style" panose="02050604050505020204" pitchFamily="18" charset="0"/>
              </a:rPr>
              <a:t>Visual Studio 2022 </a:t>
            </a:r>
            <a:r>
              <a:rPr lang="en-US" sz="2400" dirty="0">
                <a:latin typeface="Bookman Old Style" panose="02050604050505020204" pitchFamily="18" charset="0"/>
              </a:rPr>
              <a:t>– IDE </a:t>
            </a:r>
            <a:r>
              <a:rPr lang="ru-RU" sz="2400" dirty="0">
                <a:latin typeface="Bookman Old Style" panose="02050604050505020204" pitchFamily="18" charset="0"/>
              </a:rPr>
              <a:t>от компании Майкрософт.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Visual Studio </a:t>
            </a:r>
            <a:r>
              <a:rPr lang="ru-RU" sz="2400" dirty="0">
                <a:latin typeface="Bookman Old Style" panose="02050604050505020204" pitchFamily="18" charset="0"/>
              </a:rPr>
              <a:t>включает один или несколько компонентов из следующих: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Visual Basic .NET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>
                <a:latin typeface="Bookman Old Style" panose="02050604050505020204" pitchFamily="18" charset="0"/>
              </a:rPr>
              <a:t>Visual C++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>
                <a:latin typeface="Bookman Old Style" panose="02050604050505020204" pitchFamily="18" charset="0"/>
              </a:rPr>
              <a:t>Visual C#</a:t>
            </a:r>
            <a:r>
              <a:rPr lang="ru-RU" sz="2400" dirty="0">
                <a:latin typeface="Bookman Old Style" panose="02050604050505020204" pitchFamily="18" charset="0"/>
              </a:rPr>
              <a:t>,</a:t>
            </a:r>
            <a:r>
              <a:rPr lang="en-US" sz="2400" dirty="0">
                <a:latin typeface="Bookman Old Style" panose="02050604050505020204" pitchFamily="18" charset="0"/>
              </a:rPr>
              <a:t> JavaScript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>
                <a:latin typeface="Bookman Old Style" panose="02050604050505020204" pitchFamily="18" charset="0"/>
              </a:rPr>
              <a:t>Python (</a:t>
            </a:r>
            <a:r>
              <a:rPr lang="ru-RU" sz="2400" dirty="0">
                <a:latin typeface="Bookman Old Style" panose="02050604050505020204" pitchFamily="18" charset="0"/>
              </a:rPr>
              <a:t>включён начиная с </a:t>
            </a:r>
            <a:r>
              <a:rPr lang="en-US" sz="2400" dirty="0">
                <a:latin typeface="Bookman Old Style" panose="02050604050505020204" pitchFamily="18" charset="0"/>
              </a:rPr>
              <a:t>Visual Studio 2019)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err="1">
                <a:latin typeface="Bookman Old Style" panose="02050604050505020204" pitchFamily="18" charset="0"/>
              </a:rPr>
              <a:t>TypeScript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en-US" sz="2400" dirty="0">
                <a:latin typeface="Bookman Old Style" panose="02050604050505020204" pitchFamily="18" charset="0"/>
              </a:rPr>
              <a:t>XAML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JetBrains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Rider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(</a:t>
            </a:r>
            <a:r>
              <a:rPr lang="en-US" sz="2400" dirty="0" smtClean="0">
                <a:latin typeface="Bookman Old Style" panose="02050604050505020204" pitchFamily="18" charset="0"/>
              </a:rPr>
              <a:t>Win/</a:t>
            </a:r>
            <a:r>
              <a:rPr lang="en-US" sz="2400" dirty="0" err="1" smtClean="0">
                <a:latin typeface="Bookman Old Style" panose="02050604050505020204" pitchFamily="18" charset="0"/>
              </a:rPr>
              <a:t>macOS</a:t>
            </a:r>
            <a:r>
              <a:rPr lang="en-US" sz="2400" dirty="0" smtClean="0">
                <a:latin typeface="Bookman Old Style" panose="02050604050505020204" pitchFamily="18" charset="0"/>
              </a:rPr>
              <a:t>/Linux</a:t>
            </a:r>
            <a:r>
              <a:rPr lang="ru-RU" sz="2400" dirty="0" smtClean="0">
                <a:latin typeface="Bookman Old Style" panose="02050604050505020204" pitchFamily="18" charset="0"/>
              </a:rPr>
              <a:t>, платный).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MonoDevelop</a:t>
            </a:r>
            <a:r>
              <a:rPr lang="ru-RU" sz="2400" dirty="0" smtClean="0">
                <a:latin typeface="Bookman Old Style" panose="02050604050505020204" pitchFamily="18" charset="0"/>
              </a:rPr>
              <a:t> (</a:t>
            </a:r>
            <a:r>
              <a:rPr lang="en-US" sz="2400" dirty="0" smtClean="0">
                <a:latin typeface="Bookman Old Style" panose="02050604050505020204" pitchFamily="18" charset="0"/>
              </a:rPr>
              <a:t>Win/</a:t>
            </a:r>
            <a:r>
              <a:rPr lang="en-US" sz="2400" dirty="0" err="1" smtClean="0">
                <a:latin typeface="Bookman Old Style" panose="02050604050505020204" pitchFamily="18" charset="0"/>
              </a:rPr>
              <a:t>macOS</a:t>
            </a:r>
            <a:r>
              <a:rPr lang="en-US" sz="2400" dirty="0" smtClean="0">
                <a:latin typeface="Bookman Old Style" panose="02050604050505020204" pitchFamily="18" charset="0"/>
              </a:rPr>
              <a:t>/Linux</a:t>
            </a:r>
            <a:r>
              <a:rPr lang="ru-RU" sz="2400" dirty="0" smtClean="0">
                <a:latin typeface="Bookman Old Style" panose="02050604050505020204" pitchFamily="18" charset="0"/>
              </a:rPr>
              <a:t>, бесплатный).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26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Основные </a:t>
            </a:r>
            <a:r>
              <a:rPr lang="ru-RU" sz="2400" b="1" dirty="0">
                <a:latin typeface="Bookman Old Style" panose="02050604050505020204" pitchFamily="18" charset="0"/>
              </a:rPr>
              <a:t>компоненты IDE: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Текстовый редактор</a:t>
            </a:r>
            <a:r>
              <a:rPr lang="ru-RU" sz="2400" dirty="0">
                <a:latin typeface="Bookman Old Style" panose="02050604050505020204" pitchFamily="18" charset="0"/>
              </a:rPr>
              <a:t> с подсветкой синтаксиса, </a:t>
            </a:r>
            <a:r>
              <a:rPr lang="ru-RU" sz="2400" dirty="0" err="1">
                <a:latin typeface="Bookman Old Style" panose="02050604050505020204" pitchFamily="18" charset="0"/>
              </a:rPr>
              <a:t>автодополнением</a:t>
            </a:r>
            <a:r>
              <a:rPr lang="ru-RU" sz="2400" dirty="0">
                <a:latin typeface="Bookman Old Style" panose="02050604050505020204" pitchFamily="18" charset="0"/>
              </a:rPr>
              <a:t> кода (</a:t>
            </a:r>
            <a:r>
              <a:rPr lang="ru-RU" sz="2400" i="1" dirty="0" err="1">
                <a:latin typeface="Bookman Old Style" panose="02050604050505020204" pitchFamily="18" charset="0"/>
              </a:rPr>
              <a:t>IntelliSense</a:t>
            </a:r>
            <a:r>
              <a:rPr lang="ru-RU" sz="2400" dirty="0">
                <a:latin typeface="Bookman Old Style" panose="02050604050505020204" pitchFamily="18" charset="0"/>
              </a:rPr>
              <a:t>) и навигацией по проекту.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Транслятор</a:t>
            </a:r>
            <a:r>
              <a:rPr lang="ru-RU" sz="2400" dirty="0">
                <a:latin typeface="Bookman Old Style" panose="02050604050505020204" pitchFamily="18" charset="0"/>
              </a:rPr>
              <a:t> (компилятор и/или интерпретатор) для преобразования исходного кода в исполняемую программу.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Средства автоматизации сборки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i="1" dirty="0" err="1">
                <a:latin typeface="Bookman Old Style" panose="02050604050505020204" pitchFamily="18" charset="0"/>
              </a:rPr>
              <a:t>build</a:t>
            </a:r>
            <a:r>
              <a:rPr lang="ru-RU" sz="2400" i="1" dirty="0">
                <a:latin typeface="Bookman Old Style" panose="02050604050505020204" pitchFamily="18" charset="0"/>
              </a:rPr>
              <a:t> </a:t>
            </a:r>
            <a:r>
              <a:rPr lang="ru-RU" sz="2400" i="1" dirty="0" err="1">
                <a:latin typeface="Bookman Old Style" panose="02050604050505020204" pitchFamily="18" charset="0"/>
              </a:rPr>
              <a:t>tools</a:t>
            </a:r>
            <a:r>
              <a:rPr lang="ru-RU" sz="2400" dirty="0">
                <a:latin typeface="Bookman Old Style" panose="02050604050505020204" pitchFamily="18" charset="0"/>
              </a:rPr>
              <a:t>) для управления зависимостями и компиляцией проекта.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Отладчик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i="1" dirty="0" err="1">
                <a:latin typeface="Bookman Old Style" panose="02050604050505020204" pitchFamily="18" charset="0"/>
              </a:rPr>
              <a:t>debugger</a:t>
            </a:r>
            <a:r>
              <a:rPr lang="ru-RU" sz="2400" dirty="0">
                <a:latin typeface="Bookman Old Style" panose="02050604050505020204" pitchFamily="18" charset="0"/>
              </a:rPr>
              <a:t>) для пошагового выполнения кода, анализа переменных и диагностики ошибок.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3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IntelliSense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i="1" dirty="0" smtClean="0">
                <a:latin typeface="Bookman Old Style" panose="02050604050505020204" pitchFamily="18" charset="0"/>
              </a:rPr>
              <a:t>— </a:t>
            </a:r>
            <a:r>
              <a:rPr lang="ru-RU" sz="2400" dirty="0" smtClean="0">
                <a:latin typeface="Bookman Old Style" panose="02050604050505020204" pitchFamily="18" charset="0"/>
              </a:rPr>
              <a:t>технология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автодополнения</a:t>
            </a:r>
            <a:r>
              <a:rPr lang="ru-RU" sz="2400" dirty="0" smtClean="0">
                <a:latin typeface="Bookman Old Style" panose="02050604050505020204" pitchFamily="18" charset="0"/>
              </a:rPr>
              <a:t> кода от компании </a:t>
            </a:r>
            <a:r>
              <a:rPr lang="ru-RU" sz="2400" dirty="0" err="1">
                <a:latin typeface="Bookman Old Style" panose="02050604050505020204" pitchFamily="18" charset="0"/>
              </a:rPr>
              <a:t>Microsoft</a:t>
            </a:r>
            <a:r>
              <a:rPr lang="ru-RU" sz="2400" dirty="0">
                <a:latin typeface="Bookman Old Style" panose="02050604050505020204" pitchFamily="18" charset="0"/>
              </a:rPr>
              <a:t>, наиболее известная в </a:t>
            </a:r>
            <a:r>
              <a:rPr lang="ru-RU" sz="2400" dirty="0" err="1">
                <a:latin typeface="Bookman Old Style" panose="02050604050505020204" pitchFamily="18" charset="0"/>
              </a:rPr>
              <a:t>Microsoft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Visual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Studio</a:t>
            </a:r>
            <a:r>
              <a:rPr lang="ru-RU" sz="2400" dirty="0">
                <a:latin typeface="Bookman Old Style" panose="02050604050505020204" pitchFamily="18" charset="0"/>
              </a:rPr>
              <a:t>. Дописывает </a:t>
            </a:r>
            <a:r>
              <a:rPr lang="ru-RU" sz="2400" dirty="0" smtClean="0">
                <a:latin typeface="Bookman Old Style" panose="02050604050505020204" pitchFamily="18" charset="0"/>
              </a:rPr>
              <a:t>элементы кода при </a:t>
            </a:r>
            <a:r>
              <a:rPr lang="ru-RU" sz="2400" dirty="0">
                <a:latin typeface="Bookman Old Style" panose="02050604050505020204" pitchFamily="18" charset="0"/>
              </a:rPr>
              <a:t>вводе начальных </a:t>
            </a:r>
            <a:r>
              <a:rPr lang="ru-RU" sz="2400" dirty="0" smtClean="0">
                <a:latin typeface="Bookman Old Style" panose="02050604050505020204" pitchFamily="18" charset="0"/>
              </a:rPr>
              <a:t>букв </a:t>
            </a:r>
            <a:r>
              <a:rPr lang="ru-RU" sz="2400" dirty="0">
                <a:latin typeface="Bookman Old Style" panose="02050604050505020204" pitchFamily="18" charset="0"/>
              </a:rPr>
              <a:t>(появляется при вводе).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Принятие </a:t>
            </a:r>
            <a:r>
              <a:rPr lang="ru-RU" sz="2400" dirty="0" err="1" smtClean="0">
                <a:latin typeface="Bookman Old Style" panose="02050604050505020204" pitchFamily="18" charset="0"/>
              </a:rPr>
              <a:t>автодополнения</a:t>
            </a:r>
            <a:r>
              <a:rPr lang="ru-RU" sz="2400" dirty="0" smtClean="0">
                <a:latin typeface="Bookman Old Style" panose="02050604050505020204" pitchFamily="18" charset="0"/>
              </a:rPr>
              <a:t> происходит по нажатию на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Tab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или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Enter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Быстрые команды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Закомментировать код: 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K, 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Форматирование кода: 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K, 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D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Переименование элемента кода с учётом всех зависимостей: </a:t>
            </a:r>
            <a:r>
              <a:rPr lang="en-US" sz="2400" dirty="0" smtClean="0">
                <a:latin typeface="Bookman Old Style" panose="02050604050505020204" pitchFamily="18" charset="0"/>
              </a:rPr>
              <a:t>Ctrl + R, Ctrl + R.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1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654356"/>
            <a:ext cx="12191999" cy="2862322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Консольное приложение</a:t>
            </a:r>
            <a:r>
              <a:rPr lang="ru-RU" sz="2400" dirty="0">
                <a:latin typeface="Bookman Old Style" panose="02050604050505020204" pitchFamily="18" charset="0"/>
              </a:rPr>
              <a:t> — это простейший тип программы, которая взаимодействует с пользователем через </a:t>
            </a:r>
            <a:r>
              <a:rPr lang="ru-RU" sz="2400" b="1" dirty="0">
                <a:latin typeface="Bookman Old Style" panose="02050604050505020204" pitchFamily="18" charset="0"/>
              </a:rPr>
              <a:t>текстовый интерфейс командной строки</a:t>
            </a:r>
            <a:r>
              <a:rPr lang="ru-RU" sz="2400" dirty="0">
                <a:latin typeface="Bookman Old Style" panose="02050604050505020204" pitchFamily="18" charset="0"/>
              </a:rPr>
              <a:t> (терминал). В отличие от графических приложений (GUI), оно не имеет окон, кнопок или визуальных элементов, а ввод/вывод данных происходит через текст.</a:t>
            </a:r>
          </a:p>
        </p:txBody>
      </p:sp>
      <p:sp>
        <p:nvSpPr>
          <p:cNvPr id="5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Создание первой программы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275" y="3896708"/>
            <a:ext cx="7397058" cy="195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2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-9525"/>
            <a:ext cx="12191999" cy="4524315"/>
          </a:xfrm>
          <a:prstGeom prst="rect">
            <a:avLst/>
          </a:prstGeom>
          <a:noFill/>
        </p:spPr>
        <p:txBody>
          <a:bodyPr wrap="square" lIns="36000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Необходимо скачать и установить программу </a:t>
            </a:r>
            <a:r>
              <a:rPr lang="en-US" sz="2400" i="0" dirty="0" smtClean="0">
                <a:effectLst/>
                <a:latin typeface="Bookman Old Style" panose="02050604050505020204" pitchFamily="18" charset="0"/>
              </a:rPr>
              <a:t>Visual Studio 2022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Community </a:t>
            </a:r>
            <a:r>
              <a:rPr lang="en-US" sz="2400" dirty="0" smtClean="0">
                <a:latin typeface="Bookman Old Style" panose="02050604050505020204" pitchFamily="18" charset="0"/>
              </a:rPr>
              <a:t>( 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://visualstudio.microsoft.com/ru/vs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r>
              <a:rPr lang="en-US" sz="2400" dirty="0" smtClean="0">
                <a:latin typeface="Bookman Old Style" panose="02050604050505020204" pitchFamily="18" charset="0"/>
              </a:rPr>
              <a:t> 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Запустить</a:t>
            </a:r>
            <a:r>
              <a:rPr lang="en-US" sz="2400" dirty="0">
                <a:latin typeface="Bookman Old Style" panose="02050604050505020204" pitchFamily="18" charset="0"/>
              </a:rPr>
              <a:t> Visual Studio </a:t>
            </a:r>
            <a:r>
              <a:rPr lang="en-US" sz="2400" dirty="0" smtClean="0">
                <a:latin typeface="Bookman Old Style" panose="02050604050505020204" pitchFamily="18" charset="0"/>
              </a:rPr>
              <a:t>2022</a:t>
            </a:r>
            <a:r>
              <a:rPr lang="ru-RU" sz="2400" dirty="0" smtClean="0">
                <a:latin typeface="Bookman Old Style" panose="02050604050505020204" pitchFamily="18" charset="0"/>
              </a:rPr>
              <a:t/>
            </a:r>
            <a:br>
              <a:rPr lang="ru-RU" sz="2400" dirty="0" smtClean="0">
                <a:latin typeface="Bookman Old Style" panose="02050604050505020204" pitchFamily="18" charset="0"/>
              </a:rPr>
            </a:br>
            <a:r>
              <a:rPr lang="ru-RU" sz="2400" dirty="0" smtClean="0">
                <a:latin typeface="Bookman Old Style" panose="02050604050505020204" pitchFamily="18" charset="0"/>
              </a:rPr>
              <a:t/>
            </a:r>
            <a:br>
              <a:rPr lang="ru-RU" sz="2400" dirty="0" smtClean="0">
                <a:latin typeface="Bookman Old Style" panose="02050604050505020204" pitchFamily="18" charset="0"/>
              </a:rPr>
            </a:br>
            <a:endParaRPr lang="en-US" sz="2400" dirty="0" smtClean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Выбрать «Создание проекта» </a:t>
            </a:r>
            <a:br>
              <a:rPr lang="ru-RU" sz="2400" dirty="0" smtClean="0">
                <a:latin typeface="Bookman Old Style" panose="02050604050505020204" pitchFamily="18" charset="0"/>
              </a:rPr>
            </a:br>
            <a:endParaRPr lang="ru-RU" sz="2400" dirty="0" smtClean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Выбрать шаблон проекта «Консольное приложение (Майкрософт)»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l="3082" t="71443" r="1906" b="10071"/>
          <a:stretch/>
        </p:blipFill>
        <p:spPr>
          <a:xfrm>
            <a:off x="5537250" y="2471778"/>
            <a:ext cx="6035625" cy="12458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804" y="1159707"/>
            <a:ext cx="4653998" cy="111291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4446" y="4514790"/>
            <a:ext cx="8524152" cy="216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2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779014"/>
          </a:xfrm>
          <a:prstGeom prst="rect">
            <a:avLst/>
          </a:prstGeom>
          <a:noFill/>
        </p:spPr>
        <p:txBody>
          <a:bodyPr wrap="square" lIns="360000" tIns="360000" rIns="36000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Далее выбираем расположение проекта</a:t>
            </a:r>
            <a:endParaRPr lang="en-US" sz="2400" i="0" dirty="0" smtClean="0"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74" y="942975"/>
            <a:ext cx="11653532" cy="464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1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779014"/>
          </a:xfrm>
          <a:prstGeom prst="rect">
            <a:avLst/>
          </a:prstGeom>
          <a:noFill/>
        </p:spPr>
        <p:txBody>
          <a:bodyPr wrap="square" lIns="360000" tIns="360000" rIns="36000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Выбираем актуальную платформу (</a:t>
            </a:r>
            <a:r>
              <a:rPr lang="en-US" sz="2400" dirty="0" err="1" smtClean="0">
                <a:latin typeface="Bookman Old Style" panose="02050604050505020204" pitchFamily="18" charset="0"/>
              </a:rPr>
              <a:t>.Net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7</a:t>
            </a:r>
            <a:r>
              <a:rPr lang="ru-RU" sz="2400" dirty="0">
                <a:latin typeface="Bookman Old Style" panose="02050604050505020204" pitchFamily="18" charset="0"/>
              </a:rPr>
              <a:t>,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en-US" sz="2400" dirty="0" err="1" smtClean="0">
                <a:latin typeface="Bookman Old Style" panose="02050604050505020204" pitchFamily="18" charset="0"/>
              </a:rPr>
              <a:t>.Net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8 и далее</a:t>
            </a:r>
            <a:r>
              <a:rPr lang="ru-RU" sz="2400" i="0" dirty="0" smtClean="0">
                <a:effectLst/>
                <a:latin typeface="Bookman Old Style" panose="02050604050505020204" pitchFamily="18" charset="0"/>
              </a:rPr>
              <a:t>)</a:t>
            </a:r>
            <a:endParaRPr lang="en-US" sz="2400" i="0" dirty="0" smtClean="0"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779014"/>
            <a:ext cx="11582400" cy="190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5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76904"/>
            <a:ext cx="11544300" cy="64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9C4B86-B6A4-4A4B-880A-EE14445C6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138" b="86281"/>
          <a:stretch/>
        </p:blipFill>
        <p:spPr>
          <a:xfrm>
            <a:off x="371475" y="312171"/>
            <a:ext cx="11401425" cy="22509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696F13-9733-4285-99D6-6649D7834871}"/>
              </a:ext>
            </a:extLst>
          </p:cNvPr>
          <p:cNvSpPr txBox="1"/>
          <p:nvPr/>
        </p:nvSpPr>
        <p:spPr>
          <a:xfrm>
            <a:off x="6777463" y="6113695"/>
            <a:ext cx="3616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 smtClean="0">
                <a:latin typeface="Bookman Old Style" panose="02050604050505020204" pitchFamily="18" charset="0"/>
              </a:rPr>
              <a:t>Файлы программы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9C4B86-B6A4-4A4B-880A-EE14445C6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191" t="8467" b="72593"/>
          <a:stretch/>
        </p:blipFill>
        <p:spPr>
          <a:xfrm>
            <a:off x="5059633" y="3162299"/>
            <a:ext cx="6713267" cy="28972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9C4B86-B6A4-4A4B-880A-EE14445C6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4" t="73230" r="76520" b="3241"/>
          <a:stretch/>
        </p:blipFill>
        <p:spPr>
          <a:xfrm>
            <a:off x="371475" y="3162300"/>
            <a:ext cx="4557296" cy="29819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696F13-9733-4285-99D6-6649D7834871}"/>
              </a:ext>
            </a:extLst>
          </p:cNvPr>
          <p:cNvSpPr txBox="1"/>
          <p:nvPr/>
        </p:nvSpPr>
        <p:spPr>
          <a:xfrm>
            <a:off x="655939" y="6202316"/>
            <a:ext cx="3616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 smtClean="0">
                <a:latin typeface="Bookman Old Style" panose="02050604050505020204" pitchFamily="18" charset="0"/>
              </a:rPr>
              <a:t>Список ошибок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70225" y="299015"/>
            <a:ext cx="957943" cy="6821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835650" y="299014"/>
            <a:ext cx="2510971" cy="6821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0476291" y="197140"/>
            <a:ext cx="1508881" cy="6821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9321800" y="879311"/>
            <a:ext cx="2663372" cy="6410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09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Обозреватель решений (</a:t>
            </a:r>
            <a:r>
              <a:rPr lang="ru-RU" sz="2400" b="1" dirty="0" err="1">
                <a:latin typeface="Bookman Old Style" panose="02050604050505020204" pitchFamily="18" charset="0"/>
              </a:rPr>
              <a:t>Solution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Explorer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Где найти: Вид → Обозреватель решений (или 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</a:t>
            </a:r>
            <a:r>
              <a:rPr lang="ru-RU" sz="2400" dirty="0" err="1">
                <a:latin typeface="Bookman Old Style" panose="02050604050505020204" pitchFamily="18" charset="0"/>
              </a:rPr>
              <a:t>Alt</a:t>
            </a:r>
            <a:r>
              <a:rPr lang="ru-RU" sz="2400" dirty="0">
                <a:latin typeface="Bookman Old Style" panose="02050604050505020204" pitchFamily="18" charset="0"/>
              </a:rPr>
              <a:t> + L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 нужно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Показывает структуру вашего проекта (файлы, папки, зависимости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Позволяет быстро переключаться между файлами (например, </a:t>
            </a:r>
            <a:r>
              <a:rPr lang="ru-RU" sz="2400" dirty="0" err="1">
                <a:latin typeface="Bookman Old Style" panose="02050604050505020204" pitchFamily="18" charset="0"/>
              </a:rPr>
              <a:t>Program.cs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Вкладка </a:t>
            </a:r>
            <a:r>
              <a:rPr lang="ru-RU" sz="2400" b="1" dirty="0">
                <a:latin typeface="Bookman Old Style" panose="02050604050505020204" pitchFamily="18" charset="0"/>
              </a:rPr>
              <a:t>"Вид" (</a:t>
            </a:r>
            <a:r>
              <a:rPr lang="ru-RU" sz="2400" b="1" dirty="0" err="1">
                <a:latin typeface="Bookman Old Style" panose="02050604050505020204" pitchFamily="18" charset="0"/>
              </a:rPr>
              <a:t>View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Содержит инструменты для навигации по коду и отображения дополнительных окон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Полезные пункты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Ошибки </a:t>
            </a:r>
            <a:r>
              <a:rPr lang="ru-RU" sz="2400" dirty="0">
                <a:latin typeface="Bookman Old Style" panose="02050604050505020204" pitchFamily="18" charset="0"/>
              </a:rPr>
              <a:t>(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\, E) — список ошибок компиляции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Вывод (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</a:t>
            </a:r>
            <a:r>
              <a:rPr lang="ru-RU" sz="2400" dirty="0" err="1">
                <a:latin typeface="Bookman Old Style" panose="02050604050505020204" pitchFamily="18" charset="0"/>
              </a:rPr>
              <a:t>Alt</a:t>
            </a:r>
            <a:r>
              <a:rPr lang="ru-RU" sz="2400" dirty="0">
                <a:latin typeface="Bookman Old Style" panose="02050604050505020204" pitchFamily="18" charset="0"/>
              </a:rPr>
              <a:t> + O) — </a:t>
            </a:r>
            <a:r>
              <a:rPr lang="ru-RU" sz="2400" dirty="0" err="1">
                <a:latin typeface="Bookman Old Style" panose="02050604050505020204" pitchFamily="18" charset="0"/>
              </a:rPr>
              <a:t>логи</a:t>
            </a:r>
            <a:r>
              <a:rPr lang="ru-RU" sz="2400" dirty="0">
                <a:latin typeface="Bookman Old Style" panose="02050604050505020204" pitchFamily="18" charset="0"/>
              </a:rPr>
              <a:t> сборки и запуска программы.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73278"/>
          <a:stretch/>
        </p:blipFill>
        <p:spPr>
          <a:xfrm>
            <a:off x="9368844" y="5548393"/>
            <a:ext cx="2192891" cy="6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2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Вкладка </a:t>
            </a:r>
            <a:r>
              <a:rPr lang="ru-RU" sz="2400" b="1" dirty="0">
                <a:latin typeface="Bookman Old Style" panose="02050604050505020204" pitchFamily="18" charset="0"/>
              </a:rPr>
              <a:t>"Сборка" (</a:t>
            </a:r>
            <a:r>
              <a:rPr lang="ru-RU" sz="2400" b="1" dirty="0" err="1">
                <a:latin typeface="Bookman Old Style" panose="02050604050505020204" pitchFamily="18" charset="0"/>
              </a:rPr>
              <a:t>Build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Отвечает за компиляцию проекта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Основные действия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Собрать решение (</a:t>
            </a:r>
            <a:r>
              <a:rPr lang="ru-RU" sz="2400" dirty="0" err="1">
                <a:latin typeface="Bookman Old Style" panose="02050604050505020204" pitchFamily="18" charset="0"/>
              </a:rPr>
              <a:t>Ctrl</a:t>
            </a:r>
            <a:r>
              <a:rPr lang="ru-RU" sz="2400" dirty="0">
                <a:latin typeface="Bookman Old Style" panose="02050604050505020204" pitchFamily="18" charset="0"/>
              </a:rPr>
              <a:t> + </a:t>
            </a:r>
            <a:r>
              <a:rPr lang="ru-RU" sz="2400" dirty="0" err="1">
                <a:latin typeface="Bookman Old Style" panose="02050604050505020204" pitchFamily="18" charset="0"/>
              </a:rPr>
              <a:t>Shift</a:t>
            </a:r>
            <a:r>
              <a:rPr lang="ru-RU" sz="2400" dirty="0">
                <a:latin typeface="Bookman Old Style" panose="02050604050505020204" pitchFamily="18" charset="0"/>
              </a:rPr>
              <a:t> + B) — проверить код на ошибки без запуска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Очистить решение — удалить временные файлы сборки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Вкладка "Отладка" (</a:t>
            </a:r>
            <a:r>
              <a:rPr lang="ru-RU" sz="2400" b="1" dirty="0" err="1">
                <a:latin typeface="Bookman Old Style" panose="02050604050505020204" pitchFamily="18" charset="0"/>
              </a:rPr>
              <a:t>Debug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Здесь настраивается запуск программы в режиме отладки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Ключевые кнопки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Запуск </a:t>
            </a:r>
            <a:r>
              <a:rPr lang="ru-RU" sz="2400" dirty="0">
                <a:latin typeface="Bookman Old Style" panose="02050604050505020204" pitchFamily="18" charset="0"/>
              </a:rPr>
              <a:t>с </a:t>
            </a:r>
            <a:r>
              <a:rPr lang="ru-RU" sz="2400" dirty="0" smtClean="0">
                <a:latin typeface="Bookman Old Style" panose="02050604050505020204" pitchFamily="18" charset="0"/>
              </a:rPr>
              <a:t>отладчиком (</a:t>
            </a:r>
            <a:r>
              <a:rPr lang="ru-RU" sz="2400" dirty="0">
                <a:latin typeface="Bookman Old Style" panose="02050604050505020204" pitchFamily="18" charset="0"/>
              </a:rPr>
              <a:t>F5) </a:t>
            </a:r>
            <a:r>
              <a:rPr lang="ru-RU" sz="2400" dirty="0" smtClean="0">
                <a:latin typeface="Bookman Old Style" panose="02050604050505020204" pitchFamily="18" charset="0"/>
              </a:rPr>
              <a:t>(остановка на ошибках).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Запуск без отладки (</a:t>
            </a:r>
            <a:r>
              <a:rPr lang="ru-RU" sz="2400" dirty="0" err="1" smtClean="0">
                <a:latin typeface="Bookman Old Style" panose="02050604050505020204" pitchFamily="18" charset="0"/>
              </a:rPr>
              <a:t>Ctrl</a:t>
            </a:r>
            <a:r>
              <a:rPr lang="ru-RU" sz="2400" dirty="0" smtClean="0">
                <a:latin typeface="Bookman Old Style" panose="02050604050505020204" pitchFamily="18" charset="0"/>
              </a:rPr>
              <a:t> + F5).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Точки </a:t>
            </a:r>
            <a:r>
              <a:rPr lang="ru-RU" sz="2400" dirty="0">
                <a:latin typeface="Bookman Old Style" panose="02050604050505020204" pitchFamily="18" charset="0"/>
              </a:rPr>
              <a:t>останова (F9 на строке кода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430" y="4960038"/>
            <a:ext cx="539144" cy="69318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162" y="5486211"/>
            <a:ext cx="503788" cy="60985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106" y="6115112"/>
            <a:ext cx="568128" cy="54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8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A3175E-BC98-4B41-A655-E89BECF9C02C}"/>
              </a:ext>
            </a:extLst>
          </p:cNvPr>
          <p:cNvSpPr txBox="1"/>
          <p:nvPr/>
        </p:nvSpPr>
        <p:spPr>
          <a:xfrm>
            <a:off x="0" y="654356"/>
            <a:ext cx="12192000" cy="3416320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Комментарий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– это текст, который предназначен только для читающего программу  человека и компилятором игнорируется. 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Виды: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Однострочный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Многострочный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;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XML –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комментарий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3175E-BC98-4B41-A655-E89BECF9C02C}"/>
              </a:ext>
            </a:extLst>
          </p:cNvPr>
          <p:cNvSpPr txBox="1"/>
          <p:nvPr/>
        </p:nvSpPr>
        <p:spPr>
          <a:xfrm>
            <a:off x="2330322" y="2362516"/>
            <a:ext cx="9861678" cy="2308324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			    //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Способ 1.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Однострочный комментарий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/*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            Способ 2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            Многострочный комментарий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           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*/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Комментарии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3803" t="14305" r="13835" b="60328"/>
          <a:stretch/>
        </p:blipFill>
        <p:spPr>
          <a:xfrm>
            <a:off x="1275645" y="5112792"/>
            <a:ext cx="8353778" cy="164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4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Система типов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4717319"/>
            <a:ext cx="12191999" cy="120032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Типизированные языки: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en-US" sz="2400" dirty="0" smtClean="0">
                <a:latin typeface="Bookman Old Style" panose="02050604050505020204" pitchFamily="18" charset="0"/>
              </a:rPr>
              <a:t>C, C#, Java, Python, PHP.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Нетипизированные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b="1" dirty="0">
                <a:latin typeface="Bookman Old Style" panose="02050604050505020204" pitchFamily="18" charset="0"/>
              </a:rPr>
              <a:t>языки: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язык ассемблера, </a:t>
            </a:r>
            <a:r>
              <a:rPr lang="en-US" sz="2400" dirty="0" smtClean="0">
                <a:latin typeface="Bookman Old Style" panose="02050604050505020204" pitchFamily="18" charset="0"/>
              </a:rPr>
              <a:t>Forth.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6685854" y="3219450"/>
            <a:ext cx="5048946" cy="135255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ru-RU" sz="2400" b="1" dirty="0" err="1" smtClean="0">
                <a:solidFill>
                  <a:schemeClr val="tx1"/>
                </a:solidFill>
                <a:latin typeface="Bookman Old Style" panose="02050604050505020204" pitchFamily="18" charset="0"/>
              </a:rPr>
              <a:t>Нетипизированные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1390650" y="3219450"/>
            <a:ext cx="4457700" cy="135255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Типизированные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619500" y="799675"/>
            <a:ext cx="4876800" cy="135255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Языки Программирования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4" name="Прямая со стрелкой 3"/>
          <p:cNvCxnSpPr>
            <a:stCxn id="7" idx="4"/>
            <a:endCxn id="6" idx="0"/>
          </p:cNvCxnSpPr>
          <p:nvPr/>
        </p:nvCxnSpPr>
        <p:spPr>
          <a:xfrm flipH="1">
            <a:off x="3619500" y="2152225"/>
            <a:ext cx="2438400" cy="10672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7" idx="4"/>
            <a:endCxn id="2" idx="0"/>
          </p:cNvCxnSpPr>
          <p:nvPr/>
        </p:nvCxnSpPr>
        <p:spPr>
          <a:xfrm>
            <a:off x="6057900" y="2152225"/>
            <a:ext cx="3152427" cy="10672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09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1999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Тип данных это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множество допустимых значений, которые могут принимать данные, принадлежащие к этому типу</a:t>
            </a:r>
            <a:r>
              <a:rPr lang="ru-RU" sz="2400" dirty="0" smtClean="0">
                <a:latin typeface="Bookman Old Style" panose="02050604050505020204" pitchFamily="18" charset="0"/>
              </a:rPr>
              <a:t>;</a:t>
            </a:r>
          </a:p>
          <a:p>
            <a:pPr marL="723900" lvl="0"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Примеры:</a:t>
            </a:r>
          </a:p>
          <a:p>
            <a:pPr marL="723900" lvl="0"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Целые числа – 1, 2, 3 и т.д.</a:t>
            </a:r>
          </a:p>
          <a:p>
            <a:pPr marL="723900" lvl="0"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Вещественные числа 1,5</a:t>
            </a:r>
            <a:r>
              <a:rPr lang="en-US" sz="2400" dirty="0" smtClean="0">
                <a:latin typeface="Bookman Old Style" panose="02050604050505020204" pitchFamily="18" charset="0"/>
              </a:rPr>
              <a:t>; 3,14; 0,123 </a:t>
            </a:r>
            <a:r>
              <a:rPr lang="ru-RU" sz="2400" dirty="0" smtClean="0">
                <a:latin typeface="Bookman Old Style" panose="02050604050505020204" pitchFamily="18" charset="0"/>
              </a:rPr>
              <a:t>и т.д.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набор операций, которые можно осуществлять над данными, принадлежащими к этому типу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723900" lvl="0"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Примеры</a:t>
            </a:r>
            <a:r>
              <a:rPr lang="ru-RU" sz="2400" b="1" dirty="0" smtClean="0">
                <a:latin typeface="Bookman Old Style" panose="02050604050505020204" pitchFamily="18" charset="0"/>
              </a:rPr>
              <a:t>: </a:t>
            </a:r>
            <a:r>
              <a:rPr lang="ru-RU" sz="2400" dirty="0" smtClean="0">
                <a:latin typeface="Bookman Old Style" panose="02050604050505020204" pitchFamily="18" charset="0"/>
              </a:rPr>
              <a:t>сложение, умножение, деление, вычитание и др.</a:t>
            </a:r>
          </a:p>
        </p:txBody>
      </p:sp>
    </p:spTree>
    <p:extLst>
      <p:ext uri="{BB962C8B-B14F-4D97-AF65-F5344CB8AC3E}">
        <p14:creationId xmlns:p14="http://schemas.microsoft.com/office/powerpoint/2010/main" val="132040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00F7F49F-4DBA-4F90-930B-168FBD2C3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52156"/>
              </p:ext>
            </p:extLst>
          </p:nvPr>
        </p:nvGraphicFramePr>
        <p:xfrm>
          <a:off x="280757" y="160617"/>
          <a:ext cx="11587396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849">
                  <a:extLst>
                    <a:ext uri="{9D8B030D-6E8A-4147-A177-3AD203B41FA5}">
                      <a16:colId xmlns:a16="http://schemas.microsoft.com/office/drawing/2014/main" val="1499889481"/>
                    </a:ext>
                  </a:extLst>
                </a:gridCol>
                <a:gridCol w="2896849">
                  <a:extLst>
                    <a:ext uri="{9D8B030D-6E8A-4147-A177-3AD203B41FA5}">
                      <a16:colId xmlns:a16="http://schemas.microsoft.com/office/drawing/2014/main" val="4096455142"/>
                    </a:ext>
                  </a:extLst>
                </a:gridCol>
                <a:gridCol w="2896849">
                  <a:extLst>
                    <a:ext uri="{9D8B030D-6E8A-4147-A177-3AD203B41FA5}">
                      <a16:colId xmlns:a16="http://schemas.microsoft.com/office/drawing/2014/main" val="2769789513"/>
                    </a:ext>
                  </a:extLst>
                </a:gridCol>
                <a:gridCol w="2896849">
                  <a:extLst>
                    <a:ext uri="{9D8B030D-6E8A-4147-A177-3AD203B41FA5}">
                      <a16:colId xmlns:a16="http://schemas.microsoft.com/office/drawing/2014/main" val="2020725272"/>
                    </a:ext>
                  </a:extLst>
                </a:gridCol>
              </a:tblGrid>
              <a:tr h="858971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Тип данных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Псевдоним</a:t>
                      </a:r>
                      <a:b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</a:b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.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NET Framework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Размер, байт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Диапазон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919319"/>
                  </a:ext>
                </a:extLst>
              </a:tr>
              <a:tr h="5035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byte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System.Byte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-128...127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061059"/>
                  </a:ext>
                </a:extLst>
              </a:tr>
              <a:tr h="5035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sbyte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System.SByte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0...255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375822"/>
                  </a:ext>
                </a:extLst>
              </a:tr>
              <a:tr h="5035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short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System.Int16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-32768...32767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72052"/>
                  </a:ext>
                </a:extLst>
              </a:tr>
              <a:tr h="5035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ushort</a:t>
                      </a:r>
                      <a:endParaRPr lang="en-US" sz="2400" b="1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System.UInt16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0...65535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460826"/>
                  </a:ext>
                </a:extLst>
              </a:tr>
              <a:tr h="858971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int</a:t>
                      </a:r>
                      <a:endParaRPr lang="en-US" sz="2400" b="1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System.Int32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-2 147 483 648 ... 2 147 483 647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578032"/>
                  </a:ext>
                </a:extLst>
              </a:tr>
              <a:tr h="858971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uint</a:t>
                      </a:r>
                      <a:endParaRPr lang="en-US" sz="2400" b="1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System.UInt32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0 ... 4 294 967 295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1801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26833"/>
              </p:ext>
            </p:extLst>
          </p:nvPr>
        </p:nvGraphicFramePr>
        <p:xfrm>
          <a:off x="3839530" y="5488257"/>
          <a:ext cx="519814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488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ru-RU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280757" y="4886018"/>
            <a:ext cx="875691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Хранение числа </a:t>
            </a:r>
            <a:r>
              <a:rPr lang="ru-RU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123 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типа</a:t>
            </a:r>
            <a:r>
              <a:rPr lang="ru-RU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Int32 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в памяти:</a:t>
            </a:r>
            <a:endParaRPr lang="ru-RU" sz="2400" i="0" dirty="0">
              <a:solidFill>
                <a:srgbClr val="202122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4981083" y="6002318"/>
            <a:ext cx="284167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Всего 32 ячейки</a:t>
            </a:r>
            <a:endParaRPr lang="ru-RU" sz="2400" i="0" dirty="0">
              <a:solidFill>
                <a:srgbClr val="202122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280757" y="6359402"/>
            <a:ext cx="3805689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Знак + (0) или - (1)</a:t>
            </a:r>
            <a:endParaRPr lang="ru-RU" sz="2400" i="0" dirty="0">
              <a:solidFill>
                <a:srgbClr val="202122"/>
              </a:solidFill>
              <a:effectLst/>
              <a:latin typeface="Bookman Old Style" panose="02050604050505020204" pitchFamily="18" charset="0"/>
            </a:endParaRPr>
          </a:p>
        </p:txBody>
      </p:sp>
      <p:cxnSp>
        <p:nvCxnSpPr>
          <p:cNvPr id="10" name="Соединительная линия уступом 9"/>
          <p:cNvCxnSpPr/>
          <p:nvPr/>
        </p:nvCxnSpPr>
        <p:spPr>
          <a:xfrm rot="10800000" flipV="1">
            <a:off x="3280229" y="5977989"/>
            <a:ext cx="806218" cy="630711"/>
          </a:xfrm>
          <a:prstGeom prst="bentConnector3">
            <a:avLst>
              <a:gd name="adj1" fmla="val 319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83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00F7F49F-4DBA-4F90-930B-168FBD2C3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02438"/>
              </p:ext>
            </p:extLst>
          </p:nvPr>
        </p:nvGraphicFramePr>
        <p:xfrm>
          <a:off x="310494" y="220717"/>
          <a:ext cx="11673492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373">
                  <a:extLst>
                    <a:ext uri="{9D8B030D-6E8A-4147-A177-3AD203B41FA5}">
                      <a16:colId xmlns:a16="http://schemas.microsoft.com/office/drawing/2014/main" val="1499889481"/>
                    </a:ext>
                  </a:extLst>
                </a:gridCol>
                <a:gridCol w="2918373">
                  <a:extLst>
                    <a:ext uri="{9D8B030D-6E8A-4147-A177-3AD203B41FA5}">
                      <a16:colId xmlns:a16="http://schemas.microsoft.com/office/drawing/2014/main" val="4096455142"/>
                    </a:ext>
                  </a:extLst>
                </a:gridCol>
                <a:gridCol w="2918373">
                  <a:extLst>
                    <a:ext uri="{9D8B030D-6E8A-4147-A177-3AD203B41FA5}">
                      <a16:colId xmlns:a16="http://schemas.microsoft.com/office/drawing/2014/main" val="2769789513"/>
                    </a:ext>
                  </a:extLst>
                </a:gridCol>
                <a:gridCol w="2918373">
                  <a:extLst>
                    <a:ext uri="{9D8B030D-6E8A-4147-A177-3AD203B41FA5}">
                      <a16:colId xmlns:a16="http://schemas.microsoft.com/office/drawing/2014/main" val="2020725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Тип данных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Псевдоним</a:t>
                      </a:r>
                      <a:b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</a:b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.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NET Framework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Размер, байт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Диапазон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91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long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System.Int64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8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-9 223 372 036 854 775 808 ...</a:t>
                      </a:r>
                      <a:b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</a:b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9 223 372 036 854 775 807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ulong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System.UInt64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8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0 ... 18 446 744 073 709 551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615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74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char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System.Char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Символ Юникода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string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System.String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14+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2*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кол-во символов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Символ Юникода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bool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System.Boolean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True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, </a:t>
                      </a:r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False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9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24" name="Таблица 4">
            <a:extLst>
              <a:ext uri="{FF2B5EF4-FFF2-40B4-BE49-F238E27FC236}">
                <a16:creationId xmlns:a16="http://schemas.microsoft.com/office/drawing/2014/main" id="{A3860CC5-D0BA-4339-B5F2-10E3B302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871182"/>
              </p:ext>
            </p:extLst>
          </p:nvPr>
        </p:nvGraphicFramePr>
        <p:xfrm>
          <a:off x="362498" y="119632"/>
          <a:ext cx="1141960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900">
                  <a:extLst>
                    <a:ext uri="{9D8B030D-6E8A-4147-A177-3AD203B41FA5}">
                      <a16:colId xmlns:a16="http://schemas.microsoft.com/office/drawing/2014/main" val="1499889481"/>
                    </a:ext>
                  </a:extLst>
                </a:gridCol>
                <a:gridCol w="2854900">
                  <a:extLst>
                    <a:ext uri="{9D8B030D-6E8A-4147-A177-3AD203B41FA5}">
                      <a16:colId xmlns:a16="http://schemas.microsoft.com/office/drawing/2014/main" val="4096455142"/>
                    </a:ext>
                  </a:extLst>
                </a:gridCol>
                <a:gridCol w="2467795">
                  <a:extLst>
                    <a:ext uri="{9D8B030D-6E8A-4147-A177-3AD203B41FA5}">
                      <a16:colId xmlns:a16="http://schemas.microsoft.com/office/drawing/2014/main" val="2769789513"/>
                    </a:ext>
                  </a:extLst>
                </a:gridCol>
                <a:gridCol w="3242005">
                  <a:extLst>
                    <a:ext uri="{9D8B030D-6E8A-4147-A177-3AD203B41FA5}">
                      <a16:colId xmlns:a16="http://schemas.microsoft.com/office/drawing/2014/main" val="2020725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Тип данных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Псевдоним</a:t>
                      </a:r>
                      <a:b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</a:b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.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NET Framework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Размер, байт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Диапазон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91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float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System.Single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±1,5×10</a:t>
                      </a:r>
                      <a:r>
                        <a:rPr lang="ru-RU" sz="2400" b="1" baseline="300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−45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 ... </a:t>
                      </a:r>
                      <a:endParaRPr lang="ru-RU" sz="2400" b="1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 fontAlgn="t"/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3,4 × 10</a:t>
                      </a:r>
                      <a:r>
                        <a:rPr lang="ru-RU" sz="2400" b="1" baseline="300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38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37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double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System.Double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8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5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×10</a:t>
                      </a:r>
                      <a:r>
                        <a:rPr lang="ru-RU" sz="2400" b="1" baseline="30000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−</a:t>
                      </a:r>
                      <a:r>
                        <a:rPr lang="en-US" sz="2400" b="1" baseline="30000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324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 ... </a:t>
                      </a:r>
                      <a:endParaRPr lang="ru-RU" sz="2400" b="1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 fontAlgn="t"/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,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7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× </a:t>
                      </a:r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10</a:t>
                      </a:r>
                      <a:r>
                        <a:rPr lang="en-US" sz="2400" b="1" baseline="30000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30</a:t>
                      </a:r>
                      <a:r>
                        <a:rPr lang="ru-RU" sz="2400" b="1" baseline="30000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8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0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00FF"/>
                          </a:solidFill>
                          <a:effectLst/>
                          <a:latin typeface="Bookman Old Style" panose="02050604050505020204" pitchFamily="18" charset="0"/>
                        </a:rPr>
                        <a:t>decimal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4A91B2"/>
                          </a:solidFill>
                          <a:effectLst/>
                          <a:latin typeface="Bookman Old Style" panose="02050604050505020204" pitchFamily="18" charset="0"/>
                        </a:rPr>
                        <a:t>System.Decimal</a:t>
                      </a:r>
                      <a:endParaRPr lang="en-US" sz="2400" b="1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16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±1,0×10</a:t>
                      </a:r>
                      <a:r>
                        <a:rPr lang="ru-RU" sz="2400" b="1" baseline="300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−28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 ... </a:t>
                      </a:r>
                      <a:endParaRPr lang="ru-RU" sz="2400" b="1" dirty="0" smtClean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 fontAlgn="t"/>
                      <a:r>
                        <a:rPr lang="ru-RU" sz="2400" b="1" dirty="0" smtClean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±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7,9 × 10</a:t>
                      </a:r>
                      <a:r>
                        <a:rPr lang="ru-RU" sz="2400" b="1" baseline="3000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28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512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362499" y="3599511"/>
            <a:ext cx="11708043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Вещественные числа представляются в памяти в соответствии со стандартом </a:t>
            </a:r>
            <a:r>
              <a:rPr lang="en-US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IEEE754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, пример для числа </a:t>
            </a:r>
            <a:r>
              <a:rPr lang="ru-RU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206,116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типа </a:t>
            </a:r>
            <a:r>
              <a:rPr lang="en-US" sz="24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float</a:t>
            </a:r>
            <a:r>
              <a:rPr lang="ru-RU" sz="2400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: </a:t>
            </a:r>
            <a:endParaRPr lang="ru-RU" sz="2400" i="0" dirty="0">
              <a:solidFill>
                <a:srgbClr val="202122"/>
              </a:solidFill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9" y="4395564"/>
            <a:ext cx="11419598" cy="238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0" y="0"/>
            <a:ext cx="12192000" cy="507831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Переменная </a:t>
            </a:r>
            <a:r>
              <a:rPr lang="ru-RU" sz="2400" dirty="0">
                <a:latin typeface="Bookman Old Style" panose="02050604050505020204" pitchFamily="18" charset="0"/>
              </a:rPr>
              <a:t>— это именованная область памяти, предназначенная для хранения данных определённого типа, значение которой может изменяться во время выполнения программы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Объявление переменной </a:t>
            </a:r>
            <a:r>
              <a:rPr lang="ru-RU" sz="2400" dirty="0" smtClean="0">
                <a:latin typeface="Bookman Old Style" panose="02050604050505020204" pitchFamily="18" charset="0"/>
              </a:rPr>
              <a:t>— это указание её имени и типа в исходном коде программы. Оно сообщает компилятору или интерпретатору о существовании переменной, но не выделяет под неё память.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myIntVariable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myFloatVariable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myCharVariable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DDB9E9-690B-4F81-8DB3-0E70A89F8AF3}"/>
              </a:ext>
            </a:extLst>
          </p:cNvPr>
          <p:cNvSpPr txBox="1"/>
          <p:nvPr/>
        </p:nvSpPr>
        <p:spPr>
          <a:xfrm>
            <a:off x="5652196" y="5803737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3075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0" y="0"/>
            <a:ext cx="12192000" cy="6777240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Инициализация </a:t>
            </a:r>
            <a:r>
              <a:rPr lang="ru-RU" sz="2400" dirty="0">
                <a:latin typeface="Bookman Old Style" panose="02050604050505020204" pitchFamily="18" charset="0"/>
              </a:rPr>
              <a:t>– это </a:t>
            </a:r>
            <a:r>
              <a:rPr lang="ru-RU" sz="2400" dirty="0" smtClean="0">
                <a:latin typeface="Bookman Old Style" panose="02050604050505020204" pitchFamily="18" charset="0"/>
              </a:rPr>
              <a:t>процесс присвоения начального </a:t>
            </a:r>
            <a:r>
              <a:rPr lang="ru-RU" sz="2400" dirty="0">
                <a:latin typeface="Bookman Old Style" panose="02050604050505020204" pitchFamily="18" charset="0"/>
              </a:rPr>
              <a:t>значения при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создании переменной.  Перед инициализацией происходит выделение памяти.</a:t>
            </a:r>
          </a:p>
          <a:p>
            <a:pPr algn="ctr"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&lt;</a:t>
            </a:r>
            <a:r>
              <a:rPr lang="ru-RU" sz="2400" dirty="0">
                <a:latin typeface="Bookman Old Style" panose="02050604050505020204" pitchFamily="18" charset="0"/>
              </a:rPr>
              <a:t>Тип данных</a:t>
            </a:r>
            <a:r>
              <a:rPr lang="en-US" sz="2400" dirty="0">
                <a:latin typeface="Bookman Old Style" panose="02050604050505020204" pitchFamily="18" charset="0"/>
              </a:rPr>
              <a:t>&gt;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&lt;</a:t>
            </a:r>
            <a:r>
              <a:rPr lang="ru-RU" sz="2400" dirty="0">
                <a:latin typeface="Bookman Old Style" panose="02050604050505020204" pitchFamily="18" charset="0"/>
              </a:rPr>
              <a:t>Имя переменной</a:t>
            </a:r>
            <a:r>
              <a:rPr lang="en-US" sz="2400" dirty="0">
                <a:latin typeface="Bookman Old Style" panose="02050604050505020204" pitchFamily="18" charset="0"/>
              </a:rPr>
              <a:t>&gt;</a:t>
            </a:r>
            <a:r>
              <a:rPr lang="ru-RU" sz="2400" dirty="0">
                <a:latin typeface="Bookman Old Style" panose="02050604050505020204" pitchFamily="18" charset="0"/>
              </a:rPr>
              <a:t> = </a:t>
            </a:r>
            <a:r>
              <a:rPr lang="en-US" sz="2400" dirty="0">
                <a:latin typeface="Bookman Old Style" panose="02050604050505020204" pitchFamily="18" charset="0"/>
              </a:rPr>
              <a:t>&lt;</a:t>
            </a:r>
            <a:r>
              <a:rPr lang="ru-RU" sz="2400" dirty="0">
                <a:latin typeface="Bookman Old Style" panose="02050604050505020204" pitchFamily="18" charset="0"/>
              </a:rPr>
              <a:t>Значение</a:t>
            </a:r>
            <a:r>
              <a:rPr lang="en-US" sz="2400" dirty="0" smtClean="0">
                <a:latin typeface="Bookman Old Style" panose="02050604050505020204" pitchFamily="18" charset="0"/>
              </a:rPr>
              <a:t>&gt;;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myIntVariable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myIntVariable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11;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ИЛИ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myIntVariable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11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/>
          </a:p>
          <a:p>
            <a:pPr>
              <a:lnSpc>
                <a:spcPct val="11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myFloatVariable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10.2f;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myCharVariable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'q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'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myFloatVariable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10.2m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char</a:t>
            </a:r>
            <a:r>
              <a:rPr lang="ru-RU" sz="2400" dirty="0">
                <a:latin typeface="Bookman Old Style" panose="02050604050505020204" pitchFamily="18" charset="0"/>
              </a:rPr>
              <a:t> — это тоже число (код символа), просто компьютер отображает его как букву. </a:t>
            </a:r>
            <a:r>
              <a:rPr lang="ru-RU" sz="2400" dirty="0" smtClean="0">
                <a:latin typeface="Bookman Old Style" panose="02050604050505020204" pitchFamily="18" charset="0"/>
              </a:rPr>
              <a:t>Поэтому </a:t>
            </a:r>
            <a:r>
              <a:rPr lang="ru-RU" sz="2400" dirty="0">
                <a:latin typeface="Bookman Old Style" panose="02050604050505020204" pitchFamily="18" charset="0"/>
              </a:rPr>
              <a:t>'A' + 1 будет работать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decimal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—</a:t>
            </a:r>
            <a:r>
              <a:rPr lang="ru-RU" sz="2400" dirty="0" smtClean="0">
                <a:latin typeface="Bookman Old Style" panose="02050604050505020204" pitchFamily="18" charset="0"/>
              </a:rPr>
              <a:t> используется </a:t>
            </a:r>
            <a:r>
              <a:rPr lang="ru-RU" sz="2400" dirty="0">
                <a:latin typeface="Bookman Old Style" panose="02050604050505020204" pitchFamily="18" charset="0"/>
              </a:rPr>
              <a:t>для денег (из-за повышенной точности). Это единственное, что мы должны запомнить про него сейчас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64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38-5C63-40EA-9C87-3E38ECF3DF17}"/>
              </a:ext>
            </a:extLst>
          </p:cNvPr>
          <p:cNvSpPr txBox="1"/>
          <p:nvPr/>
        </p:nvSpPr>
        <p:spPr>
          <a:xfrm>
            <a:off x="0" y="654356"/>
            <a:ext cx="12192000" cy="618630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Какой тип данных нужно выбрать если мы хотим хранить в нем: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Целые числа от 1 до 100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Целые числа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Натуральные числа от 1 до 1000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Огромные целые числа </a:t>
            </a:r>
            <a:r>
              <a:rPr lang="en-US" sz="2400" dirty="0" smtClean="0">
                <a:latin typeface="Bookman Old Style" panose="02050604050505020204" pitchFamily="18" charset="0"/>
              </a:rPr>
              <a:t>&gt; 10</a:t>
            </a:r>
            <a:r>
              <a:rPr lang="ru-RU" sz="2400" dirty="0" smtClean="0">
                <a:latin typeface="Bookman Old Style" panose="02050604050505020204" pitchFamily="18" charset="0"/>
              </a:rPr>
              <a:t> 000 000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Единичные символы, например, </a:t>
            </a:r>
            <a:r>
              <a:rPr lang="en-US" sz="2400" dirty="0" smtClean="0">
                <a:latin typeface="Bookman Old Style" panose="02050604050505020204" pitchFamily="18" charset="0"/>
              </a:rPr>
              <a:t>‘a’; ‘b’; ‘1’; ‘@’ …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Символы и, возможно, слова: «Вася»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r>
              <a:rPr lang="ru-RU" sz="2400" dirty="0" smtClean="0">
                <a:latin typeface="Bookman Old Style" panose="02050604050505020204" pitchFamily="18" charset="0"/>
              </a:rPr>
              <a:t> «Петя»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r>
              <a:rPr lang="ru-RU" sz="2400" dirty="0" smtClean="0">
                <a:latin typeface="Bookman Old Style" panose="02050604050505020204" pitchFamily="18" charset="0"/>
              </a:rPr>
              <a:t> «012345»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r>
              <a:rPr lang="ru-RU" sz="2400" dirty="0" smtClean="0">
                <a:latin typeface="Bookman Old Style" panose="02050604050505020204" pitchFamily="18" charset="0"/>
              </a:rPr>
              <a:t> «Я» …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Вещественные числа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Вещественные числа, когда не требуется большое количество знаков после запятой (не нужна высокая точность): 0,15</a:t>
            </a:r>
            <a:r>
              <a:rPr lang="en-US" sz="2400" dirty="0" smtClean="0">
                <a:latin typeface="Bookman Old Style" panose="02050604050505020204" pitchFamily="18" charset="0"/>
              </a:rPr>
              <a:t>; 0,3; -0,0025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 smtClean="0">
                <a:latin typeface="Bookman Old Style" panose="02050604050505020204" pitchFamily="18" charset="0"/>
              </a:rPr>
              <a:t>Очень большие вещественные числа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Вещественные числа, когда требуется высокая точность (много знаков после запятой)</a:t>
            </a:r>
          </a:p>
          <a:p>
            <a:pPr marL="457200" indent="-457200">
              <a:lnSpc>
                <a:spcPct val="110000"/>
              </a:lnSpc>
              <a:buAutoNum type="arabicParenR"/>
            </a:pP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Выражения, для которых всего 2 варианта ответа, например, «Да» или «Нет».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9" name="Rectangle 28" descr="Светлый диагональный 2">
            <a:extLst>
              <a:ext uri="{FF2B5EF4-FFF2-40B4-BE49-F238E27FC236}">
                <a16:creationId xmlns:a16="http://schemas.microsoft.com/office/drawing/2014/main" id="{2A0E99F7-A4CC-4E8F-8C74-D6A03276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Вопросы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1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12459</TotalTime>
  <Words>1948</Words>
  <Application>Microsoft Office PowerPoint</Application>
  <PresentationFormat>Широкоэкранный</PresentationFormat>
  <Paragraphs>342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4" baseType="lpstr">
      <vt:lpstr>Arial</vt:lpstr>
      <vt:lpstr>Bookman Old Style</vt:lpstr>
      <vt:lpstr>Calibri</vt:lpstr>
      <vt:lpstr>Calibri Light</vt:lpstr>
      <vt:lpstr>Cascadia Mono</vt:lpstr>
      <vt:lpstr>Times New Roman</vt:lpstr>
      <vt:lpstr>Тема Office</vt:lpstr>
      <vt:lpstr>Лекция 1. Основы языка C#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621</cp:revision>
  <dcterms:modified xsi:type="dcterms:W3CDTF">2026-02-08T13:05:50Z</dcterms:modified>
</cp:coreProperties>
</file>